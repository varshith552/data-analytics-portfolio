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9" r:id="rId1"/>
  </p:sldMasterIdLst>
  <p:notesMasterIdLst>
    <p:notesMasterId r:id="rId19"/>
  </p:notesMasterIdLst>
  <p:sldIdLst>
    <p:sldId id="256" r:id="rId2"/>
    <p:sldId id="258" r:id="rId3"/>
    <p:sldId id="259" r:id="rId4"/>
    <p:sldId id="261" r:id="rId5"/>
    <p:sldId id="280" r:id="rId6"/>
    <p:sldId id="262" r:id="rId7"/>
    <p:sldId id="263" r:id="rId8"/>
    <p:sldId id="264" r:id="rId9"/>
    <p:sldId id="265" r:id="rId10"/>
    <p:sldId id="267" r:id="rId11"/>
    <p:sldId id="268"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57D3"/>
    <a:srgbClr val="6D1D6B"/>
    <a:srgbClr val="50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17035B-69B6-4B3F-A3C2-2DB25A4F5E76}" v="251" dt="2026-02-22T16:25:12.5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p:scale>
          <a:sx n="80" d="100"/>
          <a:sy n="80" d="100"/>
        </p:scale>
        <p:origin x="252"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accent1">
                    <a:lumMod val="75000"/>
                  </a:schemeClr>
                </a:solidFill>
              </a:rPr>
              <a:t>User Activity Distribution</a:t>
            </a:r>
            <a:endParaRPr lang="en-IN" dirty="0">
              <a:solidFill>
                <a:schemeClr val="accent1">
                  <a:lumMod val="75000"/>
                </a:scheme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D42-4672-A801-42975569950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D42-4672-A801-42975569950E}"/>
              </c:ext>
            </c:extLst>
          </c:dPt>
          <c:dLbls>
            <c:dLbl>
              <c:idx val="0"/>
              <c:layout>
                <c:manualLayout>
                  <c:x val="-0.10108191163604549"/>
                  <c:y val="-0.1798698600174978"/>
                </c:manualLayout>
              </c:layout>
              <c:tx>
                <c:rich>
                  <a:bodyPr/>
                  <a:lstStyle/>
                  <a:p>
                    <a:fld id="{2EADBB7F-5DEC-4557-9595-DD42FB1DB65A}" type="PERCENTAGE">
                      <a:rPr lang="en-US" sz="1200" b="1" smtClean="0">
                        <a:solidFill>
                          <a:schemeClr val="bg1"/>
                        </a:solidFill>
                      </a:rPr>
                      <a:pPr/>
                      <a:t>[PERCENTAGE]</a:t>
                    </a:fld>
                    <a:endParaRPr lang="en-IN"/>
                  </a:p>
                </c:rich>
              </c:tx>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8D42-4672-A801-42975569950E}"/>
                </c:ext>
              </c:extLst>
            </c:dLbl>
            <c:dLbl>
              <c:idx val="1"/>
              <c:layout>
                <c:manualLayout>
                  <c:x val="9.0663276465441867E-2"/>
                  <c:y val="9.8748906386701668E-2"/>
                </c:manualLayout>
              </c:layout>
              <c:tx>
                <c:rich>
                  <a:bodyPr/>
                  <a:lstStyle/>
                  <a:p>
                    <a:fld id="{82DDEFC1-9DF9-4E88-8AB1-9DB36BADF9BB}" type="PERCENTAGE">
                      <a:rPr lang="en-US" sz="1200" b="1" smtClean="0">
                        <a:solidFill>
                          <a:schemeClr val="bg1"/>
                        </a:solidFill>
                      </a:rPr>
                      <a:pPr/>
                      <a:t>[PERCENTAGE]</a:t>
                    </a:fld>
                    <a:endParaRPr lang="en-IN"/>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D42-4672-A801-42975569950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0"/>
            <c:extLst>
              <c:ext xmlns:c15="http://schemas.microsoft.com/office/drawing/2012/chart" uri="{CE6537A1-D6FC-4f65-9D91-7224C49458BB}"/>
            </c:extLst>
          </c:dLbls>
          <c:cat>
            <c:strRef>
              <c:f>Sheet1!$A$2:$A$3</c:f>
              <c:strCache>
                <c:ptCount val="2"/>
                <c:pt idx="0">
                  <c:v>Active</c:v>
                </c:pt>
                <c:pt idx="1">
                  <c:v>Inactive</c:v>
                </c:pt>
              </c:strCache>
            </c:strRef>
          </c:cat>
          <c:val>
            <c:numRef>
              <c:f>Sheet1!$B$2:$B$3</c:f>
              <c:numCache>
                <c:formatCode>General</c:formatCode>
                <c:ptCount val="2"/>
                <c:pt idx="0">
                  <c:v>74</c:v>
                </c:pt>
                <c:pt idx="1">
                  <c:v>26</c:v>
                </c:pt>
              </c:numCache>
            </c:numRef>
          </c:val>
          <c:extLst>
            <c:ext xmlns:c16="http://schemas.microsoft.com/office/drawing/2014/chart" uri="{C3380CC4-5D6E-409C-BE32-E72D297353CC}">
              <c16:uniqueId val="{00000004-8D42-4672-A801-42975569950E}"/>
            </c:ext>
          </c:extLst>
        </c:ser>
        <c:dLbls>
          <c:dLblPos val="bestFit"/>
          <c:showLegendKey val="0"/>
          <c:showVal val="1"/>
          <c:showCatName val="0"/>
          <c:showSerName val="0"/>
          <c:showPercent val="0"/>
          <c:showBubbleSize val="0"/>
          <c:showLeaderLines val="0"/>
        </c:dLbls>
        <c:firstSliceAng val="0"/>
      </c:pieChart>
      <c:spPr>
        <a:noFill/>
        <a:ln>
          <a:noFill/>
        </a:ln>
        <a:effectLst/>
      </c:spPr>
    </c:plotArea>
    <c:legend>
      <c:legendPos val="b"/>
      <c:layout>
        <c:manualLayout>
          <c:xMode val="edge"/>
          <c:yMode val="edge"/>
          <c:x val="0.33167607174103236"/>
          <c:y val="0.81197834645669287"/>
          <c:w val="0.33387007874015751"/>
          <c:h val="0.1833920239136774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rgbClr val="6D1D6B"/>
                </a:solidFill>
              </a:rPr>
              <a:t>Top 10 Users by Total Engagement</a:t>
            </a:r>
            <a:endParaRPr lang="en-US" dirty="0">
              <a:solidFill>
                <a:srgbClr val="6D1D6B"/>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Sheet1!$G$1</c:f>
              <c:strCache>
                <c:ptCount val="1"/>
                <c:pt idx="0">
                  <c:v>Total Engagement</c:v>
                </c:pt>
              </c:strCache>
            </c:strRef>
          </c:tx>
          <c:spPr>
            <a:solidFill>
              <a:schemeClr val="accent1"/>
            </a:solidFill>
            <a:ln>
              <a:noFill/>
            </a:ln>
            <a:effectLst/>
          </c:spPr>
          <c:invertIfNegative val="0"/>
          <c:dPt>
            <c:idx val="0"/>
            <c:invertIfNegative val="0"/>
            <c:bubble3D val="0"/>
            <c:spPr>
              <a:solidFill>
                <a:srgbClr val="9B57D3"/>
              </a:solidFill>
              <a:ln>
                <a:noFill/>
              </a:ln>
              <a:effectLst/>
            </c:spPr>
            <c:extLst>
              <c:ext xmlns:c16="http://schemas.microsoft.com/office/drawing/2014/chart" uri="{C3380CC4-5D6E-409C-BE32-E72D297353CC}">
                <c16:uniqueId val="{00000001-0620-4BD7-AFFC-E01CF7E45832}"/>
              </c:ext>
            </c:extLst>
          </c:dPt>
          <c:dPt>
            <c:idx val="2"/>
            <c:invertIfNegative val="0"/>
            <c:bubble3D val="0"/>
            <c:spPr>
              <a:solidFill>
                <a:srgbClr val="9B57D3"/>
              </a:solidFill>
              <a:ln>
                <a:noFill/>
              </a:ln>
              <a:effectLst/>
            </c:spPr>
            <c:extLst>
              <c:ext xmlns:c16="http://schemas.microsoft.com/office/drawing/2014/chart" uri="{C3380CC4-5D6E-409C-BE32-E72D297353CC}">
                <c16:uniqueId val="{00000003-0620-4BD7-AFFC-E01CF7E45832}"/>
              </c:ext>
            </c:extLst>
          </c:dPt>
          <c:dPt>
            <c:idx val="4"/>
            <c:invertIfNegative val="0"/>
            <c:bubble3D val="0"/>
            <c:spPr>
              <a:solidFill>
                <a:srgbClr val="9B57D3"/>
              </a:solidFill>
              <a:ln>
                <a:noFill/>
              </a:ln>
              <a:effectLst/>
            </c:spPr>
            <c:extLst>
              <c:ext xmlns:c16="http://schemas.microsoft.com/office/drawing/2014/chart" uri="{C3380CC4-5D6E-409C-BE32-E72D297353CC}">
                <c16:uniqueId val="{00000005-0620-4BD7-AFFC-E01CF7E45832}"/>
              </c:ext>
            </c:extLst>
          </c:dPt>
          <c:dPt>
            <c:idx val="6"/>
            <c:invertIfNegative val="0"/>
            <c:bubble3D val="0"/>
            <c:spPr>
              <a:solidFill>
                <a:srgbClr val="9B57D3"/>
              </a:solidFill>
              <a:ln>
                <a:noFill/>
              </a:ln>
              <a:effectLst/>
            </c:spPr>
            <c:extLst>
              <c:ext xmlns:c16="http://schemas.microsoft.com/office/drawing/2014/chart" uri="{C3380CC4-5D6E-409C-BE32-E72D297353CC}">
                <c16:uniqueId val="{00000007-0620-4BD7-AFFC-E01CF7E45832}"/>
              </c:ext>
            </c:extLst>
          </c:dPt>
          <c:dPt>
            <c:idx val="8"/>
            <c:invertIfNegative val="0"/>
            <c:bubble3D val="0"/>
            <c:spPr>
              <a:solidFill>
                <a:srgbClr val="9B57D3"/>
              </a:solidFill>
              <a:ln>
                <a:noFill/>
              </a:ln>
              <a:effectLst/>
            </c:spPr>
            <c:extLst>
              <c:ext xmlns:c16="http://schemas.microsoft.com/office/drawing/2014/chart" uri="{C3380CC4-5D6E-409C-BE32-E72D297353CC}">
                <c16:uniqueId val="{00000009-0620-4BD7-AFFC-E01CF7E4583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Sheet1!$F$2:$F$11</c:f>
              <c:strCache>
                <c:ptCount val="10"/>
                <c:pt idx="0">
                  <c:v>Eveline95</c:v>
                </c:pt>
                <c:pt idx="1">
                  <c:v>Cesar93</c:v>
                </c:pt>
                <c:pt idx="2">
                  <c:v>Clint27</c:v>
                </c:pt>
                <c:pt idx="3">
                  <c:v>Delfina_VonRueden68</c:v>
                </c:pt>
                <c:pt idx="4">
                  <c:v>Aurelie71</c:v>
                </c:pt>
                <c:pt idx="5">
                  <c:v>Jaime53</c:v>
                </c:pt>
                <c:pt idx="6">
                  <c:v>Donald.Fritsch</c:v>
                </c:pt>
                <c:pt idx="7">
                  <c:v>Janet.Armstrong</c:v>
                </c:pt>
                <c:pt idx="8">
                  <c:v>Alexandro35</c:v>
                </c:pt>
                <c:pt idx="9">
                  <c:v>Zack_Kemmer93</c:v>
                </c:pt>
              </c:strCache>
            </c:strRef>
          </c:cat>
          <c:val>
            <c:numRef>
              <c:f>Sheet1!$G$2:$G$11</c:f>
              <c:numCache>
                <c:formatCode>General</c:formatCode>
                <c:ptCount val="10"/>
                <c:pt idx="0">
                  <c:v>405</c:v>
                </c:pt>
                <c:pt idx="1">
                  <c:v>385</c:v>
                </c:pt>
                <c:pt idx="2">
                  <c:v>375</c:v>
                </c:pt>
                <c:pt idx="3">
                  <c:v>347</c:v>
                </c:pt>
                <c:pt idx="4">
                  <c:v>318</c:v>
                </c:pt>
                <c:pt idx="5">
                  <c:v>302</c:v>
                </c:pt>
                <c:pt idx="6">
                  <c:v>247</c:v>
                </c:pt>
                <c:pt idx="7">
                  <c:v>222</c:v>
                </c:pt>
                <c:pt idx="8">
                  <c:v>220</c:v>
                </c:pt>
                <c:pt idx="9">
                  <c:v>219</c:v>
                </c:pt>
              </c:numCache>
            </c:numRef>
          </c:val>
          <c:extLst>
            <c:ext xmlns:c16="http://schemas.microsoft.com/office/drawing/2014/chart" uri="{C3380CC4-5D6E-409C-BE32-E72D297353CC}">
              <c16:uniqueId val="{0000000A-0620-4BD7-AFFC-E01CF7E45832}"/>
            </c:ext>
          </c:extLst>
        </c:ser>
        <c:dLbls>
          <c:dLblPos val="outEnd"/>
          <c:showLegendKey val="0"/>
          <c:showVal val="1"/>
          <c:showCatName val="0"/>
          <c:showSerName val="0"/>
          <c:showPercent val="0"/>
          <c:showBubbleSize val="0"/>
        </c:dLbls>
        <c:gapWidth val="182"/>
        <c:axId val="1746039631"/>
        <c:axId val="1746040111"/>
      </c:barChart>
      <c:catAx>
        <c:axId val="174603963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746040111"/>
        <c:crosses val="autoZero"/>
        <c:auto val="1"/>
        <c:lblAlgn val="ctr"/>
        <c:lblOffset val="100"/>
        <c:noMultiLvlLbl val="0"/>
      </c:catAx>
      <c:valAx>
        <c:axId val="174604011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746039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tx2"/>
                </a:solidFill>
              </a:rPr>
              <a:t>Top 10 Hashtags by Total Engagement</a:t>
            </a:r>
            <a:endParaRPr lang="en-IN" dirty="0">
              <a:solidFill>
                <a:schemeClr val="tx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9.6481408573928257E-2"/>
          <c:y val="0.1986425994380065"/>
          <c:w val="0.87296303587051616"/>
          <c:h val="0.6280658046293468"/>
        </c:manualLayout>
      </c:layout>
      <c:barChart>
        <c:barDir val="col"/>
        <c:grouping val="clustered"/>
        <c:varyColors val="0"/>
        <c:ser>
          <c:idx val="0"/>
          <c:order val="0"/>
          <c:spPr>
            <a:solidFill>
              <a:schemeClr val="accent1"/>
            </a:solidFill>
            <a:ln>
              <a:noFill/>
            </a:ln>
            <a:effectLst/>
          </c:spPr>
          <c:invertIfNegative val="0"/>
          <c:dPt>
            <c:idx val="1"/>
            <c:invertIfNegative val="0"/>
            <c:bubble3D val="0"/>
            <c:spPr>
              <a:solidFill>
                <a:srgbClr val="9B57D3"/>
              </a:solidFill>
              <a:ln>
                <a:noFill/>
              </a:ln>
              <a:effectLst/>
            </c:spPr>
            <c:extLst>
              <c:ext xmlns:c16="http://schemas.microsoft.com/office/drawing/2014/chart" uri="{C3380CC4-5D6E-409C-BE32-E72D297353CC}">
                <c16:uniqueId val="{00000001-56A8-46B0-AE3C-FFFDD3DC6518}"/>
              </c:ext>
            </c:extLst>
          </c:dPt>
          <c:dPt>
            <c:idx val="3"/>
            <c:invertIfNegative val="0"/>
            <c:bubble3D val="0"/>
            <c:spPr>
              <a:solidFill>
                <a:srgbClr val="9B57D3"/>
              </a:solidFill>
              <a:ln>
                <a:noFill/>
              </a:ln>
              <a:effectLst/>
            </c:spPr>
            <c:extLst>
              <c:ext xmlns:c16="http://schemas.microsoft.com/office/drawing/2014/chart" uri="{C3380CC4-5D6E-409C-BE32-E72D297353CC}">
                <c16:uniqueId val="{00000003-56A8-46B0-AE3C-FFFDD3DC6518}"/>
              </c:ext>
            </c:extLst>
          </c:dPt>
          <c:dPt>
            <c:idx val="5"/>
            <c:invertIfNegative val="0"/>
            <c:bubble3D val="0"/>
            <c:spPr>
              <a:solidFill>
                <a:srgbClr val="9B57D3"/>
              </a:solidFill>
              <a:ln>
                <a:noFill/>
              </a:ln>
              <a:effectLst/>
            </c:spPr>
            <c:extLst>
              <c:ext xmlns:c16="http://schemas.microsoft.com/office/drawing/2014/chart" uri="{C3380CC4-5D6E-409C-BE32-E72D297353CC}">
                <c16:uniqueId val="{00000005-56A8-46B0-AE3C-FFFDD3DC6518}"/>
              </c:ext>
            </c:extLst>
          </c:dPt>
          <c:dPt>
            <c:idx val="7"/>
            <c:invertIfNegative val="0"/>
            <c:bubble3D val="0"/>
            <c:spPr>
              <a:solidFill>
                <a:srgbClr val="9B57D3"/>
              </a:solidFill>
              <a:ln>
                <a:noFill/>
              </a:ln>
              <a:effectLst/>
            </c:spPr>
            <c:extLst>
              <c:ext xmlns:c16="http://schemas.microsoft.com/office/drawing/2014/chart" uri="{C3380CC4-5D6E-409C-BE32-E72D297353CC}">
                <c16:uniqueId val="{00000007-56A8-46B0-AE3C-FFFDD3DC6518}"/>
              </c:ext>
            </c:extLst>
          </c:dPt>
          <c:dPt>
            <c:idx val="9"/>
            <c:invertIfNegative val="0"/>
            <c:bubble3D val="0"/>
            <c:spPr>
              <a:solidFill>
                <a:srgbClr val="9B57D3"/>
              </a:solidFill>
              <a:ln>
                <a:noFill/>
              </a:ln>
              <a:effectLst/>
            </c:spPr>
            <c:extLst>
              <c:ext xmlns:c16="http://schemas.microsoft.com/office/drawing/2014/chart" uri="{C3380CC4-5D6E-409C-BE32-E72D297353CC}">
                <c16:uniqueId val="{00000009-56A8-46B0-AE3C-FFFDD3DC651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Sheet1!$J$1:$J$10</c:f>
              <c:strCache>
                <c:ptCount val="10"/>
                <c:pt idx="0">
                  <c:v>smile</c:v>
                </c:pt>
                <c:pt idx="1">
                  <c:v>beach</c:v>
                </c:pt>
                <c:pt idx="2">
                  <c:v>party</c:v>
                </c:pt>
                <c:pt idx="3">
                  <c:v>fun</c:v>
                </c:pt>
                <c:pt idx="4">
                  <c:v>food</c:v>
                </c:pt>
                <c:pt idx="5">
                  <c:v>lol</c:v>
                </c:pt>
                <c:pt idx="6">
                  <c:v>concert</c:v>
                </c:pt>
                <c:pt idx="7">
                  <c:v>hair</c:v>
                </c:pt>
                <c:pt idx="8">
                  <c:v>happy</c:v>
                </c:pt>
                <c:pt idx="9">
                  <c:v>beauty</c:v>
                </c:pt>
              </c:strCache>
            </c:strRef>
          </c:cat>
          <c:val>
            <c:numRef>
              <c:f>Sheet1!$K$1:$K$10</c:f>
              <c:numCache>
                <c:formatCode>General</c:formatCode>
                <c:ptCount val="10"/>
                <c:pt idx="0">
                  <c:v>1802</c:v>
                </c:pt>
                <c:pt idx="1">
                  <c:v>1293</c:v>
                </c:pt>
                <c:pt idx="2">
                  <c:v>1228</c:v>
                </c:pt>
                <c:pt idx="3">
                  <c:v>1166</c:v>
                </c:pt>
                <c:pt idx="4">
                  <c:v>804</c:v>
                </c:pt>
                <c:pt idx="5">
                  <c:v>768</c:v>
                </c:pt>
                <c:pt idx="6">
                  <c:v>753</c:v>
                </c:pt>
                <c:pt idx="7">
                  <c:v>729</c:v>
                </c:pt>
                <c:pt idx="8">
                  <c:v>702</c:v>
                </c:pt>
                <c:pt idx="9">
                  <c:v>681</c:v>
                </c:pt>
              </c:numCache>
            </c:numRef>
          </c:val>
          <c:extLst>
            <c:ext xmlns:c16="http://schemas.microsoft.com/office/drawing/2014/chart" uri="{C3380CC4-5D6E-409C-BE32-E72D297353CC}">
              <c16:uniqueId val="{0000000A-56A8-46B0-AE3C-FFFDD3DC6518}"/>
            </c:ext>
          </c:extLst>
        </c:ser>
        <c:dLbls>
          <c:dLblPos val="outEnd"/>
          <c:showLegendKey val="0"/>
          <c:showVal val="1"/>
          <c:showCatName val="0"/>
          <c:showSerName val="0"/>
          <c:showPercent val="0"/>
          <c:showBubbleSize val="0"/>
        </c:dLbls>
        <c:gapWidth val="219"/>
        <c:overlap val="-27"/>
        <c:axId val="15866655"/>
        <c:axId val="15864255"/>
      </c:barChart>
      <c:catAx>
        <c:axId val="15866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5864255"/>
        <c:crosses val="autoZero"/>
        <c:auto val="1"/>
        <c:lblAlgn val="ctr"/>
        <c:lblOffset val="100"/>
        <c:noMultiLvlLbl val="0"/>
      </c:catAx>
      <c:valAx>
        <c:axId val="158642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58666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Average Engagement by Number of Posts</a:t>
            </a:r>
            <a:endParaRPr lang="en-IN"/>
          </a:p>
        </c:rich>
      </c:tx>
      <c:layout>
        <c:manualLayout>
          <c:xMode val="edge"/>
          <c:yMode val="edge"/>
          <c:x val="0.13599258375854878"/>
          <c:y val="7.7610714434126222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0.12693826233778197"/>
          <c:y val="0.10541490565714887"/>
          <c:w val="0.84568200904883373"/>
          <c:h val="0.68386558802032793"/>
        </c:manualLayout>
      </c:layout>
      <c:lineChart>
        <c:grouping val="standard"/>
        <c:varyColors val="0"/>
        <c:ser>
          <c:idx val="0"/>
          <c:order val="0"/>
          <c:tx>
            <c:strRef>
              <c:f>Sheet1!$Q$1</c:f>
              <c:strCache>
                <c:ptCount val="1"/>
                <c:pt idx="0">
                  <c:v>total_posts</c:v>
                </c:pt>
              </c:strCache>
            </c:strRef>
          </c:tx>
          <c:spPr>
            <a:ln w="28575" cap="rnd">
              <a:solidFill>
                <a:schemeClr val="accent1"/>
              </a:solidFill>
              <a:round/>
            </a:ln>
            <a:effectLst/>
          </c:spPr>
          <c:marker>
            <c:symbol val="none"/>
          </c:marker>
          <c:val>
            <c:numRef>
              <c:f>Sheet1!$Q$2:$Q$12</c:f>
              <c:numCache>
                <c:formatCode>General</c:formatCode>
                <c:ptCount val="11"/>
                <c:pt idx="0">
                  <c:v>1</c:v>
                </c:pt>
                <c:pt idx="1">
                  <c:v>2</c:v>
                </c:pt>
                <c:pt idx="2">
                  <c:v>3</c:v>
                </c:pt>
                <c:pt idx="3">
                  <c:v>4</c:v>
                </c:pt>
                <c:pt idx="4">
                  <c:v>5</c:v>
                </c:pt>
                <c:pt idx="5">
                  <c:v>6</c:v>
                </c:pt>
                <c:pt idx="6">
                  <c:v>8</c:v>
                </c:pt>
                <c:pt idx="7">
                  <c:v>9</c:v>
                </c:pt>
                <c:pt idx="8">
                  <c:v>10</c:v>
                </c:pt>
                <c:pt idx="9">
                  <c:v>11</c:v>
                </c:pt>
                <c:pt idx="10">
                  <c:v>12</c:v>
                </c:pt>
              </c:numCache>
            </c:numRef>
          </c:val>
          <c:smooth val="0"/>
          <c:extLst>
            <c:ext xmlns:c16="http://schemas.microsoft.com/office/drawing/2014/chart" uri="{C3380CC4-5D6E-409C-BE32-E72D297353CC}">
              <c16:uniqueId val="{00000000-878D-4508-9191-954EDC1EBB91}"/>
            </c:ext>
          </c:extLst>
        </c:ser>
        <c:ser>
          <c:idx val="1"/>
          <c:order val="1"/>
          <c:tx>
            <c:strRef>
              <c:f>Sheet1!$R$1</c:f>
              <c:strCache>
                <c:ptCount val="1"/>
                <c:pt idx="0">
                  <c:v>avg_engagement</c:v>
                </c:pt>
              </c:strCache>
            </c:strRef>
          </c:tx>
          <c:spPr>
            <a:ln w="28575" cap="rnd">
              <a:solidFill>
                <a:schemeClr val="accent2"/>
              </a:solidFill>
              <a:round/>
            </a:ln>
            <a:effectLst/>
          </c:spPr>
          <c:marker>
            <c:symbol val="none"/>
          </c:marker>
          <c:val>
            <c:numRef>
              <c:f>Sheet1!$R$2:$R$12</c:f>
              <c:numCache>
                <c:formatCode>General</c:formatCode>
                <c:ptCount val="11"/>
                <c:pt idx="0">
                  <c:v>65.72</c:v>
                </c:pt>
                <c:pt idx="1">
                  <c:v>103.62</c:v>
                </c:pt>
                <c:pt idx="2">
                  <c:v>143</c:v>
                </c:pt>
                <c:pt idx="3">
                  <c:v>183.46</c:v>
                </c:pt>
                <c:pt idx="4">
                  <c:v>212.36</c:v>
                </c:pt>
                <c:pt idx="5">
                  <c:v>247</c:v>
                </c:pt>
                <c:pt idx="6">
                  <c:v>310</c:v>
                </c:pt>
                <c:pt idx="7">
                  <c:v>347</c:v>
                </c:pt>
                <c:pt idx="8">
                  <c:v>385</c:v>
                </c:pt>
                <c:pt idx="9">
                  <c:v>375</c:v>
                </c:pt>
                <c:pt idx="10">
                  <c:v>405</c:v>
                </c:pt>
              </c:numCache>
            </c:numRef>
          </c:val>
          <c:smooth val="0"/>
          <c:extLst>
            <c:ext xmlns:c16="http://schemas.microsoft.com/office/drawing/2014/chart" uri="{C3380CC4-5D6E-409C-BE32-E72D297353CC}">
              <c16:uniqueId val="{00000001-878D-4508-9191-954EDC1EBB91}"/>
            </c:ext>
          </c:extLst>
        </c:ser>
        <c:dLbls>
          <c:showLegendKey val="0"/>
          <c:showVal val="0"/>
          <c:showCatName val="0"/>
          <c:showSerName val="0"/>
          <c:showPercent val="0"/>
          <c:showBubbleSize val="0"/>
        </c:dLbls>
        <c:smooth val="0"/>
        <c:axId val="110164543"/>
        <c:axId val="110165503"/>
      </c:lineChart>
      <c:catAx>
        <c:axId val="11016454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0" i="0" u="none" strike="noStrike" baseline="0"/>
                  <a:t>Total Posts</a:t>
                </a:r>
                <a:endParaRPr lang="en-IN"/>
              </a:p>
            </c:rich>
          </c:tx>
          <c:layout>
            <c:manualLayout>
              <c:xMode val="edge"/>
              <c:yMode val="edge"/>
              <c:x val="0.43238667154027144"/>
              <c:y val="0.9095535733928469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165503"/>
        <c:crosses val="autoZero"/>
        <c:auto val="1"/>
        <c:lblAlgn val="ctr"/>
        <c:lblOffset val="100"/>
        <c:noMultiLvlLbl val="0"/>
      </c:catAx>
      <c:valAx>
        <c:axId val="1101655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0" i="0" u="none" strike="noStrike" baseline="0"/>
                  <a:t>Total Posts</a:t>
                </a:r>
                <a:endParaRPr lang="en-IN"/>
              </a:p>
            </c:rich>
          </c:tx>
          <c:layout>
            <c:manualLayout>
              <c:xMode val="edge"/>
              <c:yMode val="edge"/>
              <c:x val="1.6666666666666666E-2"/>
              <c:y val="0.3133253135024788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16454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solidFill>
                  <a:schemeClr val="tx2"/>
                </a:solidFill>
              </a:rPr>
              <a:t>Average Engagement per Post by Joining Year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Sheet1!$AA$2</c:f>
              <c:strCache>
                <c:ptCount val="1"/>
                <c:pt idx="0">
                  <c:v>2017</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Sheet1!$AB$2</c:f>
              <c:numCache>
                <c:formatCode>General</c:formatCode>
                <c:ptCount val="1"/>
                <c:pt idx="0">
                  <c:v>48.9</c:v>
                </c:pt>
              </c:numCache>
            </c:numRef>
          </c:val>
          <c:extLst>
            <c:ext xmlns:c16="http://schemas.microsoft.com/office/drawing/2014/chart" uri="{C3380CC4-5D6E-409C-BE32-E72D297353CC}">
              <c16:uniqueId val="{00000000-459B-4E6F-A2E4-AEC10F0BBC15}"/>
            </c:ext>
          </c:extLst>
        </c:ser>
        <c:ser>
          <c:idx val="1"/>
          <c:order val="1"/>
          <c:tx>
            <c:strRef>
              <c:f>Sheet1!$AA$3</c:f>
              <c:strCache>
                <c:ptCount val="1"/>
                <c:pt idx="0">
                  <c:v>2016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Sheet1!$AB$3</c:f>
              <c:numCache>
                <c:formatCode>General</c:formatCode>
                <c:ptCount val="1"/>
                <c:pt idx="0">
                  <c:v>51.43</c:v>
                </c:pt>
              </c:numCache>
            </c:numRef>
          </c:val>
          <c:extLst>
            <c:ext xmlns:c16="http://schemas.microsoft.com/office/drawing/2014/chart" uri="{C3380CC4-5D6E-409C-BE32-E72D297353CC}">
              <c16:uniqueId val="{00000001-459B-4E6F-A2E4-AEC10F0BBC15}"/>
            </c:ext>
          </c:extLst>
        </c:ser>
        <c:dLbls>
          <c:dLblPos val="outEnd"/>
          <c:showLegendKey val="0"/>
          <c:showVal val="1"/>
          <c:showCatName val="0"/>
          <c:showSerName val="0"/>
          <c:showPercent val="0"/>
          <c:showBubbleSize val="0"/>
        </c:dLbls>
        <c:gapWidth val="219"/>
        <c:overlap val="-27"/>
        <c:axId val="38167583"/>
        <c:axId val="38170943"/>
      </c:barChart>
      <c:catAx>
        <c:axId val="38167583"/>
        <c:scaling>
          <c:orientation val="minMax"/>
        </c:scaling>
        <c:delete val="1"/>
        <c:axPos val="b"/>
        <c:numFmt formatCode="General" sourceLinked="1"/>
        <c:majorTickMark val="none"/>
        <c:minorTickMark val="none"/>
        <c:tickLblPos val="nextTo"/>
        <c:crossAx val="38170943"/>
        <c:crosses val="autoZero"/>
        <c:auto val="1"/>
        <c:lblAlgn val="ctr"/>
        <c:lblOffset val="100"/>
        <c:noMultiLvlLbl val="0"/>
      </c:catAx>
      <c:valAx>
        <c:axId val="38170943"/>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aseline="0" dirty="0">
                    <a:solidFill>
                      <a:schemeClr val="tx2"/>
                    </a:solidFill>
                  </a:rPr>
                  <a:t>Average Engagement</a:t>
                </a:r>
              </a:p>
            </c:rich>
          </c:tx>
          <c:layout>
            <c:manualLayout>
              <c:xMode val="edge"/>
              <c:yMode val="edge"/>
              <c:x val="1.9444444444444445E-2"/>
              <c:y val="0.2936107465733450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38167583"/>
        <c:crosses val="autoZero"/>
        <c:crossBetween val="between"/>
      </c:valAx>
      <c:spPr>
        <a:noFill/>
        <a:ln>
          <a:noFill/>
        </a:ln>
        <a:effectLst/>
      </c:spPr>
    </c:plotArea>
    <c:legend>
      <c:legendPos val="b"/>
      <c:layout>
        <c:manualLayout>
          <c:xMode val="edge"/>
          <c:yMode val="edge"/>
          <c:x val="0.24791163604549432"/>
          <c:y val="0.88483741615631384"/>
          <c:w val="0.57362117235345578"/>
          <c:h val="7.8125546806649168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tx2"/>
                </a:solidFill>
              </a:rPr>
              <a:t>User Segmentation Distribution</a:t>
            </a:r>
            <a:endParaRPr lang="en-IN" dirty="0">
              <a:solidFill>
                <a:schemeClr val="tx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0.14578499562554681"/>
          <c:y val="0.17171296296296298"/>
          <c:w val="0.40287467191601051"/>
          <c:h val="0.6714577865266842"/>
        </c:manualLayout>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1F6-4FCF-9C62-ADFC9D61DCF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61F6-4FCF-9C62-ADFC9D61DCF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1F6-4FCF-9C62-ADFC9D61DCF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1F6-4FCF-9C62-ADFC9D61DCF3}"/>
              </c:ext>
            </c:extLst>
          </c:dPt>
          <c:dLbls>
            <c:dLbl>
              <c:idx val="0"/>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A27290CA-5B22-40A5-8F73-007734DBDB83}" type="PERCENTAGE">
                      <a:rPr lang="en-US" sz="1100">
                        <a:solidFill>
                          <a:schemeClr val="tx2"/>
                        </a:solidFill>
                      </a:rPr>
                      <a:pPr>
                        <a:defRPr/>
                      </a:pPr>
                      <a:t>[PERCENTAGE]</a:t>
                    </a:fld>
                    <a:endParaRPr lang="en-IN"/>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extLst>
                <c:ext xmlns:c15="http://schemas.microsoft.com/office/drawing/2012/chart" uri="{CE6537A1-D6FC-4f65-9D91-7224C49458BB}">
                  <c15:layout>
                    <c:manualLayout>
                      <c:w val="0.11189589664610998"/>
                      <c:h val="8.9305315313918068E-2"/>
                    </c:manualLayout>
                  </c15:layout>
                  <c15:dlblFieldTable/>
                  <c15:showDataLabelsRange val="0"/>
                </c:ext>
                <c:ext xmlns:c16="http://schemas.microsoft.com/office/drawing/2014/chart" uri="{C3380CC4-5D6E-409C-BE32-E72D297353CC}">
                  <c16:uniqueId val="{00000001-61F6-4FCF-9C62-ADFC9D61DCF3}"/>
                </c:ext>
              </c:extLst>
            </c:dLbl>
            <c:dLbl>
              <c:idx val="1"/>
              <c:tx>
                <c:rich>
                  <a:bodyPr/>
                  <a:lstStyle/>
                  <a:p>
                    <a:fld id="{2B166F1B-904A-4C5F-821E-DBFA0C6E7E0F}" type="PERCENTAGE">
                      <a:rPr lang="en-US" sz="1100"/>
                      <a:pPr/>
                      <a:t>[PERCENTAGE]</a:t>
                    </a:fld>
                    <a:endParaRPr lang="en-IN"/>
                  </a:p>
                </c:rich>
              </c:tx>
              <c:dLblPos val="outEnd"/>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61F6-4FCF-9C62-ADFC9D61DCF3}"/>
                </c:ext>
              </c:extLst>
            </c:dLbl>
            <c:dLbl>
              <c:idx val="2"/>
              <c:tx>
                <c:rich>
                  <a:bodyPr/>
                  <a:lstStyle/>
                  <a:p>
                    <a:fld id="{3C758EE3-1AC3-41F6-BE82-620C6D94DF0F}" type="PERCENTAGE">
                      <a:rPr lang="en-US" sz="1050">
                        <a:solidFill>
                          <a:schemeClr val="tx2"/>
                        </a:solidFill>
                      </a:rPr>
                      <a:pPr/>
                      <a:t>[PERCENTAGE]</a:t>
                    </a:fld>
                    <a:endParaRPr lang="en-IN"/>
                  </a:p>
                </c:rich>
              </c:tx>
              <c:dLblPos val="outEnd"/>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61F6-4FCF-9C62-ADFC9D61DCF3}"/>
                </c:ext>
              </c:extLst>
            </c:dLbl>
            <c:dLbl>
              <c:idx val="3"/>
              <c:tx>
                <c:rich>
                  <a:bodyPr/>
                  <a:lstStyle/>
                  <a:p>
                    <a:fld id="{CD79EC9B-D565-46B3-A5EE-58AC76DF236A}" type="PERCENTAGE">
                      <a:rPr lang="en-US" sz="1100">
                        <a:solidFill>
                          <a:schemeClr val="tx2"/>
                        </a:solidFill>
                      </a:rPr>
                      <a:pPr/>
                      <a:t>[PERCENTAGE]</a:t>
                    </a:fld>
                    <a:endParaRPr lang="en-IN"/>
                  </a:p>
                </c:rich>
              </c:tx>
              <c:dLblPos val="outEnd"/>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61F6-4FCF-9C62-ADFC9D61DCF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Sheet1!$AI$3:$AI$6</c:f>
              <c:strCache>
                <c:ptCount val="4"/>
                <c:pt idx="0">
                  <c:v>High-Value Creators</c:v>
                </c:pt>
                <c:pt idx="1">
                  <c:v>Emerging Users</c:v>
                </c:pt>
                <c:pt idx="2">
                  <c:v>Inactive Users</c:v>
                </c:pt>
                <c:pt idx="3">
                  <c:v>Active Low-Engagement</c:v>
                </c:pt>
              </c:strCache>
            </c:strRef>
          </c:cat>
          <c:val>
            <c:numRef>
              <c:f>Sheet1!$AJ$3:$AJ$6</c:f>
              <c:numCache>
                <c:formatCode>General</c:formatCode>
                <c:ptCount val="4"/>
                <c:pt idx="0">
                  <c:v>19</c:v>
                </c:pt>
                <c:pt idx="1">
                  <c:v>53</c:v>
                </c:pt>
                <c:pt idx="2">
                  <c:v>26</c:v>
                </c:pt>
                <c:pt idx="3">
                  <c:v>2</c:v>
                </c:pt>
              </c:numCache>
            </c:numRef>
          </c:val>
          <c:extLst>
            <c:ext xmlns:c16="http://schemas.microsoft.com/office/drawing/2014/chart" uri="{C3380CC4-5D6E-409C-BE32-E72D297353CC}">
              <c16:uniqueId val="{00000008-61F6-4FCF-9C62-ADFC9D61DCF3}"/>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59722222222222221"/>
          <c:y val="0.27835593467483227"/>
          <c:w val="0.33333333333333331"/>
          <c:h val="0.4999711335575162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tx2"/>
                </a:solidFill>
              </a:rPr>
              <a:t>Top Users by Engagement Efficiency</a:t>
            </a:r>
            <a:endParaRPr lang="en-IN" dirty="0">
              <a:solidFill>
                <a:schemeClr val="tx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Sheet1!$AN$3:$AN$7</c:f>
              <c:strCache>
                <c:ptCount val="5"/>
                <c:pt idx="0">
                  <c:v>Janet.Armstrong</c:v>
                </c:pt>
                <c:pt idx="1">
                  <c:v>Alexandro35</c:v>
                </c:pt>
                <c:pt idx="2">
                  <c:v>Zack_Kemmer93</c:v>
                </c:pt>
                <c:pt idx="3">
                  <c:v>Justina.Gaylord27</c:v>
                </c:pt>
                <c:pt idx="4">
                  <c:v>Florence99</c:v>
                </c:pt>
              </c:strCache>
            </c:strRef>
          </c:cat>
          <c:val>
            <c:numRef>
              <c:f>Sheet1!$AO$3:$AO$7</c:f>
              <c:numCache>
                <c:formatCode>General</c:formatCode>
                <c:ptCount val="5"/>
                <c:pt idx="0">
                  <c:v>44.4</c:v>
                </c:pt>
                <c:pt idx="1">
                  <c:v>44</c:v>
                </c:pt>
                <c:pt idx="2">
                  <c:v>43.8</c:v>
                </c:pt>
                <c:pt idx="3">
                  <c:v>43.2</c:v>
                </c:pt>
                <c:pt idx="4">
                  <c:v>42.8</c:v>
                </c:pt>
              </c:numCache>
            </c:numRef>
          </c:val>
          <c:extLst>
            <c:ext xmlns:c16="http://schemas.microsoft.com/office/drawing/2014/chart" uri="{C3380CC4-5D6E-409C-BE32-E72D297353CC}">
              <c16:uniqueId val="{00000000-D239-4B5D-8AD0-EBDC4CC26F04}"/>
            </c:ext>
          </c:extLst>
        </c:ser>
        <c:dLbls>
          <c:dLblPos val="outEnd"/>
          <c:showLegendKey val="0"/>
          <c:showVal val="1"/>
          <c:showCatName val="0"/>
          <c:showSerName val="0"/>
          <c:showPercent val="0"/>
          <c:showBubbleSize val="0"/>
        </c:dLbls>
        <c:gapWidth val="182"/>
        <c:axId val="34345599"/>
        <c:axId val="34346559"/>
      </c:barChart>
      <c:catAx>
        <c:axId val="34345599"/>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2"/>
                    </a:solidFill>
                    <a:latin typeface="+mn-lt"/>
                    <a:ea typeface="+mn-ea"/>
                    <a:cs typeface="+mn-cs"/>
                  </a:defRPr>
                </a:pPr>
                <a:r>
                  <a:rPr lang="en-IN" sz="1000" b="0" i="0" u="none" strike="noStrike" baseline="0">
                    <a:solidFill>
                      <a:schemeClr val="tx2"/>
                    </a:solidFill>
                  </a:rPr>
                  <a:t>Username</a:t>
                </a:r>
                <a:endParaRPr lang="en-IN" baseline="0">
                  <a:solidFill>
                    <a:schemeClr val="tx2"/>
                  </a:solidFill>
                </a:endParaRPr>
              </a:p>
            </c:rich>
          </c:tx>
          <c:layout>
            <c:manualLayout>
              <c:xMode val="edge"/>
              <c:yMode val="edge"/>
              <c:x val="2.810018589600995E-2"/>
              <c:y val="0.420674380453426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346559"/>
        <c:crosses val="autoZero"/>
        <c:auto val="1"/>
        <c:lblAlgn val="ctr"/>
        <c:lblOffset val="100"/>
        <c:noMultiLvlLbl val="0"/>
      </c:catAx>
      <c:valAx>
        <c:axId val="3434655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0" i="0" u="none" strike="noStrike" baseline="0" dirty="0">
                    <a:solidFill>
                      <a:schemeClr val="tx2"/>
                    </a:solidFill>
                  </a:rPr>
                  <a:t>Engagement per Post</a:t>
                </a:r>
                <a:endParaRPr lang="en-IN" dirty="0">
                  <a:solidFill>
                    <a:schemeClr val="tx2"/>
                  </a:solidFill>
                </a:endParaRPr>
              </a:p>
            </c:rich>
          </c:tx>
          <c:layout>
            <c:manualLayout>
              <c:xMode val="edge"/>
              <c:yMode val="edge"/>
              <c:x val="0.4181239300200007"/>
              <c:y val="0.9024006748785187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3455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7045C1-8703-4ABD-8AB9-3FB734A8F512}"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8AA9CABF-4BA4-4E01-A320-077EEECDB44F}">
      <dgm:prSet custT="1"/>
      <dgm:spPr/>
      <dgm:t>
        <a:bodyPr/>
        <a:lstStyle/>
        <a:p>
          <a:pPr>
            <a:lnSpc>
              <a:spcPct val="100000"/>
            </a:lnSpc>
          </a:pPr>
          <a:r>
            <a:rPr lang="en-IN" sz="2000" dirty="0"/>
            <a:t>Problem Statement</a:t>
          </a:r>
          <a:endParaRPr lang="en-US" sz="2000" dirty="0"/>
        </a:p>
      </dgm:t>
    </dgm:pt>
    <dgm:pt modelId="{55450506-44E8-4874-88F8-75AF5FBFE223}" type="parTrans" cxnId="{82DDDB6C-41DE-4354-A156-F282CA8C1D6A}">
      <dgm:prSet/>
      <dgm:spPr/>
      <dgm:t>
        <a:bodyPr/>
        <a:lstStyle/>
        <a:p>
          <a:endParaRPr lang="en-US"/>
        </a:p>
      </dgm:t>
    </dgm:pt>
    <dgm:pt modelId="{50250722-AFD5-4EBA-9DC3-3E1E2D4E1A8F}" type="sibTrans" cxnId="{82DDDB6C-41DE-4354-A156-F282CA8C1D6A}">
      <dgm:prSet/>
      <dgm:spPr/>
      <dgm:t>
        <a:bodyPr/>
        <a:lstStyle/>
        <a:p>
          <a:pPr>
            <a:lnSpc>
              <a:spcPct val="100000"/>
            </a:lnSpc>
          </a:pPr>
          <a:endParaRPr lang="en-US"/>
        </a:p>
      </dgm:t>
    </dgm:pt>
    <dgm:pt modelId="{9A2E852A-F533-41A3-97F2-AF4068548AC1}">
      <dgm:prSet custT="1"/>
      <dgm:spPr/>
      <dgm:t>
        <a:bodyPr/>
        <a:lstStyle/>
        <a:p>
          <a:pPr>
            <a:lnSpc>
              <a:spcPct val="100000"/>
            </a:lnSpc>
          </a:pPr>
          <a:r>
            <a:rPr lang="en-IN" sz="2000" dirty="0"/>
            <a:t>Data Overview</a:t>
          </a:r>
          <a:endParaRPr lang="en-US" sz="2000" dirty="0"/>
        </a:p>
      </dgm:t>
    </dgm:pt>
    <dgm:pt modelId="{CB104BFE-1D3D-4FE0-8511-2223B72DA13A}" type="parTrans" cxnId="{1372B85E-B425-4F8B-A2C9-4756011815DC}">
      <dgm:prSet/>
      <dgm:spPr/>
      <dgm:t>
        <a:bodyPr/>
        <a:lstStyle/>
        <a:p>
          <a:endParaRPr lang="en-US"/>
        </a:p>
      </dgm:t>
    </dgm:pt>
    <dgm:pt modelId="{AF967550-EEB5-4D1A-BE3A-41D679A6C714}" type="sibTrans" cxnId="{1372B85E-B425-4F8B-A2C9-4756011815DC}">
      <dgm:prSet/>
      <dgm:spPr/>
      <dgm:t>
        <a:bodyPr/>
        <a:lstStyle/>
        <a:p>
          <a:pPr>
            <a:lnSpc>
              <a:spcPct val="100000"/>
            </a:lnSpc>
          </a:pPr>
          <a:endParaRPr lang="en-US"/>
        </a:p>
      </dgm:t>
    </dgm:pt>
    <dgm:pt modelId="{7324E5B3-DA21-4001-A956-EEB44DD7B275}">
      <dgm:prSet custT="1"/>
      <dgm:spPr/>
      <dgm:t>
        <a:bodyPr/>
        <a:lstStyle/>
        <a:p>
          <a:pPr>
            <a:lnSpc>
              <a:spcPct val="100000"/>
            </a:lnSpc>
          </a:pPr>
          <a:r>
            <a:rPr lang="en-IN" sz="2000" dirty="0"/>
            <a:t>Database Schema</a:t>
          </a:r>
          <a:endParaRPr lang="en-US" sz="2000" dirty="0"/>
        </a:p>
      </dgm:t>
    </dgm:pt>
    <dgm:pt modelId="{D1201F54-BD2E-4DE7-B70F-99D8CE2C1AED}" type="parTrans" cxnId="{CBD5DA90-320C-40EE-AF59-358FB19E0F45}">
      <dgm:prSet/>
      <dgm:spPr/>
      <dgm:t>
        <a:bodyPr/>
        <a:lstStyle/>
        <a:p>
          <a:endParaRPr lang="en-US"/>
        </a:p>
      </dgm:t>
    </dgm:pt>
    <dgm:pt modelId="{A7D803F4-7245-448C-BBEE-8929A195E30A}" type="sibTrans" cxnId="{CBD5DA90-320C-40EE-AF59-358FB19E0F45}">
      <dgm:prSet/>
      <dgm:spPr/>
      <dgm:t>
        <a:bodyPr/>
        <a:lstStyle/>
        <a:p>
          <a:pPr>
            <a:lnSpc>
              <a:spcPct val="100000"/>
            </a:lnSpc>
          </a:pPr>
          <a:endParaRPr lang="en-US"/>
        </a:p>
      </dgm:t>
    </dgm:pt>
    <dgm:pt modelId="{27BFDD71-CEDE-4D01-9C07-2F47CD6DB719}">
      <dgm:prSet custT="1"/>
      <dgm:spPr/>
      <dgm:t>
        <a:bodyPr/>
        <a:lstStyle/>
        <a:p>
          <a:pPr>
            <a:lnSpc>
              <a:spcPct val="100000"/>
            </a:lnSpc>
          </a:pPr>
          <a:r>
            <a:rPr lang="en-IN" sz="2000" dirty="0"/>
            <a:t>Key Metrics &amp; Insights</a:t>
          </a:r>
          <a:endParaRPr lang="en-US" sz="2000" dirty="0"/>
        </a:p>
      </dgm:t>
    </dgm:pt>
    <dgm:pt modelId="{9615D824-1C52-4E85-BBFD-5B09B24F3684}" type="parTrans" cxnId="{5B2BC855-A38B-418C-B3A8-C95DF3BFBC1C}">
      <dgm:prSet/>
      <dgm:spPr/>
      <dgm:t>
        <a:bodyPr/>
        <a:lstStyle/>
        <a:p>
          <a:endParaRPr lang="en-US"/>
        </a:p>
      </dgm:t>
    </dgm:pt>
    <dgm:pt modelId="{D72A7636-7C1E-4CC2-B847-7512CCBBDB6B}" type="sibTrans" cxnId="{5B2BC855-A38B-418C-B3A8-C95DF3BFBC1C}">
      <dgm:prSet/>
      <dgm:spPr/>
      <dgm:t>
        <a:bodyPr/>
        <a:lstStyle/>
        <a:p>
          <a:pPr>
            <a:lnSpc>
              <a:spcPct val="100000"/>
            </a:lnSpc>
          </a:pPr>
          <a:endParaRPr lang="en-US"/>
        </a:p>
      </dgm:t>
    </dgm:pt>
    <dgm:pt modelId="{CAB65F97-B90D-4DAE-9141-544DA80557D8}">
      <dgm:prSet custT="1"/>
      <dgm:spPr/>
      <dgm:t>
        <a:bodyPr/>
        <a:lstStyle/>
        <a:p>
          <a:pPr>
            <a:lnSpc>
              <a:spcPct val="100000"/>
            </a:lnSpc>
          </a:pPr>
          <a:r>
            <a:rPr lang="en-IN" sz="2000" dirty="0"/>
            <a:t>Marketing Strategies</a:t>
          </a:r>
          <a:endParaRPr lang="en-US" sz="2000" dirty="0"/>
        </a:p>
      </dgm:t>
    </dgm:pt>
    <dgm:pt modelId="{D2A61694-1E62-4361-93E6-58BF29CCE2F8}" type="parTrans" cxnId="{C53296B5-8393-4BB4-B1BE-DA363A015DC6}">
      <dgm:prSet/>
      <dgm:spPr/>
      <dgm:t>
        <a:bodyPr/>
        <a:lstStyle/>
        <a:p>
          <a:endParaRPr lang="en-US"/>
        </a:p>
      </dgm:t>
    </dgm:pt>
    <dgm:pt modelId="{2C88ACE3-7552-4F73-917E-01BB10ABE5ED}" type="sibTrans" cxnId="{C53296B5-8393-4BB4-B1BE-DA363A015DC6}">
      <dgm:prSet/>
      <dgm:spPr/>
      <dgm:t>
        <a:bodyPr/>
        <a:lstStyle/>
        <a:p>
          <a:pPr>
            <a:lnSpc>
              <a:spcPct val="100000"/>
            </a:lnSpc>
          </a:pPr>
          <a:endParaRPr lang="en-US"/>
        </a:p>
      </dgm:t>
    </dgm:pt>
    <dgm:pt modelId="{C74A9058-B7CC-4915-A034-2F99EC7FE7D9}">
      <dgm:prSet custT="1"/>
      <dgm:spPr/>
      <dgm:t>
        <a:bodyPr/>
        <a:lstStyle/>
        <a:p>
          <a:pPr>
            <a:lnSpc>
              <a:spcPct val="100000"/>
            </a:lnSpc>
          </a:pPr>
          <a:r>
            <a:rPr lang="en-IN" sz="2000" dirty="0"/>
            <a:t>Conclusion</a:t>
          </a:r>
          <a:endParaRPr lang="en-US" sz="2000" dirty="0"/>
        </a:p>
      </dgm:t>
    </dgm:pt>
    <dgm:pt modelId="{B07576AC-4DE9-45C0-B436-48C95AEA3F72}" type="parTrans" cxnId="{5DD06C0C-68C8-4333-9F11-6DB2B5344C61}">
      <dgm:prSet/>
      <dgm:spPr/>
      <dgm:t>
        <a:bodyPr/>
        <a:lstStyle/>
        <a:p>
          <a:endParaRPr lang="en-US"/>
        </a:p>
      </dgm:t>
    </dgm:pt>
    <dgm:pt modelId="{53BF06CB-E469-4BCA-840C-E1055423856C}" type="sibTrans" cxnId="{5DD06C0C-68C8-4333-9F11-6DB2B5344C61}">
      <dgm:prSet/>
      <dgm:spPr/>
      <dgm:t>
        <a:bodyPr/>
        <a:lstStyle/>
        <a:p>
          <a:endParaRPr lang="en-US"/>
        </a:p>
      </dgm:t>
    </dgm:pt>
    <dgm:pt modelId="{93E710CC-9B9A-46C2-AB28-2E3DC2A01471}" type="pres">
      <dgm:prSet presAssocID="{217045C1-8703-4ABD-8AB9-3FB734A8F512}" presName="root" presStyleCnt="0">
        <dgm:presLayoutVars>
          <dgm:dir/>
          <dgm:resizeHandles val="exact"/>
        </dgm:presLayoutVars>
      </dgm:prSet>
      <dgm:spPr/>
    </dgm:pt>
    <dgm:pt modelId="{349C801C-7BF7-4779-A661-760ACEF151AD}" type="pres">
      <dgm:prSet presAssocID="{217045C1-8703-4ABD-8AB9-3FB734A8F512}" presName="container" presStyleCnt="0">
        <dgm:presLayoutVars>
          <dgm:dir/>
          <dgm:resizeHandles val="exact"/>
        </dgm:presLayoutVars>
      </dgm:prSet>
      <dgm:spPr/>
    </dgm:pt>
    <dgm:pt modelId="{3BE17CF7-2ED5-4DA4-B0DF-5C19EB84A045}" type="pres">
      <dgm:prSet presAssocID="{8AA9CABF-4BA4-4E01-A320-077EEECDB44F}" presName="compNode" presStyleCnt="0"/>
      <dgm:spPr/>
    </dgm:pt>
    <dgm:pt modelId="{BC0E5732-C891-4AE5-9C0F-23127C80B05A}" type="pres">
      <dgm:prSet presAssocID="{8AA9CABF-4BA4-4E01-A320-077EEECDB44F}" presName="iconBgRect" presStyleLbl="bgShp" presStyleIdx="0" presStyleCnt="6"/>
      <dgm:spPr/>
    </dgm:pt>
    <dgm:pt modelId="{2BE090DA-8BB9-48F2-99BE-B94D93DBB5A3}" type="pres">
      <dgm:prSet presAssocID="{8AA9CABF-4BA4-4E01-A320-077EEECDB44F}" presName="iconRect" presStyleLbl="node1" presStyleIdx="0" presStyleCnt="6"/>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6E845B16-6FA0-4078-A58C-47F312D44EBC}" type="pres">
      <dgm:prSet presAssocID="{8AA9CABF-4BA4-4E01-A320-077EEECDB44F}" presName="spaceRect" presStyleCnt="0"/>
      <dgm:spPr/>
    </dgm:pt>
    <dgm:pt modelId="{84CBCBB9-77EF-4712-840B-77C6C349EB9D}" type="pres">
      <dgm:prSet presAssocID="{8AA9CABF-4BA4-4E01-A320-077EEECDB44F}" presName="textRect" presStyleLbl="revTx" presStyleIdx="0" presStyleCnt="6">
        <dgm:presLayoutVars>
          <dgm:chMax val="1"/>
          <dgm:chPref val="1"/>
        </dgm:presLayoutVars>
      </dgm:prSet>
      <dgm:spPr/>
    </dgm:pt>
    <dgm:pt modelId="{22F6E6BE-11CA-4B07-AE25-F60BB72F9B9D}" type="pres">
      <dgm:prSet presAssocID="{50250722-AFD5-4EBA-9DC3-3E1E2D4E1A8F}" presName="sibTrans" presStyleLbl="sibTrans2D1" presStyleIdx="0" presStyleCnt="0"/>
      <dgm:spPr/>
    </dgm:pt>
    <dgm:pt modelId="{EB42C3B5-E530-4C04-B683-B9E27B076230}" type="pres">
      <dgm:prSet presAssocID="{9A2E852A-F533-41A3-97F2-AF4068548AC1}" presName="compNode" presStyleCnt="0"/>
      <dgm:spPr/>
    </dgm:pt>
    <dgm:pt modelId="{BD7EA5CE-EA62-4BA6-9F3D-6FA13EA7101A}" type="pres">
      <dgm:prSet presAssocID="{9A2E852A-F533-41A3-97F2-AF4068548AC1}" presName="iconBgRect" presStyleLbl="bgShp" presStyleIdx="1" presStyleCnt="6"/>
      <dgm:spPr/>
    </dgm:pt>
    <dgm:pt modelId="{3C0C3920-0EA4-40B0-BC4F-7036D72B0AE6}" type="pres">
      <dgm:prSet presAssocID="{9A2E852A-F533-41A3-97F2-AF4068548AC1}" presName="iconRect" presStyleLbl="node1" presStyleIdx="1" presStyleCnt="6"/>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568EC318-E36C-49B7-AB55-7FF3DACC84BF}" type="pres">
      <dgm:prSet presAssocID="{9A2E852A-F533-41A3-97F2-AF4068548AC1}" presName="spaceRect" presStyleCnt="0"/>
      <dgm:spPr/>
    </dgm:pt>
    <dgm:pt modelId="{38ED4120-BF1F-453C-A116-343922EAE190}" type="pres">
      <dgm:prSet presAssocID="{9A2E852A-F533-41A3-97F2-AF4068548AC1}" presName="textRect" presStyleLbl="revTx" presStyleIdx="1" presStyleCnt="6">
        <dgm:presLayoutVars>
          <dgm:chMax val="1"/>
          <dgm:chPref val="1"/>
        </dgm:presLayoutVars>
      </dgm:prSet>
      <dgm:spPr/>
    </dgm:pt>
    <dgm:pt modelId="{4E7E5E8C-0FAE-48C8-A31B-732323DFC04D}" type="pres">
      <dgm:prSet presAssocID="{AF967550-EEB5-4D1A-BE3A-41D679A6C714}" presName="sibTrans" presStyleLbl="sibTrans2D1" presStyleIdx="0" presStyleCnt="0"/>
      <dgm:spPr/>
    </dgm:pt>
    <dgm:pt modelId="{A1CC8389-682E-4293-B7A8-A7EF7238B6F9}" type="pres">
      <dgm:prSet presAssocID="{7324E5B3-DA21-4001-A956-EEB44DD7B275}" presName="compNode" presStyleCnt="0"/>
      <dgm:spPr/>
    </dgm:pt>
    <dgm:pt modelId="{5FD0001B-E03E-4F0B-B5AD-159951D249A9}" type="pres">
      <dgm:prSet presAssocID="{7324E5B3-DA21-4001-A956-EEB44DD7B275}" presName="iconBgRect" presStyleLbl="bgShp" presStyleIdx="2" presStyleCnt="6"/>
      <dgm:spPr/>
    </dgm:pt>
    <dgm:pt modelId="{3AFCE580-3C16-48BC-9E27-900E4CBD46FA}" type="pres">
      <dgm:prSet presAssocID="{7324E5B3-DA21-4001-A956-EEB44DD7B275}" presName="iconRect" presStyleLbl="node1" presStyleIdx="2" presStyleCnt="6"/>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mputer"/>
        </a:ext>
      </dgm:extLst>
    </dgm:pt>
    <dgm:pt modelId="{F2556519-F846-4671-8BBB-DC365C98168B}" type="pres">
      <dgm:prSet presAssocID="{7324E5B3-DA21-4001-A956-EEB44DD7B275}" presName="spaceRect" presStyleCnt="0"/>
      <dgm:spPr/>
    </dgm:pt>
    <dgm:pt modelId="{37ED599C-460A-4E3A-90D0-D2B9740FEA3E}" type="pres">
      <dgm:prSet presAssocID="{7324E5B3-DA21-4001-A956-EEB44DD7B275}" presName="textRect" presStyleLbl="revTx" presStyleIdx="2" presStyleCnt="6">
        <dgm:presLayoutVars>
          <dgm:chMax val="1"/>
          <dgm:chPref val="1"/>
        </dgm:presLayoutVars>
      </dgm:prSet>
      <dgm:spPr/>
    </dgm:pt>
    <dgm:pt modelId="{D698BF37-91D6-4F6F-AFC7-048A3835CC58}" type="pres">
      <dgm:prSet presAssocID="{A7D803F4-7245-448C-BBEE-8929A195E30A}" presName="sibTrans" presStyleLbl="sibTrans2D1" presStyleIdx="0" presStyleCnt="0"/>
      <dgm:spPr/>
    </dgm:pt>
    <dgm:pt modelId="{DBC1A4C0-DA3E-48C0-BA59-0E40CC093A45}" type="pres">
      <dgm:prSet presAssocID="{27BFDD71-CEDE-4D01-9C07-2F47CD6DB719}" presName="compNode" presStyleCnt="0"/>
      <dgm:spPr/>
    </dgm:pt>
    <dgm:pt modelId="{4967B8C6-A998-49AC-95B7-F649AC9A9E50}" type="pres">
      <dgm:prSet presAssocID="{27BFDD71-CEDE-4D01-9C07-2F47CD6DB719}" presName="iconBgRect" presStyleLbl="bgShp" presStyleIdx="3" presStyleCnt="6"/>
      <dgm:spPr/>
    </dgm:pt>
    <dgm:pt modelId="{21E94EF9-3092-46C0-902A-D5E23E6036F1}" type="pres">
      <dgm:prSet presAssocID="{27BFDD71-CEDE-4D01-9C07-2F47CD6DB719}" presName="iconRect" presStyleLbl="node1" presStyleIdx="3" presStyleCnt="6"/>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chart"/>
        </a:ext>
      </dgm:extLst>
    </dgm:pt>
    <dgm:pt modelId="{2D9D2B25-78D6-4F97-B6E9-E315E5FC03D6}" type="pres">
      <dgm:prSet presAssocID="{27BFDD71-CEDE-4D01-9C07-2F47CD6DB719}" presName="spaceRect" presStyleCnt="0"/>
      <dgm:spPr/>
    </dgm:pt>
    <dgm:pt modelId="{41D2CA8D-FB0D-4722-A084-D094CE6D99E7}" type="pres">
      <dgm:prSet presAssocID="{27BFDD71-CEDE-4D01-9C07-2F47CD6DB719}" presName="textRect" presStyleLbl="revTx" presStyleIdx="3" presStyleCnt="6">
        <dgm:presLayoutVars>
          <dgm:chMax val="1"/>
          <dgm:chPref val="1"/>
        </dgm:presLayoutVars>
      </dgm:prSet>
      <dgm:spPr/>
    </dgm:pt>
    <dgm:pt modelId="{F6545825-D5F2-4991-86C3-FB2195D5B1CC}" type="pres">
      <dgm:prSet presAssocID="{D72A7636-7C1E-4CC2-B847-7512CCBBDB6B}" presName="sibTrans" presStyleLbl="sibTrans2D1" presStyleIdx="0" presStyleCnt="0"/>
      <dgm:spPr/>
    </dgm:pt>
    <dgm:pt modelId="{207E3936-7CE0-4711-B83D-B4B1353B539E}" type="pres">
      <dgm:prSet presAssocID="{CAB65F97-B90D-4DAE-9141-544DA80557D8}" presName="compNode" presStyleCnt="0"/>
      <dgm:spPr/>
    </dgm:pt>
    <dgm:pt modelId="{E7564F7A-0C0E-4468-BF79-E2EE8D22C2FC}" type="pres">
      <dgm:prSet presAssocID="{CAB65F97-B90D-4DAE-9141-544DA80557D8}" presName="iconBgRect" presStyleLbl="bgShp" presStyleIdx="4" presStyleCnt="6"/>
      <dgm:spPr/>
    </dgm:pt>
    <dgm:pt modelId="{93BFA15F-E195-4C91-B3A7-299D01CCCDE2}" type="pres">
      <dgm:prSet presAssocID="{CAB65F97-B90D-4DAE-9141-544DA80557D8}" presName="iconRect" presStyleLbl="node1" presStyleIdx="4" presStyleCnt="6"/>
      <dgm:spPr>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ullseye"/>
        </a:ext>
      </dgm:extLst>
    </dgm:pt>
    <dgm:pt modelId="{C6D04DCB-5474-401D-8D18-304BA546541C}" type="pres">
      <dgm:prSet presAssocID="{CAB65F97-B90D-4DAE-9141-544DA80557D8}" presName="spaceRect" presStyleCnt="0"/>
      <dgm:spPr/>
    </dgm:pt>
    <dgm:pt modelId="{3AF60BD0-F35A-4F88-9DD7-AAC8855DF58A}" type="pres">
      <dgm:prSet presAssocID="{CAB65F97-B90D-4DAE-9141-544DA80557D8}" presName="textRect" presStyleLbl="revTx" presStyleIdx="4" presStyleCnt="6">
        <dgm:presLayoutVars>
          <dgm:chMax val="1"/>
          <dgm:chPref val="1"/>
        </dgm:presLayoutVars>
      </dgm:prSet>
      <dgm:spPr/>
    </dgm:pt>
    <dgm:pt modelId="{6440B959-11C8-4E7A-8B40-2BDEB300EDE6}" type="pres">
      <dgm:prSet presAssocID="{2C88ACE3-7552-4F73-917E-01BB10ABE5ED}" presName="sibTrans" presStyleLbl="sibTrans2D1" presStyleIdx="0" presStyleCnt="0"/>
      <dgm:spPr/>
    </dgm:pt>
    <dgm:pt modelId="{09862CC5-3D47-473C-91A7-B3A89F88332B}" type="pres">
      <dgm:prSet presAssocID="{C74A9058-B7CC-4915-A034-2F99EC7FE7D9}" presName="compNode" presStyleCnt="0"/>
      <dgm:spPr/>
    </dgm:pt>
    <dgm:pt modelId="{307F668C-7060-40C5-8E9B-30265F1D9682}" type="pres">
      <dgm:prSet presAssocID="{C74A9058-B7CC-4915-A034-2F99EC7FE7D9}" presName="iconBgRect" presStyleLbl="bgShp" presStyleIdx="5" presStyleCnt="6"/>
      <dgm:spPr/>
    </dgm:pt>
    <dgm:pt modelId="{034C7060-0B63-42AD-8367-B82BC74E4222}" type="pres">
      <dgm:prSet presAssocID="{C74A9058-B7CC-4915-A034-2F99EC7FE7D9}" presName="iconRect" presStyleLbl="node1" presStyleIdx="5" presStyleCnt="6"/>
      <dgm:spPr>
        <a:blipFill>
          <a:blip xmlns:r="http://schemas.openxmlformats.org/officeDocument/2006/relationships"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Checkmark"/>
        </a:ext>
      </dgm:extLst>
    </dgm:pt>
    <dgm:pt modelId="{009CBAF4-5F89-4DBC-AF0A-79D8188981CA}" type="pres">
      <dgm:prSet presAssocID="{C74A9058-B7CC-4915-A034-2F99EC7FE7D9}" presName="spaceRect" presStyleCnt="0"/>
      <dgm:spPr/>
    </dgm:pt>
    <dgm:pt modelId="{4F54A5D5-F4A7-4B7D-B011-2F17731D3EC4}" type="pres">
      <dgm:prSet presAssocID="{C74A9058-B7CC-4915-A034-2F99EC7FE7D9}" presName="textRect" presStyleLbl="revTx" presStyleIdx="5" presStyleCnt="6">
        <dgm:presLayoutVars>
          <dgm:chMax val="1"/>
          <dgm:chPref val="1"/>
        </dgm:presLayoutVars>
      </dgm:prSet>
      <dgm:spPr/>
    </dgm:pt>
  </dgm:ptLst>
  <dgm:cxnLst>
    <dgm:cxn modelId="{5DD06C0C-68C8-4333-9F11-6DB2B5344C61}" srcId="{217045C1-8703-4ABD-8AB9-3FB734A8F512}" destId="{C74A9058-B7CC-4915-A034-2F99EC7FE7D9}" srcOrd="5" destOrd="0" parTransId="{B07576AC-4DE9-45C0-B436-48C95AEA3F72}" sibTransId="{53BF06CB-E469-4BCA-840C-E1055423856C}"/>
    <dgm:cxn modelId="{2BE45514-1992-47C7-A5C7-BDEBCBE1EC5C}" type="presOf" srcId="{217045C1-8703-4ABD-8AB9-3FB734A8F512}" destId="{93E710CC-9B9A-46C2-AB28-2E3DC2A01471}" srcOrd="0" destOrd="0" presId="urn:microsoft.com/office/officeart/2018/2/layout/IconCircleList"/>
    <dgm:cxn modelId="{FBE4C914-6945-42E3-86F3-ABDF2A856781}" type="presOf" srcId="{CAB65F97-B90D-4DAE-9141-544DA80557D8}" destId="{3AF60BD0-F35A-4F88-9DD7-AAC8855DF58A}" srcOrd="0" destOrd="0" presId="urn:microsoft.com/office/officeart/2018/2/layout/IconCircleList"/>
    <dgm:cxn modelId="{A907E332-D7C6-42B7-9801-E335469CFC8C}" type="presOf" srcId="{8AA9CABF-4BA4-4E01-A320-077EEECDB44F}" destId="{84CBCBB9-77EF-4712-840B-77C6C349EB9D}" srcOrd="0" destOrd="0" presId="urn:microsoft.com/office/officeart/2018/2/layout/IconCircleList"/>
    <dgm:cxn modelId="{0FC22E40-6ED6-4649-851C-4515AFBD2342}" type="presOf" srcId="{27BFDD71-CEDE-4D01-9C07-2F47CD6DB719}" destId="{41D2CA8D-FB0D-4722-A084-D094CE6D99E7}" srcOrd="0" destOrd="0" presId="urn:microsoft.com/office/officeart/2018/2/layout/IconCircleList"/>
    <dgm:cxn modelId="{1372B85E-B425-4F8B-A2C9-4756011815DC}" srcId="{217045C1-8703-4ABD-8AB9-3FB734A8F512}" destId="{9A2E852A-F533-41A3-97F2-AF4068548AC1}" srcOrd="1" destOrd="0" parTransId="{CB104BFE-1D3D-4FE0-8511-2223B72DA13A}" sibTransId="{AF967550-EEB5-4D1A-BE3A-41D679A6C714}"/>
    <dgm:cxn modelId="{6AAAF465-CEE6-4FC1-A201-AE6C106B1631}" type="presOf" srcId="{50250722-AFD5-4EBA-9DC3-3E1E2D4E1A8F}" destId="{22F6E6BE-11CA-4B07-AE25-F60BB72F9B9D}" srcOrd="0" destOrd="0" presId="urn:microsoft.com/office/officeart/2018/2/layout/IconCircleList"/>
    <dgm:cxn modelId="{7FA0C168-2058-44C7-A43E-100733CA2011}" type="presOf" srcId="{9A2E852A-F533-41A3-97F2-AF4068548AC1}" destId="{38ED4120-BF1F-453C-A116-343922EAE190}" srcOrd="0" destOrd="0" presId="urn:microsoft.com/office/officeart/2018/2/layout/IconCircleList"/>
    <dgm:cxn modelId="{82DDDB6C-41DE-4354-A156-F282CA8C1D6A}" srcId="{217045C1-8703-4ABD-8AB9-3FB734A8F512}" destId="{8AA9CABF-4BA4-4E01-A320-077EEECDB44F}" srcOrd="0" destOrd="0" parTransId="{55450506-44E8-4874-88F8-75AF5FBFE223}" sibTransId="{50250722-AFD5-4EBA-9DC3-3E1E2D4E1A8F}"/>
    <dgm:cxn modelId="{5B2BC855-A38B-418C-B3A8-C95DF3BFBC1C}" srcId="{217045C1-8703-4ABD-8AB9-3FB734A8F512}" destId="{27BFDD71-CEDE-4D01-9C07-2F47CD6DB719}" srcOrd="3" destOrd="0" parTransId="{9615D824-1C52-4E85-BBFD-5B09B24F3684}" sibTransId="{D72A7636-7C1E-4CC2-B847-7512CCBBDB6B}"/>
    <dgm:cxn modelId="{CBD5DA90-320C-40EE-AF59-358FB19E0F45}" srcId="{217045C1-8703-4ABD-8AB9-3FB734A8F512}" destId="{7324E5B3-DA21-4001-A956-EEB44DD7B275}" srcOrd="2" destOrd="0" parTransId="{D1201F54-BD2E-4DE7-B70F-99D8CE2C1AED}" sibTransId="{A7D803F4-7245-448C-BBEE-8929A195E30A}"/>
    <dgm:cxn modelId="{1114329F-23F5-4880-8F87-B16C69BC66E2}" type="presOf" srcId="{2C88ACE3-7552-4F73-917E-01BB10ABE5ED}" destId="{6440B959-11C8-4E7A-8B40-2BDEB300EDE6}" srcOrd="0" destOrd="0" presId="urn:microsoft.com/office/officeart/2018/2/layout/IconCircleList"/>
    <dgm:cxn modelId="{C53296B5-8393-4BB4-B1BE-DA363A015DC6}" srcId="{217045C1-8703-4ABD-8AB9-3FB734A8F512}" destId="{CAB65F97-B90D-4DAE-9141-544DA80557D8}" srcOrd="4" destOrd="0" parTransId="{D2A61694-1E62-4361-93E6-58BF29CCE2F8}" sibTransId="{2C88ACE3-7552-4F73-917E-01BB10ABE5ED}"/>
    <dgm:cxn modelId="{51B8B6C9-C28B-4FA4-A14A-F21DD96F1387}" type="presOf" srcId="{7324E5B3-DA21-4001-A956-EEB44DD7B275}" destId="{37ED599C-460A-4E3A-90D0-D2B9740FEA3E}" srcOrd="0" destOrd="0" presId="urn:microsoft.com/office/officeart/2018/2/layout/IconCircleList"/>
    <dgm:cxn modelId="{335257E6-52F9-4D93-8E90-04D925549527}" type="presOf" srcId="{AF967550-EEB5-4D1A-BE3A-41D679A6C714}" destId="{4E7E5E8C-0FAE-48C8-A31B-732323DFC04D}" srcOrd="0" destOrd="0" presId="urn:microsoft.com/office/officeart/2018/2/layout/IconCircleList"/>
    <dgm:cxn modelId="{0EAE97EE-F9EE-4A23-8035-134A7FB0A1DF}" type="presOf" srcId="{A7D803F4-7245-448C-BBEE-8929A195E30A}" destId="{D698BF37-91D6-4F6F-AFC7-048A3835CC58}" srcOrd="0" destOrd="0" presId="urn:microsoft.com/office/officeart/2018/2/layout/IconCircleList"/>
    <dgm:cxn modelId="{188B91F1-2F38-434D-83F1-1B512BFEE126}" type="presOf" srcId="{D72A7636-7C1E-4CC2-B847-7512CCBBDB6B}" destId="{F6545825-D5F2-4991-86C3-FB2195D5B1CC}" srcOrd="0" destOrd="0" presId="urn:microsoft.com/office/officeart/2018/2/layout/IconCircleList"/>
    <dgm:cxn modelId="{1993F1F9-FE19-45D5-A790-1D074F269DB0}" type="presOf" srcId="{C74A9058-B7CC-4915-A034-2F99EC7FE7D9}" destId="{4F54A5D5-F4A7-4B7D-B011-2F17731D3EC4}" srcOrd="0" destOrd="0" presId="urn:microsoft.com/office/officeart/2018/2/layout/IconCircleList"/>
    <dgm:cxn modelId="{9B48C475-8479-40FC-97B5-85A90FBB5463}" type="presParOf" srcId="{93E710CC-9B9A-46C2-AB28-2E3DC2A01471}" destId="{349C801C-7BF7-4779-A661-760ACEF151AD}" srcOrd="0" destOrd="0" presId="urn:microsoft.com/office/officeart/2018/2/layout/IconCircleList"/>
    <dgm:cxn modelId="{371999AC-2290-4B8D-B895-EBA96A5025E9}" type="presParOf" srcId="{349C801C-7BF7-4779-A661-760ACEF151AD}" destId="{3BE17CF7-2ED5-4DA4-B0DF-5C19EB84A045}" srcOrd="0" destOrd="0" presId="urn:microsoft.com/office/officeart/2018/2/layout/IconCircleList"/>
    <dgm:cxn modelId="{33755B67-6D57-4D14-B495-D0AEAD26DC21}" type="presParOf" srcId="{3BE17CF7-2ED5-4DA4-B0DF-5C19EB84A045}" destId="{BC0E5732-C891-4AE5-9C0F-23127C80B05A}" srcOrd="0" destOrd="0" presId="urn:microsoft.com/office/officeart/2018/2/layout/IconCircleList"/>
    <dgm:cxn modelId="{4C6022F8-D7C7-4DA9-A07D-41450F86A2BB}" type="presParOf" srcId="{3BE17CF7-2ED5-4DA4-B0DF-5C19EB84A045}" destId="{2BE090DA-8BB9-48F2-99BE-B94D93DBB5A3}" srcOrd="1" destOrd="0" presId="urn:microsoft.com/office/officeart/2018/2/layout/IconCircleList"/>
    <dgm:cxn modelId="{5A363E11-E486-4921-B855-D34E1B5AE598}" type="presParOf" srcId="{3BE17CF7-2ED5-4DA4-B0DF-5C19EB84A045}" destId="{6E845B16-6FA0-4078-A58C-47F312D44EBC}" srcOrd="2" destOrd="0" presId="urn:microsoft.com/office/officeart/2018/2/layout/IconCircleList"/>
    <dgm:cxn modelId="{499BEA73-ACFF-4308-A28E-BFDCAC79F7FD}" type="presParOf" srcId="{3BE17CF7-2ED5-4DA4-B0DF-5C19EB84A045}" destId="{84CBCBB9-77EF-4712-840B-77C6C349EB9D}" srcOrd="3" destOrd="0" presId="urn:microsoft.com/office/officeart/2018/2/layout/IconCircleList"/>
    <dgm:cxn modelId="{58D982DC-A47C-4E90-BEBD-670BB34FEBBA}" type="presParOf" srcId="{349C801C-7BF7-4779-A661-760ACEF151AD}" destId="{22F6E6BE-11CA-4B07-AE25-F60BB72F9B9D}" srcOrd="1" destOrd="0" presId="urn:microsoft.com/office/officeart/2018/2/layout/IconCircleList"/>
    <dgm:cxn modelId="{C9E22AC5-DFC6-4C8C-9A56-D8BF1770EE4C}" type="presParOf" srcId="{349C801C-7BF7-4779-A661-760ACEF151AD}" destId="{EB42C3B5-E530-4C04-B683-B9E27B076230}" srcOrd="2" destOrd="0" presId="urn:microsoft.com/office/officeart/2018/2/layout/IconCircleList"/>
    <dgm:cxn modelId="{85448401-2D0F-4905-A35E-AD2ABD19FD50}" type="presParOf" srcId="{EB42C3B5-E530-4C04-B683-B9E27B076230}" destId="{BD7EA5CE-EA62-4BA6-9F3D-6FA13EA7101A}" srcOrd="0" destOrd="0" presId="urn:microsoft.com/office/officeart/2018/2/layout/IconCircleList"/>
    <dgm:cxn modelId="{470E3DA4-0885-438F-8A6B-3E3A20FA9154}" type="presParOf" srcId="{EB42C3B5-E530-4C04-B683-B9E27B076230}" destId="{3C0C3920-0EA4-40B0-BC4F-7036D72B0AE6}" srcOrd="1" destOrd="0" presId="urn:microsoft.com/office/officeart/2018/2/layout/IconCircleList"/>
    <dgm:cxn modelId="{7BBB2DEF-381A-4FCD-8F6D-48815655EE25}" type="presParOf" srcId="{EB42C3B5-E530-4C04-B683-B9E27B076230}" destId="{568EC318-E36C-49B7-AB55-7FF3DACC84BF}" srcOrd="2" destOrd="0" presId="urn:microsoft.com/office/officeart/2018/2/layout/IconCircleList"/>
    <dgm:cxn modelId="{D17B6491-78A0-4C3C-949B-000A38221658}" type="presParOf" srcId="{EB42C3B5-E530-4C04-B683-B9E27B076230}" destId="{38ED4120-BF1F-453C-A116-343922EAE190}" srcOrd="3" destOrd="0" presId="urn:microsoft.com/office/officeart/2018/2/layout/IconCircleList"/>
    <dgm:cxn modelId="{1A3F9D9B-C05F-4992-867C-2D3BC10587CE}" type="presParOf" srcId="{349C801C-7BF7-4779-A661-760ACEF151AD}" destId="{4E7E5E8C-0FAE-48C8-A31B-732323DFC04D}" srcOrd="3" destOrd="0" presId="urn:microsoft.com/office/officeart/2018/2/layout/IconCircleList"/>
    <dgm:cxn modelId="{216B40CC-32DC-4D37-A347-DB440E0518E6}" type="presParOf" srcId="{349C801C-7BF7-4779-A661-760ACEF151AD}" destId="{A1CC8389-682E-4293-B7A8-A7EF7238B6F9}" srcOrd="4" destOrd="0" presId="urn:microsoft.com/office/officeart/2018/2/layout/IconCircleList"/>
    <dgm:cxn modelId="{C3E9BE60-CDBC-49A6-B569-067B6EBF3397}" type="presParOf" srcId="{A1CC8389-682E-4293-B7A8-A7EF7238B6F9}" destId="{5FD0001B-E03E-4F0B-B5AD-159951D249A9}" srcOrd="0" destOrd="0" presId="urn:microsoft.com/office/officeart/2018/2/layout/IconCircleList"/>
    <dgm:cxn modelId="{D8931D17-8C4E-4BE6-A9BD-84C6168927F4}" type="presParOf" srcId="{A1CC8389-682E-4293-B7A8-A7EF7238B6F9}" destId="{3AFCE580-3C16-48BC-9E27-900E4CBD46FA}" srcOrd="1" destOrd="0" presId="urn:microsoft.com/office/officeart/2018/2/layout/IconCircleList"/>
    <dgm:cxn modelId="{85946985-9503-4B3D-A655-331EB509869D}" type="presParOf" srcId="{A1CC8389-682E-4293-B7A8-A7EF7238B6F9}" destId="{F2556519-F846-4671-8BBB-DC365C98168B}" srcOrd="2" destOrd="0" presId="urn:microsoft.com/office/officeart/2018/2/layout/IconCircleList"/>
    <dgm:cxn modelId="{A657F8E3-29EC-457E-B5B1-1175F5B0D180}" type="presParOf" srcId="{A1CC8389-682E-4293-B7A8-A7EF7238B6F9}" destId="{37ED599C-460A-4E3A-90D0-D2B9740FEA3E}" srcOrd="3" destOrd="0" presId="urn:microsoft.com/office/officeart/2018/2/layout/IconCircleList"/>
    <dgm:cxn modelId="{F2D586A9-1A39-480A-83BB-2C305A6D43F5}" type="presParOf" srcId="{349C801C-7BF7-4779-A661-760ACEF151AD}" destId="{D698BF37-91D6-4F6F-AFC7-048A3835CC58}" srcOrd="5" destOrd="0" presId="urn:microsoft.com/office/officeart/2018/2/layout/IconCircleList"/>
    <dgm:cxn modelId="{7FBF98B7-E91E-4ADD-B9EB-E2A64C86BA25}" type="presParOf" srcId="{349C801C-7BF7-4779-A661-760ACEF151AD}" destId="{DBC1A4C0-DA3E-48C0-BA59-0E40CC093A45}" srcOrd="6" destOrd="0" presId="urn:microsoft.com/office/officeart/2018/2/layout/IconCircleList"/>
    <dgm:cxn modelId="{A332C2B0-E1EB-44D8-AB71-4CA25C114E9E}" type="presParOf" srcId="{DBC1A4C0-DA3E-48C0-BA59-0E40CC093A45}" destId="{4967B8C6-A998-49AC-95B7-F649AC9A9E50}" srcOrd="0" destOrd="0" presId="urn:microsoft.com/office/officeart/2018/2/layout/IconCircleList"/>
    <dgm:cxn modelId="{D6E6910D-C88D-4A84-8631-080A34ABC860}" type="presParOf" srcId="{DBC1A4C0-DA3E-48C0-BA59-0E40CC093A45}" destId="{21E94EF9-3092-46C0-902A-D5E23E6036F1}" srcOrd="1" destOrd="0" presId="urn:microsoft.com/office/officeart/2018/2/layout/IconCircleList"/>
    <dgm:cxn modelId="{C1BA3F82-A8FD-4CC9-9AF5-C006402FFD2A}" type="presParOf" srcId="{DBC1A4C0-DA3E-48C0-BA59-0E40CC093A45}" destId="{2D9D2B25-78D6-4F97-B6E9-E315E5FC03D6}" srcOrd="2" destOrd="0" presId="urn:microsoft.com/office/officeart/2018/2/layout/IconCircleList"/>
    <dgm:cxn modelId="{44138193-455A-4EBD-8D75-E1465026F45D}" type="presParOf" srcId="{DBC1A4C0-DA3E-48C0-BA59-0E40CC093A45}" destId="{41D2CA8D-FB0D-4722-A084-D094CE6D99E7}" srcOrd="3" destOrd="0" presId="urn:microsoft.com/office/officeart/2018/2/layout/IconCircleList"/>
    <dgm:cxn modelId="{C992D148-0A6C-4963-9FA1-FFF70B34839C}" type="presParOf" srcId="{349C801C-7BF7-4779-A661-760ACEF151AD}" destId="{F6545825-D5F2-4991-86C3-FB2195D5B1CC}" srcOrd="7" destOrd="0" presId="urn:microsoft.com/office/officeart/2018/2/layout/IconCircleList"/>
    <dgm:cxn modelId="{E3BC2A37-BDA4-4AF0-B82F-C3F92A5E4703}" type="presParOf" srcId="{349C801C-7BF7-4779-A661-760ACEF151AD}" destId="{207E3936-7CE0-4711-B83D-B4B1353B539E}" srcOrd="8" destOrd="0" presId="urn:microsoft.com/office/officeart/2018/2/layout/IconCircleList"/>
    <dgm:cxn modelId="{CA3E97BE-99DB-41F1-9BF3-3497BC6D4246}" type="presParOf" srcId="{207E3936-7CE0-4711-B83D-B4B1353B539E}" destId="{E7564F7A-0C0E-4468-BF79-E2EE8D22C2FC}" srcOrd="0" destOrd="0" presId="urn:microsoft.com/office/officeart/2018/2/layout/IconCircleList"/>
    <dgm:cxn modelId="{7C942163-809A-40B3-852B-6ED5ED73C9F3}" type="presParOf" srcId="{207E3936-7CE0-4711-B83D-B4B1353B539E}" destId="{93BFA15F-E195-4C91-B3A7-299D01CCCDE2}" srcOrd="1" destOrd="0" presId="urn:microsoft.com/office/officeart/2018/2/layout/IconCircleList"/>
    <dgm:cxn modelId="{0599BDDD-406F-4D4B-9215-73D7331B5213}" type="presParOf" srcId="{207E3936-7CE0-4711-B83D-B4B1353B539E}" destId="{C6D04DCB-5474-401D-8D18-304BA546541C}" srcOrd="2" destOrd="0" presId="urn:microsoft.com/office/officeart/2018/2/layout/IconCircleList"/>
    <dgm:cxn modelId="{EBEA14C0-E4EF-41D3-824C-CAEC53E95594}" type="presParOf" srcId="{207E3936-7CE0-4711-B83D-B4B1353B539E}" destId="{3AF60BD0-F35A-4F88-9DD7-AAC8855DF58A}" srcOrd="3" destOrd="0" presId="urn:microsoft.com/office/officeart/2018/2/layout/IconCircleList"/>
    <dgm:cxn modelId="{3D89693C-C5AA-4AC3-B121-C0C60C688557}" type="presParOf" srcId="{349C801C-7BF7-4779-A661-760ACEF151AD}" destId="{6440B959-11C8-4E7A-8B40-2BDEB300EDE6}" srcOrd="9" destOrd="0" presId="urn:microsoft.com/office/officeart/2018/2/layout/IconCircleList"/>
    <dgm:cxn modelId="{EDEDF8D4-AD40-4692-AD19-A2D0FC5E8A27}" type="presParOf" srcId="{349C801C-7BF7-4779-A661-760ACEF151AD}" destId="{09862CC5-3D47-473C-91A7-B3A89F88332B}" srcOrd="10" destOrd="0" presId="urn:microsoft.com/office/officeart/2018/2/layout/IconCircleList"/>
    <dgm:cxn modelId="{1A2B9B67-4C1E-4BEB-8C36-3DCC25550133}" type="presParOf" srcId="{09862CC5-3D47-473C-91A7-B3A89F88332B}" destId="{307F668C-7060-40C5-8E9B-30265F1D9682}" srcOrd="0" destOrd="0" presId="urn:microsoft.com/office/officeart/2018/2/layout/IconCircleList"/>
    <dgm:cxn modelId="{87E883DA-A064-48CF-BD8D-C32E1F0E240B}" type="presParOf" srcId="{09862CC5-3D47-473C-91A7-B3A89F88332B}" destId="{034C7060-0B63-42AD-8367-B82BC74E4222}" srcOrd="1" destOrd="0" presId="urn:microsoft.com/office/officeart/2018/2/layout/IconCircleList"/>
    <dgm:cxn modelId="{A8CFD37A-1E8D-4E04-85D0-739392DE8497}" type="presParOf" srcId="{09862CC5-3D47-473C-91A7-B3A89F88332B}" destId="{009CBAF4-5F89-4DBC-AF0A-79D8188981CA}" srcOrd="2" destOrd="0" presId="urn:microsoft.com/office/officeart/2018/2/layout/IconCircleList"/>
    <dgm:cxn modelId="{6B0C8EA7-5B4C-4A38-AD3B-206469E44283}" type="presParOf" srcId="{09862CC5-3D47-473C-91A7-B3A89F88332B}" destId="{4F54A5D5-F4A7-4B7D-B011-2F17731D3EC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0E5732-C891-4AE5-9C0F-23127C80B05A}">
      <dsp:nvSpPr>
        <dsp:cNvPr id="0" name=""/>
        <dsp:cNvSpPr/>
      </dsp:nvSpPr>
      <dsp:spPr>
        <a:xfrm>
          <a:off x="1067904" y="31994"/>
          <a:ext cx="901737" cy="9017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E090DA-8BB9-48F2-99BE-B94D93DBB5A3}">
      <dsp:nvSpPr>
        <dsp:cNvPr id="0" name=""/>
        <dsp:cNvSpPr/>
      </dsp:nvSpPr>
      <dsp:spPr>
        <a:xfrm>
          <a:off x="1257269" y="221359"/>
          <a:ext cx="523007" cy="523007"/>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CBCBB9-77EF-4712-840B-77C6C349EB9D}">
      <dsp:nvSpPr>
        <dsp:cNvPr id="0" name=""/>
        <dsp:cNvSpPr/>
      </dsp:nvSpPr>
      <dsp:spPr>
        <a:xfrm>
          <a:off x="2162871" y="31994"/>
          <a:ext cx="2125524" cy="901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Problem Statement</a:t>
          </a:r>
          <a:endParaRPr lang="en-US" sz="2000" kern="1200" dirty="0"/>
        </a:p>
      </dsp:txBody>
      <dsp:txXfrm>
        <a:off x="2162871" y="31994"/>
        <a:ext cx="2125524" cy="901737"/>
      </dsp:txXfrm>
    </dsp:sp>
    <dsp:sp modelId="{BD7EA5CE-EA62-4BA6-9F3D-6FA13EA7101A}">
      <dsp:nvSpPr>
        <dsp:cNvPr id="0" name=""/>
        <dsp:cNvSpPr/>
      </dsp:nvSpPr>
      <dsp:spPr>
        <a:xfrm>
          <a:off x="4658753" y="31994"/>
          <a:ext cx="901737" cy="9017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0C3920-0EA4-40B0-BC4F-7036D72B0AE6}">
      <dsp:nvSpPr>
        <dsp:cNvPr id="0" name=""/>
        <dsp:cNvSpPr/>
      </dsp:nvSpPr>
      <dsp:spPr>
        <a:xfrm>
          <a:off x="4848118" y="221359"/>
          <a:ext cx="523007" cy="523007"/>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ED4120-BF1F-453C-A116-343922EAE190}">
      <dsp:nvSpPr>
        <dsp:cNvPr id="0" name=""/>
        <dsp:cNvSpPr/>
      </dsp:nvSpPr>
      <dsp:spPr>
        <a:xfrm>
          <a:off x="5753720" y="31994"/>
          <a:ext cx="2125524" cy="901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Data Overview</a:t>
          </a:r>
          <a:endParaRPr lang="en-US" sz="2000" kern="1200" dirty="0"/>
        </a:p>
      </dsp:txBody>
      <dsp:txXfrm>
        <a:off x="5753720" y="31994"/>
        <a:ext cx="2125524" cy="901737"/>
      </dsp:txXfrm>
    </dsp:sp>
    <dsp:sp modelId="{5FD0001B-E03E-4F0B-B5AD-159951D249A9}">
      <dsp:nvSpPr>
        <dsp:cNvPr id="0" name=""/>
        <dsp:cNvSpPr/>
      </dsp:nvSpPr>
      <dsp:spPr>
        <a:xfrm>
          <a:off x="1067904" y="1647012"/>
          <a:ext cx="901737" cy="9017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FCE580-3C16-48BC-9E27-900E4CBD46FA}">
      <dsp:nvSpPr>
        <dsp:cNvPr id="0" name=""/>
        <dsp:cNvSpPr/>
      </dsp:nvSpPr>
      <dsp:spPr>
        <a:xfrm>
          <a:off x="1257269" y="1836377"/>
          <a:ext cx="523007" cy="523007"/>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ED599C-460A-4E3A-90D0-D2B9740FEA3E}">
      <dsp:nvSpPr>
        <dsp:cNvPr id="0" name=""/>
        <dsp:cNvSpPr/>
      </dsp:nvSpPr>
      <dsp:spPr>
        <a:xfrm>
          <a:off x="2162871" y="1647012"/>
          <a:ext cx="2125524" cy="901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Database Schema</a:t>
          </a:r>
          <a:endParaRPr lang="en-US" sz="2000" kern="1200" dirty="0"/>
        </a:p>
      </dsp:txBody>
      <dsp:txXfrm>
        <a:off x="2162871" y="1647012"/>
        <a:ext cx="2125524" cy="901737"/>
      </dsp:txXfrm>
    </dsp:sp>
    <dsp:sp modelId="{4967B8C6-A998-49AC-95B7-F649AC9A9E50}">
      <dsp:nvSpPr>
        <dsp:cNvPr id="0" name=""/>
        <dsp:cNvSpPr/>
      </dsp:nvSpPr>
      <dsp:spPr>
        <a:xfrm>
          <a:off x="4658753" y="1647012"/>
          <a:ext cx="901737" cy="9017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E94EF9-3092-46C0-902A-D5E23E6036F1}">
      <dsp:nvSpPr>
        <dsp:cNvPr id="0" name=""/>
        <dsp:cNvSpPr/>
      </dsp:nvSpPr>
      <dsp:spPr>
        <a:xfrm>
          <a:off x="4848118" y="1836377"/>
          <a:ext cx="523007" cy="523007"/>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D2CA8D-FB0D-4722-A084-D094CE6D99E7}">
      <dsp:nvSpPr>
        <dsp:cNvPr id="0" name=""/>
        <dsp:cNvSpPr/>
      </dsp:nvSpPr>
      <dsp:spPr>
        <a:xfrm>
          <a:off x="5753720" y="1647012"/>
          <a:ext cx="2125524" cy="901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Key Metrics &amp; Insights</a:t>
          </a:r>
          <a:endParaRPr lang="en-US" sz="2000" kern="1200" dirty="0"/>
        </a:p>
      </dsp:txBody>
      <dsp:txXfrm>
        <a:off x="5753720" y="1647012"/>
        <a:ext cx="2125524" cy="901737"/>
      </dsp:txXfrm>
    </dsp:sp>
    <dsp:sp modelId="{E7564F7A-0C0E-4468-BF79-E2EE8D22C2FC}">
      <dsp:nvSpPr>
        <dsp:cNvPr id="0" name=""/>
        <dsp:cNvSpPr/>
      </dsp:nvSpPr>
      <dsp:spPr>
        <a:xfrm>
          <a:off x="1067904" y="3262029"/>
          <a:ext cx="901737" cy="9017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BFA15F-E195-4C91-B3A7-299D01CCCDE2}">
      <dsp:nvSpPr>
        <dsp:cNvPr id="0" name=""/>
        <dsp:cNvSpPr/>
      </dsp:nvSpPr>
      <dsp:spPr>
        <a:xfrm>
          <a:off x="1257269" y="3451394"/>
          <a:ext cx="523007" cy="523007"/>
        </a:xfrm>
        <a:prstGeom prst="rect">
          <a:avLst/>
        </a:prstGeom>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F60BD0-F35A-4F88-9DD7-AAC8855DF58A}">
      <dsp:nvSpPr>
        <dsp:cNvPr id="0" name=""/>
        <dsp:cNvSpPr/>
      </dsp:nvSpPr>
      <dsp:spPr>
        <a:xfrm>
          <a:off x="2162871" y="3262029"/>
          <a:ext cx="2125524" cy="901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Marketing Strategies</a:t>
          </a:r>
          <a:endParaRPr lang="en-US" sz="2000" kern="1200" dirty="0"/>
        </a:p>
      </dsp:txBody>
      <dsp:txXfrm>
        <a:off x="2162871" y="3262029"/>
        <a:ext cx="2125524" cy="901737"/>
      </dsp:txXfrm>
    </dsp:sp>
    <dsp:sp modelId="{307F668C-7060-40C5-8E9B-30265F1D9682}">
      <dsp:nvSpPr>
        <dsp:cNvPr id="0" name=""/>
        <dsp:cNvSpPr/>
      </dsp:nvSpPr>
      <dsp:spPr>
        <a:xfrm>
          <a:off x="4658753" y="3262029"/>
          <a:ext cx="901737" cy="9017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4C7060-0B63-42AD-8367-B82BC74E4222}">
      <dsp:nvSpPr>
        <dsp:cNvPr id="0" name=""/>
        <dsp:cNvSpPr/>
      </dsp:nvSpPr>
      <dsp:spPr>
        <a:xfrm>
          <a:off x="4848118" y="3451394"/>
          <a:ext cx="523007" cy="523007"/>
        </a:xfrm>
        <a:prstGeom prst="rect">
          <a:avLst/>
        </a:prstGeom>
        <a:blipFill>
          <a:blip xmlns:r="http://schemas.openxmlformats.org/officeDocument/2006/relationships"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54A5D5-F4A7-4B7D-B011-2F17731D3EC4}">
      <dsp:nvSpPr>
        <dsp:cNvPr id="0" name=""/>
        <dsp:cNvSpPr/>
      </dsp:nvSpPr>
      <dsp:spPr>
        <a:xfrm>
          <a:off x="5753720" y="3262029"/>
          <a:ext cx="2125524" cy="901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Conclusion</a:t>
          </a:r>
          <a:endParaRPr lang="en-US" sz="2000" kern="1200" dirty="0"/>
        </a:p>
      </dsp:txBody>
      <dsp:txXfrm>
        <a:off x="5753720" y="3262029"/>
        <a:ext cx="2125524" cy="90173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5F47FA-A77A-43CC-B2DB-CA7205D884E1}" type="datetimeFigureOut">
              <a:rPr lang="en-US" smtClean="0"/>
              <a:t>2/22/2026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628CC4-7173-48E5-B96E-F2974DAD5720}" type="slidenum">
              <a:rPr lang="en-US" smtClean="0"/>
              <a:t>‹#›</a:t>
            </a:fld>
            <a:endParaRPr lang="en-US"/>
          </a:p>
        </p:txBody>
      </p:sp>
    </p:spTree>
    <p:extLst>
      <p:ext uri="{BB962C8B-B14F-4D97-AF65-F5344CB8AC3E}">
        <p14:creationId xmlns:p14="http://schemas.microsoft.com/office/powerpoint/2010/main" val="783024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628CC4-7173-48E5-B96E-F2974DAD5720}" type="slidenum">
              <a:rPr lang="en-US" smtClean="0"/>
              <a:t>6</a:t>
            </a:fld>
            <a:endParaRPr lang="en-US"/>
          </a:p>
        </p:txBody>
      </p:sp>
    </p:spTree>
    <p:extLst>
      <p:ext uri="{BB962C8B-B14F-4D97-AF65-F5344CB8AC3E}">
        <p14:creationId xmlns:p14="http://schemas.microsoft.com/office/powerpoint/2010/main" val="1708925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628CC4-7173-48E5-B96E-F2974DAD5720}" type="slidenum">
              <a:rPr lang="en-US" smtClean="0"/>
              <a:t>7</a:t>
            </a:fld>
            <a:endParaRPr lang="en-US"/>
          </a:p>
        </p:txBody>
      </p:sp>
    </p:spTree>
    <p:extLst>
      <p:ext uri="{BB962C8B-B14F-4D97-AF65-F5344CB8AC3E}">
        <p14:creationId xmlns:p14="http://schemas.microsoft.com/office/powerpoint/2010/main" val="1436124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1B104A-8F1C-4432-8286-3C8BBE6904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445954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1B104A-8F1C-4432-8286-3C8BBE6904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68754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1B104A-8F1C-4432-8286-3C8BBE6904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110280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1B104A-8F1C-4432-8286-3C8BBE690402}"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190338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1B104A-8F1C-4432-8286-3C8BBE690402}" type="datetimeFigureOut">
              <a:rPr lang="en-IN" smtClean="0"/>
              <a:t>22-02-2026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743358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51B104A-8F1C-4432-8286-3C8BBE690402}" type="datetimeFigureOut">
              <a:rPr lang="en-IN" smtClean="0"/>
              <a:t>22-02-2026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810941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51B104A-8F1C-4432-8286-3C8BBE690402}" type="datetimeFigureOut">
              <a:rPr lang="en-IN" smtClean="0"/>
              <a:t>22-02-2026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1446773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51B104A-8F1C-4432-8286-3C8BBE690402}" type="datetimeFigureOut">
              <a:rPr lang="en-IN" smtClean="0"/>
              <a:t>22-02-2026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464523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1B104A-8F1C-4432-8286-3C8BBE690402}"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674837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1B104A-8F1C-4432-8286-3C8BBE690402}"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352763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51B104A-8F1C-4432-8286-3C8BBE6904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1097543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51B104A-8F1C-4432-8286-3C8BBE6904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638727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1B104A-8F1C-4432-8286-3C8BBE6904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450451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51B104A-8F1C-4432-8286-3C8BBE690402}" type="datetimeFigureOut">
              <a:rPr lang="en-IN" smtClean="0"/>
              <a:t>22-02-2026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54986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51B104A-8F1C-4432-8286-3C8BBE690402}" type="datetimeFigureOut">
              <a:rPr lang="en-IN" smtClean="0"/>
              <a:t>22-02-2026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9768062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1B104A-8F1C-4432-8286-3C8BBE6904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40471506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1B104A-8F1C-4432-8286-3C8BBE6904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018959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51B104A-8F1C-4432-8286-3C8BBE690402}" type="datetimeFigureOut">
              <a:rPr lang="en-IN" smtClean="0"/>
              <a:t>22-02-2026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94BC260-E2FE-46EB-AF1E-3BD9A3D24675}" type="slidenum">
              <a:rPr lang="en-IN" smtClean="0"/>
              <a:t>‹#›</a:t>
            </a:fld>
            <a:endParaRPr lang="en-IN"/>
          </a:p>
        </p:txBody>
      </p:sp>
    </p:spTree>
    <p:extLst>
      <p:ext uri="{BB962C8B-B14F-4D97-AF65-F5344CB8AC3E}">
        <p14:creationId xmlns:p14="http://schemas.microsoft.com/office/powerpoint/2010/main" val="575704154"/>
      </p:ext>
    </p:extLst>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 id="2147484121" r:id="rId12"/>
    <p:sldLayoutId id="2147484122" r:id="rId13"/>
    <p:sldLayoutId id="2147484123" r:id="rId14"/>
    <p:sldLayoutId id="2147484124" r:id="rId15"/>
    <p:sldLayoutId id="2147484125" r:id="rId16"/>
    <p:sldLayoutId id="214748412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1" name="Rectangle 1050">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1DCC99-64BC-11C6-8FE9-8BE60D975625}"/>
              </a:ext>
            </a:extLst>
          </p:cNvPr>
          <p:cNvSpPr>
            <a:spLocks noGrp="1"/>
          </p:cNvSpPr>
          <p:nvPr>
            <p:ph type="ctrTitle"/>
          </p:nvPr>
        </p:nvSpPr>
        <p:spPr>
          <a:xfrm>
            <a:off x="755903" y="3399769"/>
            <a:ext cx="10640754" cy="775845"/>
          </a:xfrm>
        </p:spPr>
        <p:txBody>
          <a:bodyPr anchor="b">
            <a:normAutofit/>
          </a:bodyPr>
          <a:lstStyle/>
          <a:p>
            <a:r>
              <a:rPr lang="en-IN" sz="4000" b="1" dirty="0">
                <a:solidFill>
                  <a:schemeClr val="accent1">
                    <a:lumMod val="75000"/>
                  </a:schemeClr>
                </a:solidFill>
                <a:effectLst>
                  <a:outerShdw blurRad="38100" dist="38100" dir="2700000" algn="tl">
                    <a:srgbClr val="000000">
                      <a:alpha val="43137"/>
                    </a:srgbClr>
                  </a:outerShdw>
                </a:effectLst>
              </a:rPr>
              <a:t>SOCIAL MEDIA ANALYSIS</a:t>
            </a:r>
          </a:p>
        </p:txBody>
      </p:sp>
      <p:sp>
        <p:nvSpPr>
          <p:cNvPr id="3" name="Subtitle 2">
            <a:extLst>
              <a:ext uri="{FF2B5EF4-FFF2-40B4-BE49-F238E27FC236}">
                <a16:creationId xmlns:a16="http://schemas.microsoft.com/office/drawing/2014/main" id="{C5D25F8F-D8AC-A248-7B0F-0CB4B9AC70FC}"/>
              </a:ext>
            </a:extLst>
          </p:cNvPr>
          <p:cNvSpPr>
            <a:spLocks noGrp="1"/>
          </p:cNvSpPr>
          <p:nvPr>
            <p:ph type="subTitle" idx="1"/>
          </p:nvPr>
        </p:nvSpPr>
        <p:spPr>
          <a:xfrm>
            <a:off x="1514121" y="4171528"/>
            <a:ext cx="9163757" cy="450447"/>
          </a:xfrm>
        </p:spPr>
        <p:txBody>
          <a:bodyPr anchor="ctr">
            <a:normAutofit/>
          </a:bodyPr>
          <a:lstStyle/>
          <a:p>
            <a:r>
              <a:rPr lang="en-IN" sz="2000" dirty="0">
                <a:solidFill>
                  <a:schemeClr val="tx2"/>
                </a:solidFill>
              </a:rPr>
              <a:t>Submitted BY: </a:t>
            </a:r>
            <a:r>
              <a:rPr lang="en-IN" sz="2000" dirty="0" err="1">
                <a:solidFill>
                  <a:schemeClr val="tx2"/>
                </a:solidFill>
              </a:rPr>
              <a:t>Varshith</a:t>
            </a:r>
            <a:r>
              <a:rPr lang="en-IN" sz="2000" dirty="0">
                <a:solidFill>
                  <a:schemeClr val="tx2"/>
                </a:solidFill>
              </a:rPr>
              <a:t> </a:t>
            </a:r>
            <a:r>
              <a:rPr lang="en-IN" sz="2000" dirty="0" err="1">
                <a:solidFill>
                  <a:schemeClr val="tx2"/>
                </a:solidFill>
              </a:rPr>
              <a:t>Anishetty</a:t>
            </a:r>
            <a:endParaRPr lang="en-IN" sz="2000" dirty="0">
              <a:solidFill>
                <a:schemeClr val="tx2"/>
              </a:solidFill>
            </a:endParaRPr>
          </a:p>
        </p:txBody>
      </p:sp>
      <p:grpSp>
        <p:nvGrpSpPr>
          <p:cNvPr id="1055" name="Group 1054">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056" name="Freeform: Shape 1055">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Freeform: Shape 1056">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Freeform: Shape 1057">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059" name="Freeform: Shape 1058">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61" name="Group 1060">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1062" name="Freeform: Shape 1061">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Freeform: Shape 1062">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4" name="Freeform: Shape 1063">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5" name="Freeform: Shape 1064">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2" descr="Mobile Phone Social Media Vector Art, Icons, and Graphics for Free Download">
            <a:extLst>
              <a:ext uri="{FF2B5EF4-FFF2-40B4-BE49-F238E27FC236}">
                <a16:creationId xmlns:a16="http://schemas.microsoft.com/office/drawing/2014/main" id="{B83636CD-7313-8C1B-242C-75518AABF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6651" y="306930"/>
            <a:ext cx="4639258" cy="3092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996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390A3-A4CF-3866-5A39-90C2A479CFDC}"/>
              </a:ext>
            </a:extLst>
          </p:cNvPr>
          <p:cNvSpPr>
            <a:spLocks noGrp="1"/>
          </p:cNvSpPr>
          <p:nvPr>
            <p:ph type="title"/>
          </p:nvPr>
        </p:nvSpPr>
        <p:spPr/>
        <p:txBody>
          <a:bodyPr>
            <a:normAutofit/>
          </a:bodyPr>
          <a:lstStyle/>
          <a:p>
            <a:r>
              <a:rPr lang="en-IN" sz="4000" b="1" dirty="0">
                <a:solidFill>
                  <a:schemeClr val="accent1">
                    <a:lumMod val="75000"/>
                  </a:schemeClr>
                </a:solidFill>
              </a:rPr>
              <a:t>AGENDA</a:t>
            </a:r>
          </a:p>
        </p:txBody>
      </p:sp>
      <p:graphicFrame>
        <p:nvGraphicFramePr>
          <p:cNvPr id="15" name="Content Placeholder 2">
            <a:extLst>
              <a:ext uri="{FF2B5EF4-FFF2-40B4-BE49-F238E27FC236}">
                <a16:creationId xmlns:a16="http://schemas.microsoft.com/office/drawing/2014/main" id="{DF5F81F6-AF96-B1C0-78B9-173657D04387}"/>
              </a:ext>
            </a:extLst>
          </p:cNvPr>
          <p:cNvGraphicFramePr>
            <a:graphicFrameLocks noGrp="1"/>
          </p:cNvGraphicFramePr>
          <p:nvPr>
            <p:ph idx="1"/>
            <p:extLst>
              <p:ext uri="{D42A27DB-BD31-4B8C-83A1-F6EECF244321}">
                <p14:modId xmlns:p14="http://schemas.microsoft.com/office/powerpoint/2010/main" val="1242917737"/>
              </p:ext>
            </p:extLst>
          </p:nvPr>
        </p:nvGraphicFramePr>
        <p:xfrm>
          <a:off x="1103313" y="1331119"/>
          <a:ext cx="8947150" cy="419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8565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FDF820-F4A7-57FD-620E-81EFDC6736A8}"/>
              </a:ext>
            </a:extLst>
          </p:cNvPr>
          <p:cNvSpPr>
            <a:spLocks noGrp="1"/>
          </p:cNvSpPr>
          <p:nvPr>
            <p:ph type="title"/>
          </p:nvPr>
        </p:nvSpPr>
        <p:spPr>
          <a:xfrm>
            <a:off x="742895" y="1509344"/>
            <a:ext cx="6002110" cy="1495425"/>
          </a:xfrm>
        </p:spPr>
        <p:txBody>
          <a:bodyPr>
            <a:normAutofit/>
          </a:bodyPr>
          <a:lstStyle/>
          <a:p>
            <a:r>
              <a:rPr lang="en-IN" sz="4000" b="1" dirty="0"/>
              <a:t>PROBLEM STATEMENT</a:t>
            </a:r>
          </a:p>
        </p:txBody>
      </p:sp>
      <p:sp>
        <p:nvSpPr>
          <p:cNvPr id="3" name="Content Placeholder 2">
            <a:extLst>
              <a:ext uri="{FF2B5EF4-FFF2-40B4-BE49-F238E27FC236}">
                <a16:creationId xmlns:a16="http://schemas.microsoft.com/office/drawing/2014/main" id="{55E2A5EA-750D-0F76-923C-41667D2BEBD5}"/>
              </a:ext>
            </a:extLst>
          </p:cNvPr>
          <p:cNvSpPr>
            <a:spLocks noGrp="1"/>
          </p:cNvSpPr>
          <p:nvPr>
            <p:ph idx="1"/>
          </p:nvPr>
        </p:nvSpPr>
        <p:spPr>
          <a:xfrm>
            <a:off x="742895" y="2405068"/>
            <a:ext cx="6002110" cy="3729034"/>
          </a:xfrm>
        </p:spPr>
        <p:txBody>
          <a:bodyPr>
            <a:normAutofit/>
          </a:bodyPr>
          <a:lstStyle/>
          <a:p>
            <a:pPr marL="0" indent="0">
              <a:buNone/>
            </a:pPr>
            <a:r>
              <a:rPr lang="en-US" dirty="0"/>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endParaRPr lang="fr-FR" dirty="0"/>
          </a:p>
        </p:txBody>
      </p:sp>
      <p:pic>
        <p:nvPicPr>
          <p:cNvPr id="8" name="Picture 7">
            <a:extLst>
              <a:ext uri="{FF2B5EF4-FFF2-40B4-BE49-F238E27FC236}">
                <a16:creationId xmlns:a16="http://schemas.microsoft.com/office/drawing/2014/main" id="{242F4251-70A2-410E-5581-5BA81BECBC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2462" y="0"/>
            <a:ext cx="5096489" cy="6858000"/>
          </a:xfrm>
          <a:prstGeom prst="rect">
            <a:avLst/>
          </a:prstGeom>
        </p:spPr>
      </p:pic>
    </p:spTree>
    <p:extLst>
      <p:ext uri="{BB962C8B-B14F-4D97-AF65-F5344CB8AC3E}">
        <p14:creationId xmlns:p14="http://schemas.microsoft.com/office/powerpoint/2010/main" val="3097140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05825-A34C-AB55-23D8-6829EDEA7DFB}"/>
              </a:ext>
            </a:extLst>
          </p:cNvPr>
          <p:cNvSpPr>
            <a:spLocks noGrp="1"/>
          </p:cNvSpPr>
          <p:nvPr>
            <p:ph type="title"/>
          </p:nvPr>
        </p:nvSpPr>
        <p:spPr>
          <a:xfrm>
            <a:off x="555027" y="432619"/>
            <a:ext cx="10515600" cy="1120878"/>
          </a:xfrm>
        </p:spPr>
        <p:txBody>
          <a:bodyPr>
            <a:normAutofit fontScale="90000"/>
          </a:bodyPr>
          <a:lstStyle/>
          <a:p>
            <a:pPr algn="ctr"/>
            <a:r>
              <a:rPr lang="en-IN" sz="3600" b="1" dirty="0">
                <a:solidFill>
                  <a:schemeClr val="accent1">
                    <a:lumMod val="75000"/>
                  </a:schemeClr>
                </a:solidFill>
              </a:rPr>
              <a:t>DATA DESCRIPTION</a:t>
            </a:r>
            <a:br>
              <a:rPr lang="en-IN" sz="2400" b="1" u="sng" dirty="0">
                <a:solidFill>
                  <a:schemeClr val="accent1">
                    <a:lumMod val="75000"/>
                  </a:schemeClr>
                </a:solidFill>
                <a:effectLst>
                  <a:outerShdw blurRad="38100" dist="38100" dir="2700000" algn="tl">
                    <a:srgbClr val="000000">
                      <a:alpha val="43137"/>
                    </a:srgbClr>
                  </a:outerShdw>
                </a:effectLst>
              </a:rPr>
            </a:br>
            <a:br>
              <a:rPr lang="en-IN" sz="2400" b="1" u="sng" dirty="0">
                <a:solidFill>
                  <a:schemeClr val="accent1">
                    <a:lumMod val="75000"/>
                  </a:schemeClr>
                </a:solidFill>
                <a:effectLst>
                  <a:outerShdw blurRad="38100" dist="38100" dir="2700000" algn="tl">
                    <a:srgbClr val="000000">
                      <a:alpha val="43137"/>
                    </a:srgbClr>
                  </a:outerShdw>
                </a:effectLst>
              </a:rPr>
            </a:br>
            <a:r>
              <a:rPr lang="en-US" sz="1800" dirty="0"/>
              <a:t>The dataset contains information about 7 tables.</a:t>
            </a:r>
            <a:endParaRPr lang="en-IN" sz="1800" dirty="0"/>
          </a:p>
        </p:txBody>
      </p:sp>
      <p:sp>
        <p:nvSpPr>
          <p:cNvPr id="3" name="Content Placeholder 2">
            <a:extLst>
              <a:ext uri="{FF2B5EF4-FFF2-40B4-BE49-F238E27FC236}">
                <a16:creationId xmlns:a16="http://schemas.microsoft.com/office/drawing/2014/main" id="{8C9280C0-934E-5D81-49FF-BB7F200A720A}"/>
              </a:ext>
            </a:extLst>
          </p:cNvPr>
          <p:cNvSpPr>
            <a:spLocks noGrp="1"/>
          </p:cNvSpPr>
          <p:nvPr>
            <p:ph sz="half" idx="1"/>
          </p:nvPr>
        </p:nvSpPr>
        <p:spPr>
          <a:xfrm>
            <a:off x="3882891" y="2133223"/>
            <a:ext cx="5832987" cy="4935792"/>
          </a:xfrm>
        </p:spPr>
        <p:txBody>
          <a:bodyPr>
            <a:normAutofit/>
          </a:bodyPr>
          <a:lstStyle/>
          <a:p>
            <a:pPr>
              <a:buFont typeface="Wingdings" panose="05000000000000000000" pitchFamily="2" charset="2"/>
              <a:buChar char="§"/>
            </a:pPr>
            <a:r>
              <a:rPr lang="en-US" sz="2000" b="1" dirty="0"/>
              <a:t>Users</a:t>
            </a:r>
            <a:r>
              <a:rPr lang="en-US" sz="2000" dirty="0"/>
              <a:t> </a:t>
            </a:r>
            <a:r>
              <a:rPr lang="en-IN" sz="2000" dirty="0"/>
              <a:t>: </a:t>
            </a:r>
            <a:r>
              <a:rPr lang="en-US" sz="2000" dirty="0"/>
              <a:t>registered user data</a:t>
            </a:r>
          </a:p>
          <a:p>
            <a:pPr>
              <a:buFont typeface="Wingdings" panose="05000000000000000000" pitchFamily="2" charset="2"/>
              <a:buChar char="§"/>
            </a:pPr>
            <a:r>
              <a:rPr lang="en-US" sz="2000" b="1" dirty="0"/>
              <a:t>Photos </a:t>
            </a:r>
            <a:r>
              <a:rPr lang="en-IN" sz="2000" dirty="0"/>
              <a:t>: </a:t>
            </a:r>
            <a:r>
              <a:rPr lang="en-US" sz="2000" dirty="0"/>
              <a:t>uploaded content</a:t>
            </a:r>
          </a:p>
          <a:p>
            <a:pPr>
              <a:buFont typeface="Wingdings" panose="05000000000000000000" pitchFamily="2" charset="2"/>
              <a:buChar char="§"/>
            </a:pPr>
            <a:r>
              <a:rPr lang="en-IN" sz="2000" b="1" dirty="0"/>
              <a:t>Comments</a:t>
            </a:r>
            <a:r>
              <a:rPr lang="en-IN" sz="2000" dirty="0"/>
              <a:t>: </a:t>
            </a:r>
            <a:r>
              <a:rPr lang="en-US" sz="2000" dirty="0"/>
              <a:t>user interactions</a:t>
            </a:r>
          </a:p>
          <a:p>
            <a:pPr>
              <a:buFont typeface="Wingdings" panose="05000000000000000000" pitchFamily="2" charset="2"/>
              <a:buChar char="§"/>
            </a:pPr>
            <a:r>
              <a:rPr lang="en-IN" sz="2000" b="1" dirty="0"/>
              <a:t>Likes : </a:t>
            </a:r>
            <a:r>
              <a:rPr lang="en-US" sz="2000" dirty="0"/>
              <a:t>engagement actions</a:t>
            </a:r>
          </a:p>
          <a:p>
            <a:pPr>
              <a:buFont typeface="Wingdings" panose="05000000000000000000" pitchFamily="2" charset="2"/>
              <a:buChar char="§"/>
            </a:pPr>
            <a:r>
              <a:rPr lang="en-IN" sz="2000" b="1" dirty="0"/>
              <a:t>Follows : </a:t>
            </a:r>
            <a:r>
              <a:rPr lang="en-US" sz="2000" dirty="0"/>
              <a:t>network relationships</a:t>
            </a:r>
          </a:p>
          <a:p>
            <a:pPr>
              <a:buFont typeface="Wingdings" panose="05000000000000000000" pitchFamily="2" charset="2"/>
              <a:buChar char="§"/>
            </a:pPr>
            <a:r>
              <a:rPr lang="en-IN" sz="2000" b="1" dirty="0"/>
              <a:t>Tags : </a:t>
            </a:r>
            <a:r>
              <a:rPr lang="en-US" sz="2000" dirty="0"/>
              <a:t>content categories</a:t>
            </a:r>
            <a:endParaRPr lang="en-IN" sz="2000" b="1" u="sng" dirty="0"/>
          </a:p>
          <a:p>
            <a:pPr>
              <a:buFont typeface="Wingdings" panose="05000000000000000000" pitchFamily="2" charset="2"/>
              <a:buChar char="§"/>
            </a:pPr>
            <a:r>
              <a:rPr lang="en-US" sz="2000" b="1" dirty="0"/>
              <a:t>Photo_Tags</a:t>
            </a:r>
            <a:r>
              <a:rPr lang="en-IN" sz="2000" b="1" dirty="0"/>
              <a:t> : </a:t>
            </a:r>
            <a:r>
              <a:rPr lang="en-US" sz="2000" dirty="0"/>
              <a:t>tag mapping</a:t>
            </a:r>
          </a:p>
          <a:p>
            <a:pPr>
              <a:buFont typeface="Wingdings" panose="05000000000000000000" pitchFamily="2" charset="2"/>
              <a:buChar char="§"/>
            </a:pPr>
            <a:endParaRPr lang="en-IN" sz="2000" dirty="0"/>
          </a:p>
          <a:p>
            <a:endParaRPr lang="en-IN" sz="2000" dirty="0"/>
          </a:p>
        </p:txBody>
      </p:sp>
    </p:spTree>
    <p:extLst>
      <p:ext uri="{BB962C8B-B14F-4D97-AF65-F5344CB8AC3E}">
        <p14:creationId xmlns:p14="http://schemas.microsoft.com/office/powerpoint/2010/main" val="247005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8142" y="463376"/>
            <a:ext cx="9404723" cy="1400530"/>
          </a:xfrm>
        </p:spPr>
        <p:txBody>
          <a:bodyPr/>
          <a:lstStyle/>
          <a:p>
            <a:pPr algn="ctr"/>
            <a:r>
              <a:rPr lang="en-US" sz="4000" b="1" dirty="0"/>
              <a:t>KEY FIELDS</a:t>
            </a:r>
          </a:p>
        </p:txBody>
      </p:sp>
      <p:sp>
        <p:nvSpPr>
          <p:cNvPr id="3" name="Content Placeholder 2"/>
          <p:cNvSpPr>
            <a:spLocks noGrp="1"/>
          </p:cNvSpPr>
          <p:nvPr>
            <p:ph sz="half" idx="1"/>
          </p:nvPr>
        </p:nvSpPr>
        <p:spPr>
          <a:xfrm>
            <a:off x="604549" y="1762378"/>
            <a:ext cx="5491451" cy="4113089"/>
          </a:xfrm>
        </p:spPr>
        <p:txBody>
          <a:bodyPr>
            <a:normAutofit/>
          </a:bodyPr>
          <a:lstStyle/>
          <a:p>
            <a:pPr fontAlgn="base">
              <a:buFont typeface="Arial" panose="020B0604020202020204" pitchFamily="34" charset="0"/>
              <a:buChar char="•"/>
            </a:pPr>
            <a:r>
              <a:rPr lang="en-US" sz="2000" b="1" dirty="0">
                <a:solidFill>
                  <a:srgbClr val="000000"/>
                </a:solidFill>
              </a:rPr>
              <a:t>comments_id </a:t>
            </a:r>
            <a:r>
              <a:rPr lang="en-US" sz="2000" dirty="0">
                <a:solidFill>
                  <a:srgbClr val="000000"/>
                </a:solidFill>
              </a:rPr>
              <a:t>: unique identifier for each comment</a:t>
            </a:r>
          </a:p>
          <a:p>
            <a:pPr fontAlgn="base">
              <a:buFont typeface="Arial" panose="020B0604020202020204" pitchFamily="34" charset="0"/>
              <a:buChar char="•"/>
            </a:pPr>
            <a:r>
              <a:rPr lang="en-US" sz="2000" b="1" dirty="0">
                <a:solidFill>
                  <a:srgbClr val="000000"/>
                </a:solidFill>
              </a:rPr>
              <a:t>comment_text </a:t>
            </a:r>
            <a:r>
              <a:rPr lang="en-US" sz="2000" dirty="0">
                <a:solidFill>
                  <a:srgbClr val="000000"/>
                </a:solidFill>
              </a:rPr>
              <a:t>: text content of a given comment</a:t>
            </a:r>
          </a:p>
          <a:p>
            <a:pPr fontAlgn="base">
              <a:buFont typeface="Arial" panose="020B0604020202020204" pitchFamily="34" charset="0"/>
              <a:buChar char="•"/>
            </a:pPr>
            <a:r>
              <a:rPr lang="en-US" sz="2000" b="1" dirty="0">
                <a:solidFill>
                  <a:srgbClr val="000000"/>
                </a:solidFill>
              </a:rPr>
              <a:t>user_id </a:t>
            </a:r>
            <a:r>
              <a:rPr lang="en-US" sz="2000" dirty="0">
                <a:solidFill>
                  <a:srgbClr val="000000"/>
                </a:solidFill>
              </a:rPr>
              <a:t>: unique identifier for each user</a:t>
            </a:r>
          </a:p>
          <a:p>
            <a:pPr fontAlgn="base">
              <a:buFont typeface="Arial" panose="020B0604020202020204" pitchFamily="34" charset="0"/>
              <a:buChar char="•"/>
            </a:pPr>
            <a:r>
              <a:rPr lang="en-US" sz="2000" b="1" dirty="0">
                <a:solidFill>
                  <a:srgbClr val="000000"/>
                </a:solidFill>
              </a:rPr>
              <a:t>photo_id </a:t>
            </a:r>
            <a:r>
              <a:rPr lang="en-US" sz="2000" dirty="0">
                <a:solidFill>
                  <a:srgbClr val="000000"/>
                </a:solidFill>
              </a:rPr>
              <a:t>: unique identifier for each photo</a:t>
            </a:r>
          </a:p>
          <a:p>
            <a:pPr fontAlgn="base">
              <a:buFont typeface="Arial" panose="020B0604020202020204" pitchFamily="34" charset="0"/>
              <a:buChar char="•"/>
            </a:pPr>
            <a:r>
              <a:rPr lang="en-US" sz="2000" b="1" dirty="0">
                <a:solidFill>
                  <a:srgbClr val="000000"/>
                </a:solidFill>
              </a:rPr>
              <a:t>created_at </a:t>
            </a:r>
            <a:r>
              <a:rPr lang="en-US" sz="2000" dirty="0">
                <a:solidFill>
                  <a:srgbClr val="000000"/>
                </a:solidFill>
              </a:rPr>
              <a:t>: date of interaction </a:t>
            </a:r>
            <a:r>
              <a:rPr lang="en-US" sz="2000" dirty="0"/>
              <a:t>in the form of likes, photos, and tags</a:t>
            </a:r>
            <a:endParaRPr lang="en-US" sz="2000" dirty="0">
              <a:solidFill>
                <a:srgbClr val="000000"/>
              </a:solidFill>
            </a:endParaRPr>
          </a:p>
        </p:txBody>
      </p:sp>
      <p:sp>
        <p:nvSpPr>
          <p:cNvPr id="5" name="Content Placeholder 2"/>
          <p:cNvSpPr>
            <a:spLocks noGrp="1"/>
          </p:cNvSpPr>
          <p:nvPr>
            <p:ph sz="half" idx="1"/>
          </p:nvPr>
        </p:nvSpPr>
        <p:spPr>
          <a:xfrm>
            <a:off x="6336856" y="1762377"/>
            <a:ext cx="5541817" cy="4113089"/>
          </a:xfrm>
        </p:spPr>
        <p:txBody>
          <a:bodyPr>
            <a:normAutofit/>
          </a:bodyPr>
          <a:lstStyle/>
          <a:p>
            <a:pPr fontAlgn="base">
              <a:buFont typeface="Arial" panose="020B0604020202020204" pitchFamily="34" charset="0"/>
              <a:buChar char="•"/>
            </a:pPr>
            <a:r>
              <a:rPr lang="en-US" sz="2000" b="1" dirty="0">
                <a:solidFill>
                  <a:srgbClr val="000000"/>
                </a:solidFill>
              </a:rPr>
              <a:t>follower_id </a:t>
            </a:r>
            <a:r>
              <a:rPr lang="en-US" sz="2000" dirty="0">
                <a:solidFill>
                  <a:srgbClr val="000000"/>
                </a:solidFill>
              </a:rPr>
              <a:t>: user_id of the follower for a certain user</a:t>
            </a:r>
          </a:p>
          <a:p>
            <a:pPr fontAlgn="base">
              <a:buFont typeface="Arial" panose="020B0604020202020204" pitchFamily="34" charset="0"/>
              <a:buChar char="•"/>
            </a:pPr>
            <a:r>
              <a:rPr lang="en-US" sz="2000" b="1" dirty="0">
                <a:solidFill>
                  <a:srgbClr val="000000"/>
                </a:solidFill>
              </a:rPr>
              <a:t>followee_id : </a:t>
            </a:r>
            <a:r>
              <a:rPr lang="en-US" sz="2000" dirty="0">
                <a:solidFill>
                  <a:srgbClr val="000000"/>
                </a:solidFill>
              </a:rPr>
              <a:t>user_id of followee for a certain user</a:t>
            </a:r>
          </a:p>
          <a:p>
            <a:pPr fontAlgn="base">
              <a:buFont typeface="Arial" panose="020B0604020202020204" pitchFamily="34" charset="0"/>
              <a:buChar char="•"/>
            </a:pPr>
            <a:r>
              <a:rPr lang="en-US" sz="2000" b="1" dirty="0">
                <a:solidFill>
                  <a:srgbClr val="000000"/>
                </a:solidFill>
              </a:rPr>
              <a:t>tag_id : </a:t>
            </a:r>
            <a:r>
              <a:rPr lang="en-US" sz="2000" dirty="0">
                <a:solidFill>
                  <a:srgbClr val="000000"/>
                </a:solidFill>
              </a:rPr>
              <a:t>unique identifier for each tag</a:t>
            </a:r>
          </a:p>
          <a:p>
            <a:pPr fontAlgn="base">
              <a:buFont typeface="Arial" panose="020B0604020202020204" pitchFamily="34" charset="0"/>
              <a:buChar char="•"/>
            </a:pPr>
            <a:r>
              <a:rPr lang="en-US" sz="2000" b="1" dirty="0">
                <a:solidFill>
                  <a:srgbClr val="000000"/>
                </a:solidFill>
              </a:rPr>
              <a:t>image_url : </a:t>
            </a:r>
            <a:r>
              <a:rPr lang="en-US" sz="2000" dirty="0">
                <a:solidFill>
                  <a:srgbClr val="000000"/>
                </a:solidFill>
              </a:rPr>
              <a:t>link to the image posted on the platform</a:t>
            </a:r>
          </a:p>
          <a:p>
            <a:pPr fontAlgn="base">
              <a:spcAft>
                <a:spcPts val="1200"/>
              </a:spcAft>
              <a:buFont typeface="Arial" panose="020B0604020202020204" pitchFamily="34" charset="0"/>
              <a:buChar char="•"/>
            </a:pPr>
            <a:r>
              <a:rPr lang="en-US" sz="2000" b="1" dirty="0">
                <a:solidFill>
                  <a:srgbClr val="000000"/>
                </a:solidFill>
              </a:rPr>
              <a:t>username :</a:t>
            </a:r>
            <a:r>
              <a:rPr lang="en-US" sz="2000" dirty="0">
                <a:solidFill>
                  <a:srgbClr val="000000"/>
                </a:solidFill>
              </a:rPr>
              <a:t> username chosen by the user</a:t>
            </a:r>
          </a:p>
        </p:txBody>
      </p:sp>
    </p:spTree>
    <p:extLst>
      <p:ext uri="{BB962C8B-B14F-4D97-AF65-F5344CB8AC3E}">
        <p14:creationId xmlns:p14="http://schemas.microsoft.com/office/powerpoint/2010/main" val="3430868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6EA4A-8706-9A57-8139-088E32FDE0F6}"/>
              </a:ext>
            </a:extLst>
          </p:cNvPr>
          <p:cNvSpPr>
            <a:spLocks noGrp="1"/>
          </p:cNvSpPr>
          <p:nvPr>
            <p:ph type="title"/>
          </p:nvPr>
        </p:nvSpPr>
        <p:spPr>
          <a:xfrm>
            <a:off x="300342" y="187669"/>
            <a:ext cx="10515600" cy="618101"/>
          </a:xfrm>
        </p:spPr>
        <p:txBody>
          <a:bodyPr>
            <a:normAutofit/>
          </a:bodyPr>
          <a:lstStyle/>
          <a:p>
            <a:pPr algn="ctr"/>
            <a:r>
              <a:rPr lang="en-IN" sz="2600" b="1" dirty="0">
                <a:solidFill>
                  <a:schemeClr val="tx2">
                    <a:lumMod val="90000"/>
                    <a:lumOff val="10000"/>
                  </a:schemeClr>
                </a:solidFill>
              </a:rPr>
              <a:t>   </a:t>
            </a:r>
            <a:r>
              <a:rPr lang="en-IN" sz="3200" b="1" dirty="0">
                <a:solidFill>
                  <a:schemeClr val="tx2">
                    <a:lumMod val="90000"/>
                    <a:lumOff val="10000"/>
                  </a:schemeClr>
                </a:solidFill>
              </a:rPr>
              <a:t>DATABASE SCHEMA</a:t>
            </a:r>
          </a:p>
        </p:txBody>
      </p:sp>
      <p:pic>
        <p:nvPicPr>
          <p:cNvPr id="9" name="Picture 8"/>
          <p:cNvPicPr>
            <a:picLocks noChangeAspect="1"/>
          </p:cNvPicPr>
          <p:nvPr/>
        </p:nvPicPr>
        <p:blipFill>
          <a:blip r:embed="rId3"/>
          <a:stretch>
            <a:fillRect/>
          </a:stretch>
        </p:blipFill>
        <p:spPr>
          <a:xfrm>
            <a:off x="2426677" y="833479"/>
            <a:ext cx="7338646" cy="5836852"/>
          </a:xfrm>
          <a:prstGeom prst="rect">
            <a:avLst/>
          </a:prstGeom>
          <a:ln>
            <a:solidFill>
              <a:schemeClr val="tx2">
                <a:lumMod val="60000"/>
                <a:lumOff val="40000"/>
              </a:schemeClr>
            </a:solidFill>
          </a:ln>
        </p:spPr>
      </p:pic>
    </p:spTree>
    <p:extLst>
      <p:ext uri="{BB962C8B-B14F-4D97-AF65-F5344CB8AC3E}">
        <p14:creationId xmlns:p14="http://schemas.microsoft.com/office/powerpoint/2010/main" val="3611632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DA11E-A7F2-0489-09F8-072E7BB74AE0}"/>
              </a:ext>
            </a:extLst>
          </p:cNvPr>
          <p:cNvSpPr>
            <a:spLocks noGrp="1"/>
          </p:cNvSpPr>
          <p:nvPr>
            <p:ph type="title"/>
          </p:nvPr>
        </p:nvSpPr>
        <p:spPr>
          <a:xfrm>
            <a:off x="727976" y="632110"/>
            <a:ext cx="10515600" cy="500114"/>
          </a:xfrm>
        </p:spPr>
        <p:txBody>
          <a:bodyPr>
            <a:normAutofit fontScale="90000"/>
          </a:bodyPr>
          <a:lstStyle/>
          <a:p>
            <a:pPr algn="ctr"/>
            <a:r>
              <a:rPr lang="en-IN" sz="3200" b="1" dirty="0"/>
              <a:t>User Activity Distribution</a:t>
            </a:r>
            <a:endParaRPr lang="en-IN" sz="3200" b="1" dirty="0">
              <a:solidFill>
                <a:schemeClr val="tx2">
                  <a:lumMod val="90000"/>
                  <a:lumOff val="10000"/>
                </a:schemeClr>
              </a:solidFill>
            </a:endParaRPr>
          </a:p>
        </p:txBody>
      </p:sp>
      <p:sp>
        <p:nvSpPr>
          <p:cNvPr id="8" name="TextBox 7">
            <a:extLst>
              <a:ext uri="{FF2B5EF4-FFF2-40B4-BE49-F238E27FC236}">
                <a16:creationId xmlns:a16="http://schemas.microsoft.com/office/drawing/2014/main" id="{814A3B19-5830-46F9-D3A5-3C17BFD1BE85}"/>
              </a:ext>
            </a:extLst>
          </p:cNvPr>
          <p:cNvSpPr txBox="1"/>
          <p:nvPr/>
        </p:nvSpPr>
        <p:spPr>
          <a:xfrm>
            <a:off x="1242646" y="1788247"/>
            <a:ext cx="5357446" cy="3693319"/>
          </a:xfrm>
          <a:prstGeom prst="rect">
            <a:avLst/>
          </a:prstGeom>
          <a:noFill/>
          <a:ln>
            <a:noFill/>
          </a:ln>
        </p:spPr>
        <p:txBody>
          <a:bodyPr wrap="square" rtlCol="0">
            <a:spAutoFit/>
          </a:bodyPr>
          <a:lstStyle/>
          <a:p>
            <a:pPr marL="285750" indent="-285750">
              <a:buFont typeface="Arial" panose="020B0604020202020204" pitchFamily="34" charset="0"/>
              <a:buChar char="•"/>
            </a:pPr>
            <a:r>
              <a:rPr lang="en-US" dirty="0"/>
              <a:t>74% of users are active, indicating strong overall platform participation.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26% of users are inactive, representing a significant retention gap.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quarter of the user base is not contributing to engagement or content creation.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Reactivating even a portion of inactive users could significantly boost platform interaction levels.</a:t>
            </a:r>
            <a:endParaRPr lang="en-IN" dirty="0"/>
          </a:p>
        </p:txBody>
      </p:sp>
      <p:sp>
        <p:nvSpPr>
          <p:cNvPr id="9" name="Rectangle 8">
            <a:extLst>
              <a:ext uri="{FF2B5EF4-FFF2-40B4-BE49-F238E27FC236}">
                <a16:creationId xmlns:a16="http://schemas.microsoft.com/office/drawing/2014/main" id="{B98BF74D-0B55-03B8-1465-6D65344FF3D5}"/>
              </a:ext>
            </a:extLst>
          </p:cNvPr>
          <p:cNvSpPr/>
          <p:nvPr/>
        </p:nvSpPr>
        <p:spPr>
          <a:xfrm>
            <a:off x="7514492" y="1963615"/>
            <a:ext cx="3481754" cy="315936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1" name="Chart 10">
            <a:extLst>
              <a:ext uri="{FF2B5EF4-FFF2-40B4-BE49-F238E27FC236}">
                <a16:creationId xmlns:a16="http://schemas.microsoft.com/office/drawing/2014/main" id="{1E893FB1-8D72-61EE-7D4A-CCBCDC1649EB}"/>
              </a:ext>
            </a:extLst>
          </p:cNvPr>
          <p:cNvGraphicFramePr>
            <a:graphicFrameLocks/>
          </p:cNvGraphicFramePr>
          <p:nvPr>
            <p:extLst>
              <p:ext uri="{D42A27DB-BD31-4B8C-83A1-F6EECF244321}">
                <p14:modId xmlns:p14="http://schemas.microsoft.com/office/powerpoint/2010/main" val="3279807489"/>
              </p:ext>
            </p:extLst>
          </p:nvPr>
        </p:nvGraphicFramePr>
        <p:xfrm>
          <a:off x="6969369" y="21717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F27C3077-C1A4-5C72-1DFF-0A65BEEDBE3E}"/>
              </a:ext>
            </a:extLst>
          </p:cNvPr>
          <p:cNvSpPr txBox="1"/>
          <p:nvPr/>
        </p:nvSpPr>
        <p:spPr>
          <a:xfrm>
            <a:off x="6600092" y="5331068"/>
            <a:ext cx="5357447" cy="253916"/>
          </a:xfrm>
          <a:prstGeom prst="rect">
            <a:avLst/>
          </a:prstGeom>
          <a:noFill/>
        </p:spPr>
        <p:txBody>
          <a:bodyPr wrap="square" rtlCol="0">
            <a:spAutoFit/>
          </a:bodyPr>
          <a:lstStyle/>
          <a:p>
            <a:r>
              <a:rPr lang="en-US" sz="1050" dirty="0"/>
              <a:t>Inactivity represents the largest immediate opportunity for engagement growth.</a:t>
            </a:r>
            <a:endParaRPr lang="en-IN" sz="1050" dirty="0"/>
          </a:p>
        </p:txBody>
      </p:sp>
    </p:spTree>
    <p:extLst>
      <p:ext uri="{BB962C8B-B14F-4D97-AF65-F5344CB8AC3E}">
        <p14:creationId xmlns:p14="http://schemas.microsoft.com/office/powerpoint/2010/main" val="3803532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680BD-A791-2C0C-D0C3-E42D0743ED70}"/>
              </a:ext>
            </a:extLst>
          </p:cNvPr>
          <p:cNvSpPr>
            <a:spLocks noGrp="1"/>
          </p:cNvSpPr>
          <p:nvPr>
            <p:ph type="title"/>
          </p:nvPr>
        </p:nvSpPr>
        <p:spPr>
          <a:xfrm>
            <a:off x="3055567" y="633353"/>
            <a:ext cx="8049580" cy="509647"/>
          </a:xfrm>
        </p:spPr>
        <p:txBody>
          <a:bodyPr>
            <a:noAutofit/>
          </a:bodyPr>
          <a:lstStyle/>
          <a:p>
            <a:r>
              <a:rPr lang="en-IN" sz="2900" b="1" dirty="0"/>
              <a:t>Engagement Concentration</a:t>
            </a:r>
          </a:p>
        </p:txBody>
      </p:sp>
      <p:sp>
        <p:nvSpPr>
          <p:cNvPr id="6" name="Rectangle 5">
            <a:extLst>
              <a:ext uri="{FF2B5EF4-FFF2-40B4-BE49-F238E27FC236}">
                <a16:creationId xmlns:a16="http://schemas.microsoft.com/office/drawing/2014/main" id="{D008EEBE-0FF8-C952-3756-CA691F8C2511}"/>
              </a:ext>
            </a:extLst>
          </p:cNvPr>
          <p:cNvSpPr/>
          <p:nvPr/>
        </p:nvSpPr>
        <p:spPr>
          <a:xfrm>
            <a:off x="6494585" y="1720361"/>
            <a:ext cx="4911969"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0F395D14-1D4F-342D-4F99-C8AED9A38133}"/>
              </a:ext>
            </a:extLst>
          </p:cNvPr>
          <p:cNvGraphicFramePr>
            <a:graphicFrameLocks/>
          </p:cNvGraphicFramePr>
          <p:nvPr>
            <p:extLst>
              <p:ext uri="{D42A27DB-BD31-4B8C-83A1-F6EECF244321}">
                <p14:modId xmlns:p14="http://schemas.microsoft.com/office/powerpoint/2010/main" val="876489494"/>
              </p:ext>
            </p:extLst>
          </p:nvPr>
        </p:nvGraphicFramePr>
        <p:xfrm>
          <a:off x="6664569" y="1720361"/>
          <a:ext cx="4572000" cy="3417277"/>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668A6CCF-596D-8066-8BB1-2F48EAA9BBF6}"/>
              </a:ext>
            </a:extLst>
          </p:cNvPr>
          <p:cNvSpPr txBox="1"/>
          <p:nvPr/>
        </p:nvSpPr>
        <p:spPr>
          <a:xfrm>
            <a:off x="785446" y="1859338"/>
            <a:ext cx="5087816" cy="3139321"/>
          </a:xfrm>
          <a:prstGeom prst="rect">
            <a:avLst/>
          </a:prstGeom>
          <a:noFill/>
        </p:spPr>
        <p:txBody>
          <a:bodyPr wrap="square" rtlCol="0">
            <a:spAutoFit/>
          </a:bodyPr>
          <a:lstStyle/>
          <a:p>
            <a:pPr marL="342900" indent="-342900">
              <a:buFont typeface="Arial" panose="020B0604020202020204" pitchFamily="34" charset="0"/>
              <a:buChar char="•"/>
            </a:pPr>
            <a:r>
              <a:rPr lang="en-US" dirty="0"/>
              <a:t>Engagement is highly concentrated among a small group of users.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Top 10 users generate over 200 interactions each.</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Highest performer reaches 405 total engagements.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 small percentage of creators drive majority platform interaction.</a:t>
            </a:r>
            <a:endParaRPr lang="en-IN" dirty="0"/>
          </a:p>
        </p:txBody>
      </p:sp>
      <p:sp>
        <p:nvSpPr>
          <p:cNvPr id="12" name="TextBox 11">
            <a:extLst>
              <a:ext uri="{FF2B5EF4-FFF2-40B4-BE49-F238E27FC236}">
                <a16:creationId xmlns:a16="http://schemas.microsoft.com/office/drawing/2014/main" id="{C571EE87-04A9-78A8-DA11-395C27E174FC}"/>
              </a:ext>
            </a:extLst>
          </p:cNvPr>
          <p:cNvSpPr txBox="1"/>
          <p:nvPr/>
        </p:nvSpPr>
        <p:spPr>
          <a:xfrm>
            <a:off x="6405021" y="5260967"/>
            <a:ext cx="5265611" cy="253916"/>
          </a:xfrm>
          <a:prstGeom prst="rect">
            <a:avLst/>
          </a:prstGeom>
          <a:noFill/>
        </p:spPr>
        <p:txBody>
          <a:bodyPr wrap="square" rtlCol="0">
            <a:spAutoFit/>
          </a:bodyPr>
          <a:lstStyle/>
          <a:p>
            <a:r>
              <a:rPr lang="en-US" sz="1050" dirty="0"/>
              <a:t>Platform engagement follows a power-law distribution driven by top creators.</a:t>
            </a:r>
            <a:endParaRPr lang="en-IN" sz="1050" dirty="0"/>
          </a:p>
        </p:txBody>
      </p:sp>
    </p:spTree>
    <p:extLst>
      <p:ext uri="{BB962C8B-B14F-4D97-AF65-F5344CB8AC3E}">
        <p14:creationId xmlns:p14="http://schemas.microsoft.com/office/powerpoint/2010/main" val="3267836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E7D89-5A1C-97AC-1F1C-EE94229C1EF0}"/>
              </a:ext>
            </a:extLst>
          </p:cNvPr>
          <p:cNvSpPr>
            <a:spLocks noGrp="1"/>
          </p:cNvSpPr>
          <p:nvPr>
            <p:ph type="title"/>
          </p:nvPr>
        </p:nvSpPr>
        <p:spPr>
          <a:xfrm>
            <a:off x="3218900" y="577208"/>
            <a:ext cx="8377999" cy="541730"/>
          </a:xfrm>
        </p:spPr>
        <p:txBody>
          <a:bodyPr>
            <a:noAutofit/>
          </a:bodyPr>
          <a:lstStyle/>
          <a:p>
            <a:r>
              <a:rPr lang="en-IN" sz="2900" b="1" dirty="0"/>
              <a:t>Hashtag &amp; Content Insight</a:t>
            </a:r>
            <a:br>
              <a:rPr lang="en-IN" sz="2900" b="1" u="sng" dirty="0"/>
            </a:br>
            <a:br>
              <a:rPr lang="en-IN" sz="2900" b="1" dirty="0"/>
            </a:br>
            <a:endParaRPr lang="en-IN" sz="2900" b="1" u="sng" dirty="0"/>
          </a:p>
        </p:txBody>
      </p:sp>
      <p:sp>
        <p:nvSpPr>
          <p:cNvPr id="8" name="Rectangle 7">
            <a:extLst>
              <a:ext uri="{FF2B5EF4-FFF2-40B4-BE49-F238E27FC236}">
                <a16:creationId xmlns:a16="http://schemas.microsoft.com/office/drawing/2014/main" id="{18A4184D-32EE-B92A-2D1A-11F84571D03F}"/>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Chart 8">
            <a:extLst>
              <a:ext uri="{FF2B5EF4-FFF2-40B4-BE49-F238E27FC236}">
                <a16:creationId xmlns:a16="http://schemas.microsoft.com/office/drawing/2014/main" id="{980FC81C-18D5-F4B4-9B14-789DF2B15133}"/>
              </a:ext>
            </a:extLst>
          </p:cNvPr>
          <p:cNvGraphicFramePr>
            <a:graphicFrameLocks/>
          </p:cNvGraphicFramePr>
          <p:nvPr>
            <p:extLst>
              <p:ext uri="{D42A27DB-BD31-4B8C-83A1-F6EECF244321}">
                <p14:modId xmlns:p14="http://schemas.microsoft.com/office/powerpoint/2010/main" val="2996045917"/>
              </p:ext>
            </p:extLst>
          </p:nvPr>
        </p:nvGraphicFramePr>
        <p:xfrm>
          <a:off x="6494584" y="1985210"/>
          <a:ext cx="5102315" cy="2887578"/>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A1655B00-2AF5-6E0F-2D9A-8123CE75BD15}"/>
              </a:ext>
            </a:extLst>
          </p:cNvPr>
          <p:cNvSpPr txBox="1"/>
          <p:nvPr/>
        </p:nvSpPr>
        <p:spPr>
          <a:xfrm>
            <a:off x="6494584" y="5275529"/>
            <a:ext cx="5265611" cy="253916"/>
          </a:xfrm>
          <a:prstGeom prst="rect">
            <a:avLst/>
          </a:prstGeom>
          <a:noFill/>
        </p:spPr>
        <p:txBody>
          <a:bodyPr wrap="square" rtlCol="0">
            <a:spAutoFit/>
          </a:bodyPr>
          <a:lstStyle/>
          <a:p>
            <a:r>
              <a:rPr lang="en-US" sz="1050" dirty="0"/>
              <a:t>Emotion-driven and lifestyle-focused content drives the highest engagement.</a:t>
            </a:r>
            <a:endParaRPr lang="en-IN" sz="1050" dirty="0"/>
          </a:p>
        </p:txBody>
      </p:sp>
      <p:sp>
        <p:nvSpPr>
          <p:cNvPr id="11" name="TextBox 10">
            <a:extLst>
              <a:ext uri="{FF2B5EF4-FFF2-40B4-BE49-F238E27FC236}">
                <a16:creationId xmlns:a16="http://schemas.microsoft.com/office/drawing/2014/main" id="{D2D8C6D4-C27E-989C-F7B8-6637D770FC59}"/>
              </a:ext>
            </a:extLst>
          </p:cNvPr>
          <p:cNvSpPr txBox="1"/>
          <p:nvPr/>
        </p:nvSpPr>
        <p:spPr>
          <a:xfrm>
            <a:off x="854242" y="1859338"/>
            <a:ext cx="4843174" cy="3139321"/>
          </a:xfrm>
          <a:prstGeom prst="rect">
            <a:avLst/>
          </a:prstGeom>
          <a:noFill/>
        </p:spPr>
        <p:txBody>
          <a:bodyPr wrap="square" rtlCol="0">
            <a:spAutoFit/>
          </a:bodyPr>
          <a:lstStyle/>
          <a:p>
            <a:pPr marL="285750" indent="-285750">
              <a:buFont typeface="Arial" panose="020B0604020202020204" pitchFamily="34" charset="0"/>
              <a:buChar char="•"/>
            </a:pPr>
            <a:r>
              <a:rPr lang="en-US" dirty="0"/>
              <a:t>Engagement is strongly driven by lifestyle and emotion-based hashtags.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Engagement is strongly driven by lifestyle and emotion-based hashtags.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“Smile” generates the highest engagement (1802 interactions).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a:t>Content themes significantly influence interaction levels.</a:t>
            </a:r>
          </a:p>
        </p:txBody>
      </p:sp>
    </p:spTree>
    <p:extLst>
      <p:ext uri="{BB962C8B-B14F-4D97-AF65-F5344CB8AC3E}">
        <p14:creationId xmlns:p14="http://schemas.microsoft.com/office/powerpoint/2010/main" val="3121611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9B3CD55-DC39-B45F-A15C-0D0FF4DAD78C}"/>
              </a:ext>
            </a:extLst>
          </p:cNvPr>
          <p:cNvSpPr>
            <a:spLocks noGrp="1"/>
          </p:cNvSpPr>
          <p:nvPr>
            <p:ph type="title"/>
          </p:nvPr>
        </p:nvSpPr>
        <p:spPr>
          <a:xfrm>
            <a:off x="2730486" y="573034"/>
            <a:ext cx="9404723" cy="569966"/>
          </a:xfrm>
        </p:spPr>
        <p:txBody>
          <a:bodyPr/>
          <a:lstStyle/>
          <a:p>
            <a:r>
              <a:rPr lang="en-IN" sz="2900" b="1" dirty="0"/>
              <a:t>Upload vs Engagement Correlation</a:t>
            </a:r>
          </a:p>
        </p:txBody>
      </p:sp>
      <p:sp>
        <p:nvSpPr>
          <p:cNvPr id="9" name="Rectangle 8">
            <a:extLst>
              <a:ext uri="{FF2B5EF4-FFF2-40B4-BE49-F238E27FC236}">
                <a16:creationId xmlns:a16="http://schemas.microsoft.com/office/drawing/2014/main" id="{C0EF058B-78A6-5113-28BD-23B42E9DDF3D}"/>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0" name="Chart 9">
            <a:extLst>
              <a:ext uri="{FF2B5EF4-FFF2-40B4-BE49-F238E27FC236}">
                <a16:creationId xmlns:a16="http://schemas.microsoft.com/office/drawing/2014/main" id="{8A2C6CA1-DA59-4D8C-E372-37C182DD7BAE}"/>
              </a:ext>
            </a:extLst>
          </p:cNvPr>
          <p:cNvGraphicFramePr>
            <a:graphicFrameLocks/>
          </p:cNvGraphicFramePr>
          <p:nvPr>
            <p:extLst>
              <p:ext uri="{D42A27DB-BD31-4B8C-83A1-F6EECF244321}">
                <p14:modId xmlns:p14="http://schemas.microsoft.com/office/powerpoint/2010/main" val="2051175008"/>
              </p:ext>
            </p:extLst>
          </p:nvPr>
        </p:nvGraphicFramePr>
        <p:xfrm>
          <a:off x="6494584" y="1900989"/>
          <a:ext cx="5102315" cy="3236649"/>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D40350B7-62BA-3E21-3372-A33057128F3F}"/>
              </a:ext>
            </a:extLst>
          </p:cNvPr>
          <p:cNvSpPr txBox="1"/>
          <p:nvPr/>
        </p:nvSpPr>
        <p:spPr>
          <a:xfrm>
            <a:off x="6735216" y="5258262"/>
            <a:ext cx="5265611" cy="253916"/>
          </a:xfrm>
          <a:prstGeom prst="rect">
            <a:avLst/>
          </a:prstGeom>
          <a:noFill/>
        </p:spPr>
        <p:txBody>
          <a:bodyPr wrap="square" rtlCol="0">
            <a:spAutoFit/>
          </a:bodyPr>
          <a:lstStyle/>
          <a:p>
            <a:r>
              <a:rPr lang="en-US" sz="1050" dirty="0"/>
              <a:t>Sustained content creation directly drives higher engagement levels.</a:t>
            </a:r>
            <a:endParaRPr lang="en-IN" sz="1050" dirty="0"/>
          </a:p>
        </p:txBody>
      </p:sp>
      <p:sp>
        <p:nvSpPr>
          <p:cNvPr id="12" name="TextBox 11">
            <a:extLst>
              <a:ext uri="{FF2B5EF4-FFF2-40B4-BE49-F238E27FC236}">
                <a16:creationId xmlns:a16="http://schemas.microsoft.com/office/drawing/2014/main" id="{10F34341-6C52-A4A6-FD1A-486B5B26AF43}"/>
              </a:ext>
            </a:extLst>
          </p:cNvPr>
          <p:cNvSpPr txBox="1"/>
          <p:nvPr/>
        </p:nvSpPr>
        <p:spPr>
          <a:xfrm>
            <a:off x="1227220" y="1859338"/>
            <a:ext cx="4470195" cy="3139321"/>
          </a:xfrm>
          <a:prstGeom prst="rect">
            <a:avLst/>
          </a:prstGeom>
          <a:noFill/>
        </p:spPr>
        <p:txBody>
          <a:bodyPr wrap="square" rtlCol="0">
            <a:spAutoFit/>
          </a:bodyPr>
          <a:lstStyle/>
          <a:p>
            <a:pPr marL="285750" indent="-285750">
              <a:buFont typeface="Arial" panose="020B0604020202020204" pitchFamily="34" charset="0"/>
              <a:buChar char="•"/>
            </a:pPr>
            <a:r>
              <a:rPr lang="en-US" dirty="0"/>
              <a:t>Engagement increases consistently with posting frequency.</a:t>
            </a:r>
          </a:p>
          <a:p>
            <a:pPr marL="285750" indent="-285750">
              <a:buFont typeface="Arial" panose="020B0604020202020204" pitchFamily="34" charset="0"/>
              <a:buChar char="•"/>
            </a:pPr>
            <a:br>
              <a:rPr lang="en-US" dirty="0"/>
            </a:br>
            <a:r>
              <a:rPr lang="en-US" dirty="0"/>
              <a:t>Users with 1–2 posts average below 110 interactions.</a:t>
            </a:r>
          </a:p>
          <a:p>
            <a:pPr marL="285750" indent="-285750">
              <a:buFont typeface="Arial" panose="020B0604020202020204" pitchFamily="34" charset="0"/>
              <a:buChar char="•"/>
            </a:pPr>
            <a:br>
              <a:rPr lang="en-US" dirty="0"/>
            </a:br>
            <a:r>
              <a:rPr lang="en-US" dirty="0"/>
              <a:t>Users with 5+ posts exceed 200 average engagements.</a:t>
            </a:r>
          </a:p>
          <a:p>
            <a:pPr marL="285750" indent="-285750">
              <a:buFont typeface="Arial" panose="020B0604020202020204" pitchFamily="34" charset="0"/>
              <a:buChar char="•"/>
            </a:pPr>
            <a:br>
              <a:rPr lang="en-US" dirty="0"/>
            </a:br>
            <a:r>
              <a:rPr lang="en-US" dirty="0"/>
              <a:t>Consistency significantly amplifies audience interaction.</a:t>
            </a:r>
            <a:endParaRPr lang="en-IN" dirty="0"/>
          </a:p>
        </p:txBody>
      </p:sp>
    </p:spTree>
    <p:extLst>
      <p:ext uri="{BB962C8B-B14F-4D97-AF65-F5344CB8AC3E}">
        <p14:creationId xmlns:p14="http://schemas.microsoft.com/office/powerpoint/2010/main" val="577088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56647-E37A-C43E-093E-E72D07DB016F}"/>
              </a:ext>
            </a:extLst>
          </p:cNvPr>
          <p:cNvSpPr>
            <a:spLocks noGrp="1"/>
          </p:cNvSpPr>
          <p:nvPr>
            <p:ph type="title"/>
          </p:nvPr>
        </p:nvSpPr>
        <p:spPr>
          <a:xfrm>
            <a:off x="2750702" y="474075"/>
            <a:ext cx="8619139" cy="512253"/>
          </a:xfrm>
        </p:spPr>
        <p:txBody>
          <a:bodyPr>
            <a:noAutofit/>
          </a:bodyPr>
          <a:lstStyle/>
          <a:p>
            <a:r>
              <a:rPr lang="en-US" sz="2900" b="1" dirty="0"/>
              <a:t>Cohort Analysis (Joining Year Insight)</a:t>
            </a:r>
            <a:endParaRPr lang="en-IN" sz="2900" b="1" dirty="0"/>
          </a:p>
        </p:txBody>
      </p:sp>
      <p:sp>
        <p:nvSpPr>
          <p:cNvPr id="7" name="Rectangle 6">
            <a:extLst>
              <a:ext uri="{FF2B5EF4-FFF2-40B4-BE49-F238E27FC236}">
                <a16:creationId xmlns:a16="http://schemas.microsoft.com/office/drawing/2014/main" id="{9441CE9A-CDA4-F15D-7952-C32D99BE95F1}"/>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Chart 7">
            <a:extLst>
              <a:ext uri="{FF2B5EF4-FFF2-40B4-BE49-F238E27FC236}">
                <a16:creationId xmlns:a16="http://schemas.microsoft.com/office/drawing/2014/main" id="{6B5E4E78-3B5E-5585-F385-F7DE1174B8AF}"/>
              </a:ext>
            </a:extLst>
          </p:cNvPr>
          <p:cNvGraphicFramePr>
            <a:graphicFrameLocks/>
          </p:cNvGraphicFramePr>
          <p:nvPr>
            <p:extLst>
              <p:ext uri="{D42A27DB-BD31-4B8C-83A1-F6EECF244321}">
                <p14:modId xmlns:p14="http://schemas.microsoft.com/office/powerpoint/2010/main" val="1931405143"/>
              </p:ext>
            </p:extLst>
          </p:nvPr>
        </p:nvGraphicFramePr>
        <p:xfrm>
          <a:off x="6675983" y="2045521"/>
          <a:ext cx="5102315" cy="3092117"/>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3CBED62B-2A88-BF4F-4FAC-998E7635AA28}"/>
              </a:ext>
            </a:extLst>
          </p:cNvPr>
          <p:cNvSpPr txBox="1"/>
          <p:nvPr/>
        </p:nvSpPr>
        <p:spPr>
          <a:xfrm>
            <a:off x="898358" y="1305612"/>
            <a:ext cx="5197642" cy="5355312"/>
          </a:xfrm>
          <a:prstGeom prst="rect">
            <a:avLst/>
          </a:prstGeom>
          <a:noFill/>
        </p:spPr>
        <p:txBody>
          <a:bodyPr wrap="square" rtlCol="0">
            <a:spAutoFit/>
          </a:bodyPr>
          <a:lstStyle/>
          <a:p>
            <a:pPr marL="285750" indent="-285750">
              <a:buFont typeface="Arial" panose="020B0604020202020204" pitchFamily="34" charset="0"/>
              <a:buChar char="•"/>
            </a:pPr>
            <a:r>
              <a:rPr lang="en-US" dirty="0"/>
              <a:t>Users who joined in 2016 generate an average of 51.43 engagements per post, slightly outperforming the 2017 cohort in engagement efficiency.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Users who joined in 2016 generate an average of 51.43 engagements per post, slightly outperforming the 2017 cohort in engagement efficiency.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small difference between cohorts suggests that engagement behavior remains consistent across user generations.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is no significant engagement gap between early and newer adopters, indicating stable platform experience over time.</a:t>
            </a:r>
            <a:endParaRPr lang="en-IN" dirty="0"/>
          </a:p>
        </p:txBody>
      </p:sp>
      <p:sp>
        <p:nvSpPr>
          <p:cNvPr id="10" name="TextBox 9">
            <a:extLst>
              <a:ext uri="{FF2B5EF4-FFF2-40B4-BE49-F238E27FC236}">
                <a16:creationId xmlns:a16="http://schemas.microsoft.com/office/drawing/2014/main" id="{78F63518-4117-388B-2061-BF9D2DD1CF9A}"/>
              </a:ext>
            </a:extLst>
          </p:cNvPr>
          <p:cNvSpPr txBox="1"/>
          <p:nvPr/>
        </p:nvSpPr>
        <p:spPr>
          <a:xfrm>
            <a:off x="6146260" y="5255049"/>
            <a:ext cx="5798964" cy="415498"/>
          </a:xfrm>
          <a:prstGeom prst="rect">
            <a:avLst/>
          </a:prstGeom>
          <a:noFill/>
        </p:spPr>
        <p:txBody>
          <a:bodyPr wrap="square" rtlCol="0">
            <a:spAutoFit/>
          </a:bodyPr>
          <a:lstStyle/>
          <a:p>
            <a:pPr algn="ctr"/>
            <a:r>
              <a:rPr lang="en-IN" sz="1050" dirty="0"/>
              <a:t>Engagement efficiency remains stable across cohorts, reflecting consistent user interaction quality.</a:t>
            </a:r>
          </a:p>
        </p:txBody>
      </p:sp>
    </p:spTree>
    <p:extLst>
      <p:ext uri="{BB962C8B-B14F-4D97-AF65-F5344CB8AC3E}">
        <p14:creationId xmlns:p14="http://schemas.microsoft.com/office/powerpoint/2010/main" val="1304922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9AD04-B9F7-0382-EFA4-690AFED41C7E}"/>
              </a:ext>
            </a:extLst>
          </p:cNvPr>
          <p:cNvSpPr>
            <a:spLocks noGrp="1"/>
          </p:cNvSpPr>
          <p:nvPr>
            <p:ph type="title"/>
          </p:nvPr>
        </p:nvSpPr>
        <p:spPr>
          <a:xfrm>
            <a:off x="3525252" y="541421"/>
            <a:ext cx="8831179" cy="608269"/>
          </a:xfrm>
        </p:spPr>
        <p:txBody>
          <a:bodyPr>
            <a:normAutofit/>
          </a:bodyPr>
          <a:lstStyle/>
          <a:p>
            <a:r>
              <a:rPr lang="en-IN" sz="2900" b="1" dirty="0"/>
              <a:t>User Segmentation Model</a:t>
            </a:r>
          </a:p>
        </p:txBody>
      </p:sp>
      <p:sp>
        <p:nvSpPr>
          <p:cNvPr id="7" name="Rectangle 6">
            <a:extLst>
              <a:ext uri="{FF2B5EF4-FFF2-40B4-BE49-F238E27FC236}">
                <a16:creationId xmlns:a16="http://schemas.microsoft.com/office/drawing/2014/main" id="{FB3C3F48-7057-D1BA-961C-0997CD532F63}"/>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Chart 8">
            <a:extLst>
              <a:ext uri="{FF2B5EF4-FFF2-40B4-BE49-F238E27FC236}">
                <a16:creationId xmlns:a16="http://schemas.microsoft.com/office/drawing/2014/main" id="{A282FE7A-203E-6379-0053-EA5F200F373E}"/>
              </a:ext>
            </a:extLst>
          </p:cNvPr>
          <p:cNvGraphicFramePr>
            <a:graphicFrameLocks/>
          </p:cNvGraphicFramePr>
          <p:nvPr>
            <p:extLst>
              <p:ext uri="{D42A27DB-BD31-4B8C-83A1-F6EECF244321}">
                <p14:modId xmlns:p14="http://schemas.microsoft.com/office/powerpoint/2010/main" val="2580412425"/>
              </p:ext>
            </p:extLst>
          </p:nvPr>
        </p:nvGraphicFramePr>
        <p:xfrm>
          <a:off x="6494585" y="1840676"/>
          <a:ext cx="5102314" cy="3417277"/>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10252ADD-DEB2-4807-3617-4EB4BCF1C2C9}"/>
              </a:ext>
            </a:extLst>
          </p:cNvPr>
          <p:cNvSpPr txBox="1"/>
          <p:nvPr/>
        </p:nvSpPr>
        <p:spPr>
          <a:xfrm>
            <a:off x="1022684" y="1383632"/>
            <a:ext cx="4824663" cy="4524315"/>
          </a:xfrm>
          <a:prstGeom prst="rect">
            <a:avLst/>
          </a:prstGeom>
          <a:noFill/>
        </p:spPr>
        <p:txBody>
          <a:bodyPr wrap="square" rtlCol="0">
            <a:spAutoFit/>
          </a:bodyPr>
          <a:lstStyle/>
          <a:p>
            <a:pPr marL="285750" indent="-285750">
              <a:buFont typeface="Arial" panose="020B0604020202020204" pitchFamily="34" charset="0"/>
              <a:buChar char="•"/>
            </a:pPr>
            <a:r>
              <a:rPr lang="en-US" dirty="0"/>
              <a:t>The majority of users (53%) fall under the Emerging category, representing the largest growth opportunity on the platform.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19% of users are High-Value Creators who consistently generate strong engagement and drive interaction.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26% of users are completely inactive, indicating a significant retention challenge.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Only 2% are active but low-performing, suggesting most active users maintain reasonable engagement levels.</a:t>
            </a:r>
            <a:endParaRPr lang="en-IN" dirty="0"/>
          </a:p>
        </p:txBody>
      </p:sp>
      <p:sp>
        <p:nvSpPr>
          <p:cNvPr id="11" name="TextBox 10">
            <a:extLst>
              <a:ext uri="{FF2B5EF4-FFF2-40B4-BE49-F238E27FC236}">
                <a16:creationId xmlns:a16="http://schemas.microsoft.com/office/drawing/2014/main" id="{15D27D36-8D64-EF02-10D6-B682A0E9DACB}"/>
              </a:ext>
            </a:extLst>
          </p:cNvPr>
          <p:cNvSpPr txBox="1"/>
          <p:nvPr/>
        </p:nvSpPr>
        <p:spPr>
          <a:xfrm>
            <a:off x="6146260" y="5255049"/>
            <a:ext cx="5798964" cy="415498"/>
          </a:xfrm>
          <a:prstGeom prst="rect">
            <a:avLst/>
          </a:prstGeom>
          <a:noFill/>
        </p:spPr>
        <p:txBody>
          <a:bodyPr wrap="square" rtlCol="0">
            <a:spAutoFit/>
          </a:bodyPr>
          <a:lstStyle/>
          <a:p>
            <a:pPr algn="ctr"/>
            <a:r>
              <a:rPr lang="en-US" sz="1050" dirty="0"/>
              <a:t>Emerging users represent the primary leverage point for scaling overall platform engagement.</a:t>
            </a:r>
          </a:p>
        </p:txBody>
      </p:sp>
    </p:spTree>
    <p:extLst>
      <p:ext uri="{BB962C8B-B14F-4D97-AF65-F5344CB8AC3E}">
        <p14:creationId xmlns:p14="http://schemas.microsoft.com/office/powerpoint/2010/main" val="729550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59B0B-FB14-A7A8-092A-CD8C94B56A8F}"/>
              </a:ext>
            </a:extLst>
          </p:cNvPr>
          <p:cNvSpPr>
            <a:spLocks noGrp="1"/>
          </p:cNvSpPr>
          <p:nvPr>
            <p:ph type="title"/>
          </p:nvPr>
        </p:nvSpPr>
        <p:spPr>
          <a:xfrm>
            <a:off x="1528010" y="589547"/>
            <a:ext cx="10515600" cy="550606"/>
          </a:xfrm>
        </p:spPr>
        <p:txBody>
          <a:bodyPr>
            <a:normAutofit/>
          </a:bodyPr>
          <a:lstStyle/>
          <a:p>
            <a:r>
              <a:rPr lang="en-IN" sz="2900" b="1" dirty="0"/>
              <a:t>Influencer &amp; High-Value Creator Identification</a:t>
            </a:r>
            <a:endParaRPr lang="en-IN" sz="2900" b="1" dirty="0">
              <a:solidFill>
                <a:schemeClr val="tx2">
                  <a:lumMod val="90000"/>
                  <a:lumOff val="10000"/>
                </a:schemeClr>
              </a:solidFill>
            </a:endParaRPr>
          </a:p>
        </p:txBody>
      </p:sp>
      <p:sp>
        <p:nvSpPr>
          <p:cNvPr id="7" name="Rectangle 6">
            <a:extLst>
              <a:ext uri="{FF2B5EF4-FFF2-40B4-BE49-F238E27FC236}">
                <a16:creationId xmlns:a16="http://schemas.microsoft.com/office/drawing/2014/main" id="{15C680F4-54F7-1A81-69E5-1D7C78EAC1BF}"/>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Chart 7">
            <a:extLst>
              <a:ext uri="{FF2B5EF4-FFF2-40B4-BE49-F238E27FC236}">
                <a16:creationId xmlns:a16="http://schemas.microsoft.com/office/drawing/2014/main" id="{C0885709-C352-13D9-11BF-26A1A843A9D0}"/>
              </a:ext>
            </a:extLst>
          </p:cNvPr>
          <p:cNvGraphicFramePr>
            <a:graphicFrameLocks/>
          </p:cNvGraphicFramePr>
          <p:nvPr>
            <p:extLst>
              <p:ext uri="{D42A27DB-BD31-4B8C-83A1-F6EECF244321}">
                <p14:modId xmlns:p14="http://schemas.microsoft.com/office/powerpoint/2010/main" val="2199338384"/>
              </p:ext>
            </p:extLst>
          </p:nvPr>
        </p:nvGraphicFramePr>
        <p:xfrm>
          <a:off x="6494585" y="1822784"/>
          <a:ext cx="5102315" cy="321243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75BB4729-0E30-0E48-623C-2C650CFB92BC}"/>
              </a:ext>
            </a:extLst>
          </p:cNvPr>
          <p:cNvSpPr txBox="1"/>
          <p:nvPr/>
        </p:nvSpPr>
        <p:spPr>
          <a:xfrm>
            <a:off x="914400" y="1576137"/>
            <a:ext cx="4783016" cy="4247317"/>
          </a:xfrm>
          <a:prstGeom prst="rect">
            <a:avLst/>
          </a:prstGeom>
          <a:noFill/>
        </p:spPr>
        <p:txBody>
          <a:bodyPr wrap="square" rtlCol="0">
            <a:spAutoFit/>
          </a:bodyPr>
          <a:lstStyle/>
          <a:p>
            <a:pPr marL="285750" indent="-285750">
              <a:buFont typeface="Arial" panose="020B0604020202020204" pitchFamily="34" charset="0"/>
              <a:buChar char="•"/>
            </a:pPr>
            <a:r>
              <a:rPr lang="en-US" dirty="0"/>
              <a:t>These users demonstrate the highest engagement efficiency, averaging above 42 interactions per post.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Engagement per post is a stronger influencer metric than follower count or total posts.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Engagement per post is a stronger influencer metric than follower count or total posts.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High efficiency indicates strong audience responsiveness and content relevance.</a:t>
            </a:r>
            <a:endParaRPr lang="en-IN" dirty="0"/>
          </a:p>
        </p:txBody>
      </p:sp>
      <p:sp>
        <p:nvSpPr>
          <p:cNvPr id="10" name="TextBox 9">
            <a:extLst>
              <a:ext uri="{FF2B5EF4-FFF2-40B4-BE49-F238E27FC236}">
                <a16:creationId xmlns:a16="http://schemas.microsoft.com/office/drawing/2014/main" id="{CEE62BB3-0FB0-59D7-5BFF-87B49085BA72}"/>
              </a:ext>
            </a:extLst>
          </p:cNvPr>
          <p:cNvSpPr txBox="1"/>
          <p:nvPr/>
        </p:nvSpPr>
        <p:spPr>
          <a:xfrm>
            <a:off x="6146260" y="5255049"/>
            <a:ext cx="5798964" cy="415498"/>
          </a:xfrm>
          <a:prstGeom prst="rect">
            <a:avLst/>
          </a:prstGeom>
          <a:noFill/>
        </p:spPr>
        <p:txBody>
          <a:bodyPr wrap="square" rtlCol="0">
            <a:spAutoFit/>
          </a:bodyPr>
          <a:lstStyle/>
          <a:p>
            <a:pPr algn="ctr"/>
            <a:r>
              <a:rPr lang="en-US" sz="1050" dirty="0"/>
              <a:t>Engagement efficiency is a more reliable indicator of influence than raw follower volume.</a:t>
            </a:r>
          </a:p>
        </p:txBody>
      </p:sp>
    </p:spTree>
    <p:extLst>
      <p:ext uri="{BB962C8B-B14F-4D97-AF65-F5344CB8AC3E}">
        <p14:creationId xmlns:p14="http://schemas.microsoft.com/office/powerpoint/2010/main" val="2121279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39C75-7CBE-A5AC-CC49-481FBA6D44D3}"/>
              </a:ext>
            </a:extLst>
          </p:cNvPr>
          <p:cNvSpPr>
            <a:spLocks noGrp="1"/>
          </p:cNvSpPr>
          <p:nvPr>
            <p:ph type="title"/>
          </p:nvPr>
        </p:nvSpPr>
        <p:spPr>
          <a:xfrm>
            <a:off x="3280869" y="791300"/>
            <a:ext cx="5630261" cy="539443"/>
          </a:xfrm>
        </p:spPr>
        <p:txBody>
          <a:bodyPr>
            <a:normAutofit/>
          </a:bodyPr>
          <a:lstStyle/>
          <a:p>
            <a:r>
              <a:rPr lang="en-IN" sz="2900" b="1" dirty="0"/>
              <a:t>Strategic Growth Framework</a:t>
            </a:r>
          </a:p>
        </p:txBody>
      </p:sp>
      <p:sp>
        <p:nvSpPr>
          <p:cNvPr id="6" name="TextBox 5">
            <a:extLst>
              <a:ext uri="{FF2B5EF4-FFF2-40B4-BE49-F238E27FC236}">
                <a16:creationId xmlns:a16="http://schemas.microsoft.com/office/drawing/2014/main" id="{145C8935-750A-369D-9D84-EEED5DCF1778}"/>
              </a:ext>
            </a:extLst>
          </p:cNvPr>
          <p:cNvSpPr txBox="1"/>
          <p:nvPr/>
        </p:nvSpPr>
        <p:spPr>
          <a:xfrm>
            <a:off x="525376" y="1876926"/>
            <a:ext cx="3645568" cy="3754874"/>
          </a:xfrm>
          <a:prstGeom prst="rect">
            <a:avLst/>
          </a:prstGeom>
          <a:noFill/>
        </p:spPr>
        <p:txBody>
          <a:bodyPr wrap="square" rtlCol="0">
            <a:spAutoFit/>
          </a:bodyPr>
          <a:lstStyle/>
          <a:p>
            <a:r>
              <a:rPr lang="en-US" sz="2200" b="1" dirty="0"/>
              <a:t>Retention Strategy</a:t>
            </a:r>
          </a:p>
          <a:p>
            <a:endParaRPr lang="en-US" b="1" dirty="0"/>
          </a:p>
          <a:p>
            <a:r>
              <a:rPr lang="en-US" dirty="0"/>
              <a:t>Launch targeted re-engagement campaigns for inactive users.</a:t>
            </a:r>
          </a:p>
          <a:p>
            <a:br>
              <a:rPr lang="en-US" dirty="0"/>
            </a:br>
            <a:r>
              <a:rPr lang="en-US" dirty="0"/>
              <a:t>Offer incentives such as feature visibility or gamified rewards.</a:t>
            </a:r>
          </a:p>
          <a:p>
            <a:br>
              <a:rPr lang="en-US" dirty="0"/>
            </a:br>
            <a:r>
              <a:rPr lang="en-US" dirty="0"/>
              <a:t>Use personalized notifications to bring dormant users back.</a:t>
            </a:r>
          </a:p>
          <a:p>
            <a:endParaRPr lang="en-IN" dirty="0"/>
          </a:p>
        </p:txBody>
      </p:sp>
      <p:sp>
        <p:nvSpPr>
          <p:cNvPr id="7" name="TextBox 6">
            <a:extLst>
              <a:ext uri="{FF2B5EF4-FFF2-40B4-BE49-F238E27FC236}">
                <a16:creationId xmlns:a16="http://schemas.microsoft.com/office/drawing/2014/main" id="{DDED7007-EA7F-0B76-63C7-3FAFDDC2902D}"/>
              </a:ext>
            </a:extLst>
          </p:cNvPr>
          <p:cNvSpPr txBox="1"/>
          <p:nvPr/>
        </p:nvSpPr>
        <p:spPr>
          <a:xfrm>
            <a:off x="4273215" y="1888957"/>
            <a:ext cx="3645568" cy="3200876"/>
          </a:xfrm>
          <a:prstGeom prst="rect">
            <a:avLst/>
          </a:prstGeom>
          <a:noFill/>
        </p:spPr>
        <p:txBody>
          <a:bodyPr wrap="square" rtlCol="0">
            <a:spAutoFit/>
          </a:bodyPr>
          <a:lstStyle/>
          <a:p>
            <a:r>
              <a:rPr lang="en-US" sz="2200" b="1" dirty="0"/>
              <a:t>Growth Strategy</a:t>
            </a:r>
          </a:p>
          <a:p>
            <a:endParaRPr lang="en-US" b="1" dirty="0"/>
          </a:p>
          <a:p>
            <a:r>
              <a:rPr lang="en-US" dirty="0"/>
              <a:t>Convert Emerging Users into High-Value Creators.</a:t>
            </a:r>
          </a:p>
          <a:p>
            <a:br>
              <a:rPr lang="en-US" dirty="0"/>
            </a:br>
            <a:r>
              <a:rPr lang="en-US" dirty="0"/>
              <a:t>Encourage consistent posting through content prompts.</a:t>
            </a:r>
          </a:p>
          <a:p>
            <a:br>
              <a:rPr lang="en-US" dirty="0"/>
            </a:br>
            <a:r>
              <a:rPr lang="en-US" dirty="0"/>
              <a:t>Promote high-performing hashtags to amplify reach.</a:t>
            </a:r>
          </a:p>
          <a:p>
            <a:endParaRPr lang="en-IN" dirty="0"/>
          </a:p>
        </p:txBody>
      </p:sp>
      <p:sp>
        <p:nvSpPr>
          <p:cNvPr id="8" name="TextBox 7">
            <a:extLst>
              <a:ext uri="{FF2B5EF4-FFF2-40B4-BE49-F238E27FC236}">
                <a16:creationId xmlns:a16="http://schemas.microsoft.com/office/drawing/2014/main" id="{8F88D4C8-6F70-EDFC-B4CF-6F4D697B5152}"/>
              </a:ext>
            </a:extLst>
          </p:cNvPr>
          <p:cNvSpPr txBox="1"/>
          <p:nvPr/>
        </p:nvSpPr>
        <p:spPr>
          <a:xfrm>
            <a:off x="8021054" y="1876926"/>
            <a:ext cx="4002505" cy="2985433"/>
          </a:xfrm>
          <a:prstGeom prst="rect">
            <a:avLst/>
          </a:prstGeom>
          <a:noFill/>
        </p:spPr>
        <p:txBody>
          <a:bodyPr wrap="square" rtlCol="0">
            <a:spAutoFit/>
          </a:bodyPr>
          <a:lstStyle/>
          <a:p>
            <a:r>
              <a:rPr lang="en-US" sz="2200" b="1" dirty="0"/>
              <a:t>Engagement Optimization</a:t>
            </a:r>
          </a:p>
          <a:p>
            <a:endParaRPr lang="en-US" sz="2200" b="1" dirty="0"/>
          </a:p>
          <a:p>
            <a:r>
              <a:rPr lang="en-US" dirty="0"/>
              <a:t>Identify and reward high-efficiency creators.</a:t>
            </a:r>
          </a:p>
          <a:p>
            <a:br>
              <a:rPr lang="en-US" dirty="0"/>
            </a:br>
            <a:r>
              <a:rPr lang="en-US" dirty="0"/>
              <a:t>Prioritize emotion-driven and lifestyle content themes.</a:t>
            </a:r>
          </a:p>
          <a:p>
            <a:endParaRPr lang="en-US" dirty="0"/>
          </a:p>
          <a:p>
            <a:r>
              <a:rPr lang="en-US" dirty="0"/>
              <a:t>Optimize posting consistency to sustain interaction growth.</a:t>
            </a:r>
          </a:p>
        </p:txBody>
      </p:sp>
    </p:spTree>
    <p:extLst>
      <p:ext uri="{BB962C8B-B14F-4D97-AF65-F5344CB8AC3E}">
        <p14:creationId xmlns:p14="http://schemas.microsoft.com/office/powerpoint/2010/main" val="2119445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5504E-334D-110A-215A-7EA1E2D6DF70}"/>
              </a:ext>
            </a:extLst>
          </p:cNvPr>
          <p:cNvSpPr>
            <a:spLocks noGrp="1"/>
          </p:cNvSpPr>
          <p:nvPr>
            <p:ph type="title"/>
          </p:nvPr>
        </p:nvSpPr>
        <p:spPr>
          <a:xfrm>
            <a:off x="585859" y="220997"/>
            <a:ext cx="10515600" cy="568940"/>
          </a:xfrm>
        </p:spPr>
        <p:txBody>
          <a:bodyPr>
            <a:normAutofit/>
          </a:bodyPr>
          <a:lstStyle/>
          <a:p>
            <a:r>
              <a:rPr lang="en-IN" sz="2900" b="1" dirty="0"/>
              <a:t>Business Recommendations</a:t>
            </a:r>
            <a:endParaRPr lang="en-IN" sz="2900" b="1" dirty="0">
              <a:solidFill>
                <a:schemeClr val="tx2">
                  <a:lumMod val="90000"/>
                  <a:lumOff val="10000"/>
                </a:schemeClr>
              </a:solidFill>
            </a:endParaRPr>
          </a:p>
        </p:txBody>
      </p:sp>
      <p:pic>
        <p:nvPicPr>
          <p:cNvPr id="6" name="Picture 5">
            <a:extLst>
              <a:ext uri="{FF2B5EF4-FFF2-40B4-BE49-F238E27FC236}">
                <a16:creationId xmlns:a16="http://schemas.microsoft.com/office/drawing/2014/main" id="{76114730-F40C-9F75-1DF3-887237DEFCE4}"/>
              </a:ext>
            </a:extLst>
          </p:cNvPr>
          <p:cNvPicPr>
            <a:picLocks noChangeAspect="1"/>
          </p:cNvPicPr>
          <p:nvPr/>
        </p:nvPicPr>
        <p:blipFill>
          <a:blip r:embed="rId2"/>
          <a:stretch>
            <a:fillRect/>
          </a:stretch>
        </p:blipFill>
        <p:spPr>
          <a:xfrm>
            <a:off x="7110663" y="0"/>
            <a:ext cx="5081337" cy="6858000"/>
          </a:xfrm>
          <a:prstGeom prst="rect">
            <a:avLst/>
          </a:prstGeom>
        </p:spPr>
      </p:pic>
      <p:sp>
        <p:nvSpPr>
          <p:cNvPr id="8" name="TextBox 7">
            <a:extLst>
              <a:ext uri="{FF2B5EF4-FFF2-40B4-BE49-F238E27FC236}">
                <a16:creationId xmlns:a16="http://schemas.microsoft.com/office/drawing/2014/main" id="{8B0B007C-EFF3-A843-8A50-72AF56C14477}"/>
              </a:ext>
            </a:extLst>
          </p:cNvPr>
          <p:cNvSpPr txBox="1"/>
          <p:nvPr/>
        </p:nvSpPr>
        <p:spPr>
          <a:xfrm>
            <a:off x="8381999" y="1768642"/>
            <a:ext cx="2538663" cy="461665"/>
          </a:xfrm>
          <a:prstGeom prst="rect">
            <a:avLst/>
          </a:prstGeom>
          <a:noFill/>
        </p:spPr>
        <p:txBody>
          <a:bodyPr wrap="square" rtlCol="0">
            <a:spAutoFit/>
          </a:bodyPr>
          <a:lstStyle/>
          <a:p>
            <a:r>
              <a:rPr lang="en-IN" sz="1200" b="1" dirty="0"/>
              <a:t>Recommendations</a:t>
            </a:r>
          </a:p>
          <a:p>
            <a:endParaRPr lang="en-IN" sz="1200" dirty="0"/>
          </a:p>
        </p:txBody>
      </p:sp>
      <p:sp>
        <p:nvSpPr>
          <p:cNvPr id="9" name="TextBox 8">
            <a:extLst>
              <a:ext uri="{FF2B5EF4-FFF2-40B4-BE49-F238E27FC236}">
                <a16:creationId xmlns:a16="http://schemas.microsoft.com/office/drawing/2014/main" id="{F29A60F7-A21C-643E-FB55-C286D0463FFF}"/>
              </a:ext>
            </a:extLst>
          </p:cNvPr>
          <p:cNvSpPr txBox="1"/>
          <p:nvPr/>
        </p:nvSpPr>
        <p:spPr>
          <a:xfrm>
            <a:off x="585859" y="850095"/>
            <a:ext cx="6236045" cy="5909310"/>
          </a:xfrm>
          <a:prstGeom prst="rect">
            <a:avLst/>
          </a:prstGeom>
          <a:noFill/>
        </p:spPr>
        <p:txBody>
          <a:bodyPr wrap="square" rtlCol="0">
            <a:spAutoFit/>
          </a:bodyPr>
          <a:lstStyle/>
          <a:p>
            <a:pPr marL="285750" indent="-285750">
              <a:buFont typeface="Arial" panose="020B0604020202020204" pitchFamily="34" charset="0"/>
              <a:buChar char="•"/>
            </a:pPr>
            <a:r>
              <a:rPr lang="en-US" dirty="0"/>
              <a:t>Prioritize reactivation of the 26% inactive user segment through targeted engagement campaigns.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Develop structured influencer programs using engagement efficiency as the primary selection metric.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Encourage consistent content creation by promoting high-performing hashtags and content themes.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Invest in Emerging Users, as they represent the largest scalable growth segment (53%).</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Implement data-driven performance tracking using engagement per post as a core KPI.</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Leverage cohort-based insights to maintain consistent onboarding experience and sustain engagement across new user segments.</a:t>
            </a:r>
            <a:endParaRPr lang="en-IN" dirty="0"/>
          </a:p>
        </p:txBody>
      </p:sp>
    </p:spTree>
    <p:extLst>
      <p:ext uri="{BB962C8B-B14F-4D97-AF65-F5344CB8AC3E}">
        <p14:creationId xmlns:p14="http://schemas.microsoft.com/office/powerpoint/2010/main" val="1213437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85044-95A6-7251-0531-620E61AA270D}"/>
              </a:ext>
            </a:extLst>
          </p:cNvPr>
          <p:cNvSpPr>
            <a:spLocks noGrp="1"/>
          </p:cNvSpPr>
          <p:nvPr>
            <p:ph type="title"/>
          </p:nvPr>
        </p:nvSpPr>
        <p:spPr>
          <a:xfrm>
            <a:off x="745958" y="323949"/>
            <a:ext cx="6601067" cy="598436"/>
          </a:xfrm>
        </p:spPr>
        <p:txBody>
          <a:bodyPr>
            <a:normAutofit/>
          </a:bodyPr>
          <a:lstStyle/>
          <a:p>
            <a:r>
              <a:rPr lang="en-IN" sz="2900" b="1" dirty="0">
                <a:solidFill>
                  <a:schemeClr val="tx2">
                    <a:lumMod val="90000"/>
                    <a:lumOff val="10000"/>
                  </a:schemeClr>
                </a:solidFill>
              </a:rPr>
              <a:t>Conclusion </a:t>
            </a:r>
            <a:r>
              <a:rPr lang="en-IN" sz="2900" b="1" dirty="0"/>
              <a:t>&amp; Key Takeaways</a:t>
            </a:r>
            <a:endParaRPr lang="en-IN" sz="2900" b="1" dirty="0">
              <a:solidFill>
                <a:schemeClr val="tx2">
                  <a:lumMod val="90000"/>
                  <a:lumOff val="10000"/>
                </a:schemeClr>
              </a:solidFill>
            </a:endParaRPr>
          </a:p>
        </p:txBody>
      </p:sp>
      <p:pic>
        <p:nvPicPr>
          <p:cNvPr id="8" name="Picture 7">
            <a:extLst>
              <a:ext uri="{FF2B5EF4-FFF2-40B4-BE49-F238E27FC236}">
                <a16:creationId xmlns:a16="http://schemas.microsoft.com/office/drawing/2014/main" id="{4B4D5946-B76B-FB2A-0F49-ADFBA57789A9}"/>
              </a:ext>
            </a:extLst>
          </p:cNvPr>
          <p:cNvPicPr>
            <a:picLocks noChangeAspect="1"/>
          </p:cNvPicPr>
          <p:nvPr/>
        </p:nvPicPr>
        <p:blipFill>
          <a:blip r:embed="rId2"/>
          <a:stretch>
            <a:fillRect/>
          </a:stretch>
        </p:blipFill>
        <p:spPr>
          <a:xfrm>
            <a:off x="7639119" y="3663"/>
            <a:ext cx="4552881" cy="6854337"/>
          </a:xfrm>
          <a:prstGeom prst="rect">
            <a:avLst/>
          </a:prstGeom>
        </p:spPr>
      </p:pic>
      <p:sp>
        <p:nvSpPr>
          <p:cNvPr id="9" name="TextBox 8">
            <a:extLst>
              <a:ext uri="{FF2B5EF4-FFF2-40B4-BE49-F238E27FC236}">
                <a16:creationId xmlns:a16="http://schemas.microsoft.com/office/drawing/2014/main" id="{C118EE22-AFB6-03C8-1B24-8C1CB09EEED7}"/>
              </a:ext>
            </a:extLst>
          </p:cNvPr>
          <p:cNvSpPr txBox="1"/>
          <p:nvPr/>
        </p:nvSpPr>
        <p:spPr>
          <a:xfrm>
            <a:off x="745958" y="1215189"/>
            <a:ext cx="5955631" cy="5632311"/>
          </a:xfrm>
          <a:prstGeom prst="rect">
            <a:avLst/>
          </a:prstGeom>
          <a:noFill/>
        </p:spPr>
        <p:txBody>
          <a:bodyPr wrap="square" rtlCol="0">
            <a:spAutoFit/>
          </a:bodyPr>
          <a:lstStyle/>
          <a:p>
            <a:pPr marL="285750" indent="-285750">
              <a:buFont typeface="Arial" panose="020B0604020202020204" pitchFamily="34" charset="0"/>
              <a:buChar char="•"/>
            </a:pPr>
            <a:r>
              <a:rPr lang="en-US" dirty="0"/>
              <a:t>Engagement on the platform is highly concentrated among a small group of high-value creators.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Posting consistency strongly correlates with higher engagement levels.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Emotion-driven and lifestyle-based content themes generate the highest interaction.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Emerging User segment represents the largest growth opportunity.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Targeted segmentation enables scalable, data-driven growth strategies.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Data-driven segmentation and creator-focused optimization are key to sustained platform growth.</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567249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EF541-63A7-3C50-81C4-D873454B7CEE}"/>
              </a:ext>
            </a:extLst>
          </p:cNvPr>
          <p:cNvSpPr>
            <a:spLocks noGrp="1"/>
          </p:cNvSpPr>
          <p:nvPr>
            <p:ph type="title"/>
          </p:nvPr>
        </p:nvSpPr>
        <p:spPr>
          <a:xfrm>
            <a:off x="1139767" y="2953760"/>
            <a:ext cx="10515600" cy="1122901"/>
          </a:xfrm>
        </p:spPr>
        <p:txBody>
          <a:bodyPr>
            <a:noAutofit/>
          </a:bodyPr>
          <a:lstStyle/>
          <a:p>
            <a:r>
              <a:rPr lang="en-IN" sz="4800" b="1" dirty="0">
                <a:solidFill>
                  <a:schemeClr val="tx2">
                    <a:lumMod val="90000"/>
                    <a:lumOff val="10000"/>
                  </a:schemeClr>
                </a:solidFill>
              </a:rPr>
              <a:t>THANKYOU</a:t>
            </a:r>
          </a:p>
        </p:txBody>
      </p:sp>
      <p:sp>
        <p:nvSpPr>
          <p:cNvPr id="7" name="Rectangle 6">
            <a:extLst>
              <a:ext uri="{FF2B5EF4-FFF2-40B4-BE49-F238E27FC236}">
                <a16:creationId xmlns:a16="http://schemas.microsoft.com/office/drawing/2014/main" id="{2150C717-A77E-2B3E-B630-368C78B3206B}"/>
              </a:ext>
            </a:extLst>
          </p:cNvPr>
          <p:cNvSpPr/>
          <p:nvPr/>
        </p:nvSpPr>
        <p:spPr>
          <a:xfrm>
            <a:off x="7772400" y="0"/>
            <a:ext cx="44196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F24061E1-23A3-8CB7-29E8-0B633FE5EA39}"/>
              </a:ext>
            </a:extLst>
          </p:cNvPr>
          <p:cNvSpPr/>
          <p:nvPr/>
        </p:nvSpPr>
        <p:spPr>
          <a:xfrm>
            <a:off x="6112073" y="1985211"/>
            <a:ext cx="3060000" cy="3060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193B8265-961D-9FF0-39AF-AA2F3748A35F}"/>
              </a:ext>
            </a:extLst>
          </p:cNvPr>
          <p:cNvSpPr/>
          <p:nvPr/>
        </p:nvSpPr>
        <p:spPr>
          <a:xfrm>
            <a:off x="6292073" y="2165211"/>
            <a:ext cx="2700000" cy="2700000"/>
          </a:xfrm>
          <a:prstGeom prst="ellips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2" descr="3D handshake png clipart, business | Premium PNG - rawpixel">
            <a:extLst>
              <a:ext uri="{FF2B5EF4-FFF2-40B4-BE49-F238E27FC236}">
                <a16:creationId xmlns:a16="http://schemas.microsoft.com/office/drawing/2014/main" id="{7701A241-9FE9-EA64-FF65-B74FC1FC94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4698" y="2245863"/>
            <a:ext cx="2799348" cy="2799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62147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3607</TotalTime>
  <Words>1003</Words>
  <Application>Microsoft Office PowerPoint</Application>
  <PresentationFormat>Widescreen</PresentationFormat>
  <Paragraphs>154</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Century Gothic</vt:lpstr>
      <vt:lpstr>Wingdings</vt:lpstr>
      <vt:lpstr>Wingdings 3</vt:lpstr>
      <vt:lpstr>Ion</vt:lpstr>
      <vt:lpstr>SOCIAL MEDIA ANALYSIS</vt:lpstr>
      <vt:lpstr>AGENDA</vt:lpstr>
      <vt:lpstr>PROBLEM STATEMENT</vt:lpstr>
      <vt:lpstr>DATA DESCRIPTION  The dataset contains information about 7 tables.</vt:lpstr>
      <vt:lpstr>KEY FIELDS</vt:lpstr>
      <vt:lpstr>   DATABASE SCHEMA</vt:lpstr>
      <vt:lpstr>User Activity Distribution</vt:lpstr>
      <vt:lpstr>Engagement Concentration</vt:lpstr>
      <vt:lpstr>Hashtag &amp; Content Insight  </vt:lpstr>
      <vt:lpstr>Upload vs Engagement Correlation</vt:lpstr>
      <vt:lpstr>Cohort Analysis (Joining Year Insight)</vt:lpstr>
      <vt:lpstr>User Segmentation Model</vt:lpstr>
      <vt:lpstr>Influencer &amp; High-Value Creator Identification</vt:lpstr>
      <vt:lpstr>Strategic Growth Framework</vt:lpstr>
      <vt:lpstr>Business Recommendations</vt:lpstr>
      <vt:lpstr>Conclusion &amp; Key Takeaways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ANALYSIS</dc:title>
  <dc:creator>shivani tiwari</dc:creator>
  <cp:lastModifiedBy>Varshith Anishetti</cp:lastModifiedBy>
  <cp:revision>34</cp:revision>
  <dcterms:created xsi:type="dcterms:W3CDTF">2024-12-21T04:02:27Z</dcterms:created>
  <dcterms:modified xsi:type="dcterms:W3CDTF">2026-02-22T16:26:11Z</dcterms:modified>
</cp:coreProperties>
</file>