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85" r:id="rId6"/>
    <p:sldId id="289" r:id="rId7"/>
    <p:sldId id="287" r:id="rId8"/>
    <p:sldId id="278" r:id="rId9"/>
    <p:sldId id="261" r:id="rId10"/>
    <p:sldId id="290" r:id="rId11"/>
    <p:sldId id="260" r:id="rId12"/>
    <p:sldId id="291" r:id="rId13"/>
    <p:sldId id="292" r:id="rId14"/>
    <p:sldId id="293" r:id="rId15"/>
    <p:sldId id="294" r:id="rId16"/>
    <p:sldId id="295" r:id="rId17"/>
    <p:sldId id="296" r:id="rId18"/>
    <p:sldId id="281" r:id="rId19"/>
    <p:sldId id="265" r:id="rId20"/>
    <p:sldId id="297" r:id="rId21"/>
    <p:sldId id="298" r:id="rId22"/>
    <p:sldId id="299" r:id="rId23"/>
    <p:sldId id="288" r:id="rId24"/>
    <p:sldId id="264" r:id="rId25"/>
    <p:sldId id="30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9C2"/>
    <a:srgbClr val="798B7C"/>
    <a:srgbClr val="5B6A5E"/>
    <a:srgbClr val="D8D2CD"/>
    <a:srgbClr val="A5A5A5"/>
    <a:srgbClr val="BEB9AA"/>
    <a:srgbClr val="AA9D92"/>
    <a:srgbClr val="F2F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6" autoAdjust="0"/>
    <p:restoredTop sz="93595" autoAdjust="0"/>
  </p:normalViewPr>
  <p:slideViewPr>
    <p:cSldViewPr snapToGrid="0">
      <p:cViewPr>
        <p:scale>
          <a:sx n="82" d="100"/>
          <a:sy n="82" d="100"/>
        </p:scale>
        <p:origin x="894" y="60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045C1-8703-4ABD-8AB9-3FB734A8F51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A9CABF-4BA4-4E01-A320-077EEECDB4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Problem Statement</a:t>
          </a:r>
          <a:endParaRPr lang="en-US" sz="2000" dirty="0"/>
        </a:p>
      </dgm:t>
    </dgm:pt>
    <dgm:pt modelId="{55450506-44E8-4874-88F8-75AF5FBFE223}" type="parTrans" cxnId="{82DDDB6C-41DE-4354-A156-F282CA8C1D6A}">
      <dgm:prSet/>
      <dgm:spPr/>
      <dgm:t>
        <a:bodyPr/>
        <a:lstStyle/>
        <a:p>
          <a:endParaRPr lang="en-US"/>
        </a:p>
      </dgm:t>
    </dgm:pt>
    <dgm:pt modelId="{50250722-AFD5-4EBA-9DC3-3E1E2D4E1A8F}" type="sibTrans" cxnId="{82DDDB6C-41DE-4354-A156-F282CA8C1D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2E852A-F533-41A3-97F2-AF4068548A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Data Overview</a:t>
          </a:r>
          <a:endParaRPr lang="en-US" sz="2000" dirty="0"/>
        </a:p>
      </dgm:t>
    </dgm:pt>
    <dgm:pt modelId="{CB104BFE-1D3D-4FE0-8511-2223B72DA13A}" type="parTrans" cxnId="{1372B85E-B425-4F8B-A2C9-4756011815DC}">
      <dgm:prSet/>
      <dgm:spPr/>
      <dgm:t>
        <a:bodyPr/>
        <a:lstStyle/>
        <a:p>
          <a:endParaRPr lang="en-US"/>
        </a:p>
      </dgm:t>
    </dgm:pt>
    <dgm:pt modelId="{AF967550-EEB5-4D1A-BE3A-41D679A6C714}" type="sibTrans" cxnId="{1372B85E-B425-4F8B-A2C9-4756011815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24E5B3-DA21-4001-A956-EEB44DD7B27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Workflow</a:t>
          </a:r>
          <a:endParaRPr lang="en-US" sz="2000" dirty="0"/>
        </a:p>
      </dgm:t>
    </dgm:pt>
    <dgm:pt modelId="{D1201F54-BD2E-4DE7-B70F-99D8CE2C1AED}" type="parTrans" cxnId="{CBD5DA90-320C-40EE-AF59-358FB19E0F45}">
      <dgm:prSet/>
      <dgm:spPr/>
      <dgm:t>
        <a:bodyPr/>
        <a:lstStyle/>
        <a:p>
          <a:endParaRPr lang="en-US"/>
        </a:p>
      </dgm:t>
    </dgm:pt>
    <dgm:pt modelId="{A7D803F4-7245-448C-BBEE-8929A195E30A}" type="sibTrans" cxnId="{CBD5DA90-320C-40EE-AF59-358FB19E0F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BFDD71-CEDE-4D01-9C07-2F47CD6DB7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Key Metrics &amp; Insights</a:t>
          </a:r>
          <a:endParaRPr lang="en-US" sz="2000" dirty="0"/>
        </a:p>
      </dgm:t>
    </dgm:pt>
    <dgm:pt modelId="{9615D824-1C52-4E85-BBFD-5B09B24F3684}" type="parTrans" cxnId="{5B2BC855-A38B-418C-B3A8-C95DF3BFBC1C}">
      <dgm:prSet/>
      <dgm:spPr/>
      <dgm:t>
        <a:bodyPr/>
        <a:lstStyle/>
        <a:p>
          <a:endParaRPr lang="en-US"/>
        </a:p>
      </dgm:t>
    </dgm:pt>
    <dgm:pt modelId="{D72A7636-7C1E-4CC2-B847-7512CCBBDB6B}" type="sibTrans" cxnId="{5B2BC855-A38B-418C-B3A8-C95DF3BFBC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B65F97-B90D-4DAE-9141-544DA80557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Recommendations</a:t>
          </a:r>
          <a:endParaRPr lang="en-US" sz="2000" dirty="0"/>
        </a:p>
      </dgm:t>
    </dgm:pt>
    <dgm:pt modelId="{D2A61694-1E62-4361-93E6-58BF29CCE2F8}" type="parTrans" cxnId="{C53296B5-8393-4BB4-B1BE-DA363A015DC6}">
      <dgm:prSet/>
      <dgm:spPr/>
      <dgm:t>
        <a:bodyPr/>
        <a:lstStyle/>
        <a:p>
          <a:endParaRPr lang="en-US"/>
        </a:p>
      </dgm:t>
    </dgm:pt>
    <dgm:pt modelId="{2C88ACE3-7552-4F73-917E-01BB10ABE5ED}" type="sibTrans" cxnId="{C53296B5-8393-4BB4-B1BE-DA363A015D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4A9058-B7CC-4915-A034-2F99EC7FE7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Conclusion</a:t>
          </a:r>
          <a:endParaRPr lang="en-US" sz="2000" dirty="0"/>
        </a:p>
      </dgm:t>
    </dgm:pt>
    <dgm:pt modelId="{B07576AC-4DE9-45C0-B436-48C95AEA3F72}" type="parTrans" cxnId="{5DD06C0C-68C8-4333-9F11-6DB2B5344C61}">
      <dgm:prSet/>
      <dgm:spPr/>
      <dgm:t>
        <a:bodyPr/>
        <a:lstStyle/>
        <a:p>
          <a:endParaRPr lang="en-US"/>
        </a:p>
      </dgm:t>
    </dgm:pt>
    <dgm:pt modelId="{53BF06CB-E469-4BCA-840C-E1055423856C}" type="sibTrans" cxnId="{5DD06C0C-68C8-4333-9F11-6DB2B5344C61}">
      <dgm:prSet/>
      <dgm:spPr/>
      <dgm:t>
        <a:bodyPr/>
        <a:lstStyle/>
        <a:p>
          <a:endParaRPr lang="en-US"/>
        </a:p>
      </dgm:t>
    </dgm:pt>
    <dgm:pt modelId="{93E710CC-9B9A-46C2-AB28-2E3DC2A01471}" type="pres">
      <dgm:prSet presAssocID="{217045C1-8703-4ABD-8AB9-3FB734A8F512}" presName="root" presStyleCnt="0">
        <dgm:presLayoutVars>
          <dgm:dir/>
          <dgm:resizeHandles val="exact"/>
        </dgm:presLayoutVars>
      </dgm:prSet>
      <dgm:spPr/>
    </dgm:pt>
    <dgm:pt modelId="{349C801C-7BF7-4779-A661-760ACEF151AD}" type="pres">
      <dgm:prSet presAssocID="{217045C1-8703-4ABD-8AB9-3FB734A8F512}" presName="container" presStyleCnt="0">
        <dgm:presLayoutVars>
          <dgm:dir/>
          <dgm:resizeHandles val="exact"/>
        </dgm:presLayoutVars>
      </dgm:prSet>
      <dgm:spPr/>
    </dgm:pt>
    <dgm:pt modelId="{3BE17CF7-2ED5-4DA4-B0DF-5C19EB84A045}" type="pres">
      <dgm:prSet presAssocID="{8AA9CABF-4BA4-4E01-A320-077EEECDB44F}" presName="compNode" presStyleCnt="0"/>
      <dgm:spPr/>
    </dgm:pt>
    <dgm:pt modelId="{BC0E5732-C891-4AE5-9C0F-23127C80B05A}" type="pres">
      <dgm:prSet presAssocID="{8AA9CABF-4BA4-4E01-A320-077EEECDB44F}" presName="iconBgRect" presStyleLbl="bgShp" presStyleIdx="0" presStyleCnt="6"/>
      <dgm:spPr>
        <a:solidFill>
          <a:srgbClr val="5B6A5E"/>
        </a:solidFill>
      </dgm:spPr>
    </dgm:pt>
    <dgm:pt modelId="{2BE090DA-8BB9-48F2-99BE-B94D93DBB5A3}" type="pres">
      <dgm:prSet presAssocID="{8AA9CABF-4BA4-4E01-A320-077EEECDB44F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E845B16-6FA0-4078-A58C-47F312D44EBC}" type="pres">
      <dgm:prSet presAssocID="{8AA9CABF-4BA4-4E01-A320-077EEECDB44F}" presName="spaceRect" presStyleCnt="0"/>
      <dgm:spPr/>
    </dgm:pt>
    <dgm:pt modelId="{84CBCBB9-77EF-4712-840B-77C6C349EB9D}" type="pres">
      <dgm:prSet presAssocID="{8AA9CABF-4BA4-4E01-A320-077EEECDB44F}" presName="textRect" presStyleLbl="revTx" presStyleIdx="0" presStyleCnt="6" custScaleX="124889" custLinFactNeighborX="11063" custLinFactNeighborY="1441">
        <dgm:presLayoutVars>
          <dgm:chMax val="1"/>
          <dgm:chPref val="1"/>
        </dgm:presLayoutVars>
      </dgm:prSet>
      <dgm:spPr/>
    </dgm:pt>
    <dgm:pt modelId="{22F6E6BE-11CA-4B07-AE25-F60BB72F9B9D}" type="pres">
      <dgm:prSet presAssocID="{50250722-AFD5-4EBA-9DC3-3E1E2D4E1A8F}" presName="sibTrans" presStyleLbl="sibTrans2D1" presStyleIdx="0" presStyleCnt="0"/>
      <dgm:spPr/>
    </dgm:pt>
    <dgm:pt modelId="{EB42C3B5-E530-4C04-B683-B9E27B076230}" type="pres">
      <dgm:prSet presAssocID="{9A2E852A-F533-41A3-97F2-AF4068548AC1}" presName="compNode" presStyleCnt="0"/>
      <dgm:spPr/>
    </dgm:pt>
    <dgm:pt modelId="{BD7EA5CE-EA62-4BA6-9F3D-6FA13EA7101A}" type="pres">
      <dgm:prSet presAssocID="{9A2E852A-F533-41A3-97F2-AF4068548AC1}" presName="iconBgRect" presStyleLbl="bgShp" presStyleIdx="1" presStyleCnt="6"/>
      <dgm:spPr>
        <a:solidFill>
          <a:srgbClr val="5B6A5E"/>
        </a:solidFill>
      </dgm:spPr>
    </dgm:pt>
    <dgm:pt modelId="{3C0C3920-0EA4-40B0-BC4F-7036D72B0AE6}" type="pres">
      <dgm:prSet presAssocID="{9A2E852A-F533-41A3-97F2-AF4068548AC1}" presName="icon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lt1">
              <a:hueOff val="0"/>
              <a:satOff val="0"/>
              <a:lumOff val="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68EC318-E36C-49B7-AB55-7FF3DACC84BF}" type="pres">
      <dgm:prSet presAssocID="{9A2E852A-F533-41A3-97F2-AF4068548AC1}" presName="spaceRect" presStyleCnt="0"/>
      <dgm:spPr/>
    </dgm:pt>
    <dgm:pt modelId="{38ED4120-BF1F-453C-A116-343922EAE190}" type="pres">
      <dgm:prSet presAssocID="{9A2E852A-F533-41A3-97F2-AF4068548AC1}" presName="textRect" presStyleLbl="revTx" presStyleIdx="1" presStyleCnt="6">
        <dgm:presLayoutVars>
          <dgm:chMax val="1"/>
          <dgm:chPref val="1"/>
        </dgm:presLayoutVars>
      </dgm:prSet>
      <dgm:spPr/>
    </dgm:pt>
    <dgm:pt modelId="{4E7E5E8C-0FAE-48C8-A31B-732323DFC04D}" type="pres">
      <dgm:prSet presAssocID="{AF967550-EEB5-4D1A-BE3A-41D679A6C714}" presName="sibTrans" presStyleLbl="sibTrans2D1" presStyleIdx="0" presStyleCnt="0"/>
      <dgm:spPr/>
    </dgm:pt>
    <dgm:pt modelId="{A1CC8389-682E-4293-B7A8-A7EF7238B6F9}" type="pres">
      <dgm:prSet presAssocID="{7324E5B3-DA21-4001-A956-EEB44DD7B275}" presName="compNode" presStyleCnt="0"/>
      <dgm:spPr/>
    </dgm:pt>
    <dgm:pt modelId="{5FD0001B-E03E-4F0B-B5AD-159951D249A9}" type="pres">
      <dgm:prSet presAssocID="{7324E5B3-DA21-4001-A956-EEB44DD7B275}" presName="iconBgRect" presStyleLbl="bgShp" presStyleIdx="2" presStyleCnt="6"/>
      <dgm:spPr>
        <a:solidFill>
          <a:srgbClr val="5B6A5E"/>
        </a:solidFill>
      </dgm:spPr>
    </dgm:pt>
    <dgm:pt modelId="{3AFCE580-3C16-48BC-9E27-900E4CBD46FA}" type="pres">
      <dgm:prSet presAssocID="{7324E5B3-DA21-4001-A956-EEB44DD7B275}" presName="iconRect" presStyleLbl="node1" presStyleIdx="2" presStyleCnt="6" custLinFactNeighborX="-1899" custLinFactNeighborY="3282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2556519-F846-4671-8BBB-DC365C98168B}" type="pres">
      <dgm:prSet presAssocID="{7324E5B3-DA21-4001-A956-EEB44DD7B275}" presName="spaceRect" presStyleCnt="0"/>
      <dgm:spPr/>
    </dgm:pt>
    <dgm:pt modelId="{37ED599C-460A-4E3A-90D0-D2B9740FEA3E}" type="pres">
      <dgm:prSet presAssocID="{7324E5B3-DA21-4001-A956-EEB44DD7B275}" presName="textRect" presStyleLbl="revTx" presStyleIdx="2" presStyleCnt="6" custScaleX="125348" custLinFactNeighborX="10911" custLinFactNeighborY="0">
        <dgm:presLayoutVars>
          <dgm:chMax val="1"/>
          <dgm:chPref val="1"/>
        </dgm:presLayoutVars>
      </dgm:prSet>
      <dgm:spPr/>
    </dgm:pt>
    <dgm:pt modelId="{D698BF37-91D6-4F6F-AFC7-048A3835CC58}" type="pres">
      <dgm:prSet presAssocID="{A7D803F4-7245-448C-BBEE-8929A195E30A}" presName="sibTrans" presStyleLbl="sibTrans2D1" presStyleIdx="0" presStyleCnt="0"/>
      <dgm:spPr/>
    </dgm:pt>
    <dgm:pt modelId="{DBC1A4C0-DA3E-48C0-BA59-0E40CC093A45}" type="pres">
      <dgm:prSet presAssocID="{27BFDD71-CEDE-4D01-9C07-2F47CD6DB719}" presName="compNode" presStyleCnt="0"/>
      <dgm:spPr/>
    </dgm:pt>
    <dgm:pt modelId="{4967B8C6-A998-49AC-95B7-F649AC9A9E50}" type="pres">
      <dgm:prSet presAssocID="{27BFDD71-CEDE-4D01-9C07-2F47CD6DB719}" presName="iconBgRect" presStyleLbl="bgShp" presStyleIdx="3" presStyleCnt="6"/>
      <dgm:spPr>
        <a:solidFill>
          <a:srgbClr val="5B6A5E"/>
        </a:solidFill>
      </dgm:spPr>
    </dgm:pt>
    <dgm:pt modelId="{21E94EF9-3092-46C0-902A-D5E23E6036F1}" type="pres">
      <dgm:prSet presAssocID="{27BFDD71-CEDE-4D01-9C07-2F47CD6DB719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9D2B25-78D6-4F97-B6E9-E315E5FC03D6}" type="pres">
      <dgm:prSet presAssocID="{27BFDD71-CEDE-4D01-9C07-2F47CD6DB719}" presName="spaceRect" presStyleCnt="0"/>
      <dgm:spPr/>
    </dgm:pt>
    <dgm:pt modelId="{41D2CA8D-FB0D-4722-A084-D094CE6D99E7}" type="pres">
      <dgm:prSet presAssocID="{27BFDD71-CEDE-4D01-9C07-2F47CD6DB719}" presName="textRect" presStyleLbl="revTx" presStyleIdx="3" presStyleCnt="6">
        <dgm:presLayoutVars>
          <dgm:chMax val="1"/>
          <dgm:chPref val="1"/>
        </dgm:presLayoutVars>
      </dgm:prSet>
      <dgm:spPr/>
    </dgm:pt>
    <dgm:pt modelId="{F6545825-D5F2-4991-86C3-FB2195D5B1CC}" type="pres">
      <dgm:prSet presAssocID="{D72A7636-7C1E-4CC2-B847-7512CCBBDB6B}" presName="sibTrans" presStyleLbl="sibTrans2D1" presStyleIdx="0" presStyleCnt="0"/>
      <dgm:spPr/>
    </dgm:pt>
    <dgm:pt modelId="{207E3936-7CE0-4711-B83D-B4B1353B539E}" type="pres">
      <dgm:prSet presAssocID="{CAB65F97-B90D-4DAE-9141-544DA80557D8}" presName="compNode" presStyleCnt="0"/>
      <dgm:spPr/>
    </dgm:pt>
    <dgm:pt modelId="{E7564F7A-0C0E-4468-BF79-E2EE8D22C2FC}" type="pres">
      <dgm:prSet presAssocID="{CAB65F97-B90D-4DAE-9141-544DA80557D8}" presName="iconBgRect" presStyleLbl="bgShp" presStyleIdx="4" presStyleCnt="6"/>
      <dgm:spPr>
        <a:solidFill>
          <a:srgbClr val="5B6A5E"/>
        </a:solidFill>
      </dgm:spPr>
    </dgm:pt>
    <dgm:pt modelId="{93BFA15F-E195-4C91-B3A7-299D01CCCDE2}" type="pres">
      <dgm:prSet presAssocID="{CAB65F97-B90D-4DAE-9141-544DA80557D8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6D04DCB-5474-401D-8D18-304BA546541C}" type="pres">
      <dgm:prSet presAssocID="{CAB65F97-B90D-4DAE-9141-544DA80557D8}" presName="spaceRect" presStyleCnt="0"/>
      <dgm:spPr/>
    </dgm:pt>
    <dgm:pt modelId="{3AF60BD0-F35A-4F88-9DD7-AAC8855DF58A}" type="pres">
      <dgm:prSet presAssocID="{CAB65F97-B90D-4DAE-9141-544DA80557D8}" presName="textRect" presStyleLbl="revTx" presStyleIdx="4" presStyleCnt="6" custScaleX="128822" custLinFactNeighborX="12840" custLinFactNeighborY="-2882">
        <dgm:presLayoutVars>
          <dgm:chMax val="1"/>
          <dgm:chPref val="1"/>
        </dgm:presLayoutVars>
      </dgm:prSet>
      <dgm:spPr/>
    </dgm:pt>
    <dgm:pt modelId="{6440B959-11C8-4E7A-8B40-2BDEB300EDE6}" type="pres">
      <dgm:prSet presAssocID="{2C88ACE3-7552-4F73-917E-01BB10ABE5ED}" presName="sibTrans" presStyleLbl="sibTrans2D1" presStyleIdx="0" presStyleCnt="0"/>
      <dgm:spPr/>
    </dgm:pt>
    <dgm:pt modelId="{09862CC5-3D47-473C-91A7-B3A89F88332B}" type="pres">
      <dgm:prSet presAssocID="{C74A9058-B7CC-4915-A034-2F99EC7FE7D9}" presName="compNode" presStyleCnt="0"/>
      <dgm:spPr/>
    </dgm:pt>
    <dgm:pt modelId="{307F668C-7060-40C5-8E9B-30265F1D9682}" type="pres">
      <dgm:prSet presAssocID="{C74A9058-B7CC-4915-A034-2F99EC7FE7D9}" presName="iconBgRect" presStyleLbl="bgShp" presStyleIdx="5" presStyleCnt="6"/>
      <dgm:spPr>
        <a:solidFill>
          <a:srgbClr val="5B6A5E"/>
        </a:solidFill>
      </dgm:spPr>
    </dgm:pt>
    <dgm:pt modelId="{034C7060-0B63-42AD-8367-B82BC74E4222}" type="pres">
      <dgm:prSet presAssocID="{C74A9058-B7CC-4915-A034-2F99EC7FE7D9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9CBAF4-5F89-4DBC-AF0A-79D8188981CA}" type="pres">
      <dgm:prSet presAssocID="{C74A9058-B7CC-4915-A034-2F99EC7FE7D9}" presName="spaceRect" presStyleCnt="0"/>
      <dgm:spPr/>
    </dgm:pt>
    <dgm:pt modelId="{4F54A5D5-F4A7-4B7D-B011-2F17731D3EC4}" type="pres">
      <dgm:prSet presAssocID="{C74A9058-B7CC-4915-A034-2F99EC7FE7D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DD06C0C-68C8-4333-9F11-6DB2B5344C61}" srcId="{217045C1-8703-4ABD-8AB9-3FB734A8F512}" destId="{C74A9058-B7CC-4915-A034-2F99EC7FE7D9}" srcOrd="5" destOrd="0" parTransId="{B07576AC-4DE9-45C0-B436-48C95AEA3F72}" sibTransId="{53BF06CB-E469-4BCA-840C-E1055423856C}"/>
    <dgm:cxn modelId="{2BE45514-1992-47C7-A5C7-BDEBCBE1EC5C}" type="presOf" srcId="{217045C1-8703-4ABD-8AB9-3FB734A8F512}" destId="{93E710CC-9B9A-46C2-AB28-2E3DC2A01471}" srcOrd="0" destOrd="0" presId="urn:microsoft.com/office/officeart/2018/2/layout/IconCircleList"/>
    <dgm:cxn modelId="{FBE4C914-6945-42E3-86F3-ABDF2A856781}" type="presOf" srcId="{CAB65F97-B90D-4DAE-9141-544DA80557D8}" destId="{3AF60BD0-F35A-4F88-9DD7-AAC8855DF58A}" srcOrd="0" destOrd="0" presId="urn:microsoft.com/office/officeart/2018/2/layout/IconCircleList"/>
    <dgm:cxn modelId="{A907E332-D7C6-42B7-9801-E335469CFC8C}" type="presOf" srcId="{8AA9CABF-4BA4-4E01-A320-077EEECDB44F}" destId="{84CBCBB9-77EF-4712-840B-77C6C349EB9D}" srcOrd="0" destOrd="0" presId="urn:microsoft.com/office/officeart/2018/2/layout/IconCircleList"/>
    <dgm:cxn modelId="{0FC22E40-6ED6-4649-851C-4515AFBD2342}" type="presOf" srcId="{27BFDD71-CEDE-4D01-9C07-2F47CD6DB719}" destId="{41D2CA8D-FB0D-4722-A084-D094CE6D99E7}" srcOrd="0" destOrd="0" presId="urn:microsoft.com/office/officeart/2018/2/layout/IconCircleList"/>
    <dgm:cxn modelId="{1372B85E-B425-4F8B-A2C9-4756011815DC}" srcId="{217045C1-8703-4ABD-8AB9-3FB734A8F512}" destId="{9A2E852A-F533-41A3-97F2-AF4068548AC1}" srcOrd="1" destOrd="0" parTransId="{CB104BFE-1D3D-4FE0-8511-2223B72DA13A}" sibTransId="{AF967550-EEB5-4D1A-BE3A-41D679A6C714}"/>
    <dgm:cxn modelId="{6AAAF465-CEE6-4FC1-A201-AE6C106B1631}" type="presOf" srcId="{50250722-AFD5-4EBA-9DC3-3E1E2D4E1A8F}" destId="{22F6E6BE-11CA-4B07-AE25-F60BB72F9B9D}" srcOrd="0" destOrd="0" presId="urn:microsoft.com/office/officeart/2018/2/layout/IconCircleList"/>
    <dgm:cxn modelId="{7FA0C168-2058-44C7-A43E-100733CA2011}" type="presOf" srcId="{9A2E852A-F533-41A3-97F2-AF4068548AC1}" destId="{38ED4120-BF1F-453C-A116-343922EAE190}" srcOrd="0" destOrd="0" presId="urn:microsoft.com/office/officeart/2018/2/layout/IconCircleList"/>
    <dgm:cxn modelId="{82DDDB6C-41DE-4354-A156-F282CA8C1D6A}" srcId="{217045C1-8703-4ABD-8AB9-3FB734A8F512}" destId="{8AA9CABF-4BA4-4E01-A320-077EEECDB44F}" srcOrd="0" destOrd="0" parTransId="{55450506-44E8-4874-88F8-75AF5FBFE223}" sibTransId="{50250722-AFD5-4EBA-9DC3-3E1E2D4E1A8F}"/>
    <dgm:cxn modelId="{5B2BC855-A38B-418C-B3A8-C95DF3BFBC1C}" srcId="{217045C1-8703-4ABD-8AB9-3FB734A8F512}" destId="{27BFDD71-CEDE-4D01-9C07-2F47CD6DB719}" srcOrd="3" destOrd="0" parTransId="{9615D824-1C52-4E85-BBFD-5B09B24F3684}" sibTransId="{D72A7636-7C1E-4CC2-B847-7512CCBBDB6B}"/>
    <dgm:cxn modelId="{CBD5DA90-320C-40EE-AF59-358FB19E0F45}" srcId="{217045C1-8703-4ABD-8AB9-3FB734A8F512}" destId="{7324E5B3-DA21-4001-A956-EEB44DD7B275}" srcOrd="2" destOrd="0" parTransId="{D1201F54-BD2E-4DE7-B70F-99D8CE2C1AED}" sibTransId="{A7D803F4-7245-448C-BBEE-8929A195E30A}"/>
    <dgm:cxn modelId="{1114329F-23F5-4880-8F87-B16C69BC66E2}" type="presOf" srcId="{2C88ACE3-7552-4F73-917E-01BB10ABE5ED}" destId="{6440B959-11C8-4E7A-8B40-2BDEB300EDE6}" srcOrd="0" destOrd="0" presId="urn:microsoft.com/office/officeart/2018/2/layout/IconCircleList"/>
    <dgm:cxn modelId="{C53296B5-8393-4BB4-B1BE-DA363A015DC6}" srcId="{217045C1-8703-4ABD-8AB9-3FB734A8F512}" destId="{CAB65F97-B90D-4DAE-9141-544DA80557D8}" srcOrd="4" destOrd="0" parTransId="{D2A61694-1E62-4361-93E6-58BF29CCE2F8}" sibTransId="{2C88ACE3-7552-4F73-917E-01BB10ABE5ED}"/>
    <dgm:cxn modelId="{51B8B6C9-C28B-4FA4-A14A-F21DD96F1387}" type="presOf" srcId="{7324E5B3-DA21-4001-A956-EEB44DD7B275}" destId="{37ED599C-460A-4E3A-90D0-D2B9740FEA3E}" srcOrd="0" destOrd="0" presId="urn:microsoft.com/office/officeart/2018/2/layout/IconCircleList"/>
    <dgm:cxn modelId="{335257E6-52F9-4D93-8E90-04D925549527}" type="presOf" srcId="{AF967550-EEB5-4D1A-BE3A-41D679A6C714}" destId="{4E7E5E8C-0FAE-48C8-A31B-732323DFC04D}" srcOrd="0" destOrd="0" presId="urn:microsoft.com/office/officeart/2018/2/layout/IconCircleList"/>
    <dgm:cxn modelId="{0EAE97EE-F9EE-4A23-8035-134A7FB0A1DF}" type="presOf" srcId="{A7D803F4-7245-448C-BBEE-8929A195E30A}" destId="{D698BF37-91D6-4F6F-AFC7-048A3835CC58}" srcOrd="0" destOrd="0" presId="urn:microsoft.com/office/officeart/2018/2/layout/IconCircleList"/>
    <dgm:cxn modelId="{188B91F1-2F38-434D-83F1-1B512BFEE126}" type="presOf" srcId="{D72A7636-7C1E-4CC2-B847-7512CCBBDB6B}" destId="{F6545825-D5F2-4991-86C3-FB2195D5B1CC}" srcOrd="0" destOrd="0" presId="urn:microsoft.com/office/officeart/2018/2/layout/IconCircleList"/>
    <dgm:cxn modelId="{1993F1F9-FE19-45D5-A790-1D074F269DB0}" type="presOf" srcId="{C74A9058-B7CC-4915-A034-2F99EC7FE7D9}" destId="{4F54A5D5-F4A7-4B7D-B011-2F17731D3EC4}" srcOrd="0" destOrd="0" presId="urn:microsoft.com/office/officeart/2018/2/layout/IconCircleList"/>
    <dgm:cxn modelId="{9B48C475-8479-40FC-97B5-85A90FBB5463}" type="presParOf" srcId="{93E710CC-9B9A-46C2-AB28-2E3DC2A01471}" destId="{349C801C-7BF7-4779-A661-760ACEF151AD}" srcOrd="0" destOrd="0" presId="urn:microsoft.com/office/officeart/2018/2/layout/IconCircleList"/>
    <dgm:cxn modelId="{371999AC-2290-4B8D-B895-EBA96A5025E9}" type="presParOf" srcId="{349C801C-7BF7-4779-A661-760ACEF151AD}" destId="{3BE17CF7-2ED5-4DA4-B0DF-5C19EB84A045}" srcOrd="0" destOrd="0" presId="urn:microsoft.com/office/officeart/2018/2/layout/IconCircleList"/>
    <dgm:cxn modelId="{33755B67-6D57-4D14-B495-D0AEAD26DC21}" type="presParOf" srcId="{3BE17CF7-2ED5-4DA4-B0DF-5C19EB84A045}" destId="{BC0E5732-C891-4AE5-9C0F-23127C80B05A}" srcOrd="0" destOrd="0" presId="urn:microsoft.com/office/officeart/2018/2/layout/IconCircleList"/>
    <dgm:cxn modelId="{4C6022F8-D7C7-4DA9-A07D-41450F86A2BB}" type="presParOf" srcId="{3BE17CF7-2ED5-4DA4-B0DF-5C19EB84A045}" destId="{2BE090DA-8BB9-48F2-99BE-B94D93DBB5A3}" srcOrd="1" destOrd="0" presId="urn:microsoft.com/office/officeart/2018/2/layout/IconCircleList"/>
    <dgm:cxn modelId="{5A363E11-E486-4921-B855-D34E1B5AE598}" type="presParOf" srcId="{3BE17CF7-2ED5-4DA4-B0DF-5C19EB84A045}" destId="{6E845B16-6FA0-4078-A58C-47F312D44EBC}" srcOrd="2" destOrd="0" presId="urn:microsoft.com/office/officeart/2018/2/layout/IconCircleList"/>
    <dgm:cxn modelId="{499BEA73-ACFF-4308-A28E-BFDCAC79F7FD}" type="presParOf" srcId="{3BE17CF7-2ED5-4DA4-B0DF-5C19EB84A045}" destId="{84CBCBB9-77EF-4712-840B-77C6C349EB9D}" srcOrd="3" destOrd="0" presId="urn:microsoft.com/office/officeart/2018/2/layout/IconCircleList"/>
    <dgm:cxn modelId="{58D982DC-A47C-4E90-BEBD-670BB34FEBBA}" type="presParOf" srcId="{349C801C-7BF7-4779-A661-760ACEF151AD}" destId="{22F6E6BE-11CA-4B07-AE25-F60BB72F9B9D}" srcOrd="1" destOrd="0" presId="urn:microsoft.com/office/officeart/2018/2/layout/IconCircleList"/>
    <dgm:cxn modelId="{C9E22AC5-DFC6-4C8C-9A56-D8BF1770EE4C}" type="presParOf" srcId="{349C801C-7BF7-4779-A661-760ACEF151AD}" destId="{EB42C3B5-E530-4C04-B683-B9E27B076230}" srcOrd="2" destOrd="0" presId="urn:microsoft.com/office/officeart/2018/2/layout/IconCircleList"/>
    <dgm:cxn modelId="{85448401-2D0F-4905-A35E-AD2ABD19FD50}" type="presParOf" srcId="{EB42C3B5-E530-4C04-B683-B9E27B076230}" destId="{BD7EA5CE-EA62-4BA6-9F3D-6FA13EA7101A}" srcOrd="0" destOrd="0" presId="urn:microsoft.com/office/officeart/2018/2/layout/IconCircleList"/>
    <dgm:cxn modelId="{470E3DA4-0885-438F-8A6B-3E3A20FA9154}" type="presParOf" srcId="{EB42C3B5-E530-4C04-B683-B9E27B076230}" destId="{3C0C3920-0EA4-40B0-BC4F-7036D72B0AE6}" srcOrd="1" destOrd="0" presId="urn:microsoft.com/office/officeart/2018/2/layout/IconCircleList"/>
    <dgm:cxn modelId="{7BBB2DEF-381A-4FCD-8F6D-48815655EE25}" type="presParOf" srcId="{EB42C3B5-E530-4C04-B683-B9E27B076230}" destId="{568EC318-E36C-49B7-AB55-7FF3DACC84BF}" srcOrd="2" destOrd="0" presId="urn:microsoft.com/office/officeart/2018/2/layout/IconCircleList"/>
    <dgm:cxn modelId="{D17B6491-78A0-4C3C-949B-000A38221658}" type="presParOf" srcId="{EB42C3B5-E530-4C04-B683-B9E27B076230}" destId="{38ED4120-BF1F-453C-A116-343922EAE190}" srcOrd="3" destOrd="0" presId="urn:microsoft.com/office/officeart/2018/2/layout/IconCircleList"/>
    <dgm:cxn modelId="{1A3F9D9B-C05F-4992-867C-2D3BC10587CE}" type="presParOf" srcId="{349C801C-7BF7-4779-A661-760ACEF151AD}" destId="{4E7E5E8C-0FAE-48C8-A31B-732323DFC04D}" srcOrd="3" destOrd="0" presId="urn:microsoft.com/office/officeart/2018/2/layout/IconCircleList"/>
    <dgm:cxn modelId="{216B40CC-32DC-4D37-A347-DB440E0518E6}" type="presParOf" srcId="{349C801C-7BF7-4779-A661-760ACEF151AD}" destId="{A1CC8389-682E-4293-B7A8-A7EF7238B6F9}" srcOrd="4" destOrd="0" presId="urn:microsoft.com/office/officeart/2018/2/layout/IconCircleList"/>
    <dgm:cxn modelId="{C3E9BE60-CDBC-49A6-B569-067B6EBF3397}" type="presParOf" srcId="{A1CC8389-682E-4293-B7A8-A7EF7238B6F9}" destId="{5FD0001B-E03E-4F0B-B5AD-159951D249A9}" srcOrd="0" destOrd="0" presId="urn:microsoft.com/office/officeart/2018/2/layout/IconCircleList"/>
    <dgm:cxn modelId="{D8931D17-8C4E-4BE6-A9BD-84C6168927F4}" type="presParOf" srcId="{A1CC8389-682E-4293-B7A8-A7EF7238B6F9}" destId="{3AFCE580-3C16-48BC-9E27-900E4CBD46FA}" srcOrd="1" destOrd="0" presId="urn:microsoft.com/office/officeart/2018/2/layout/IconCircleList"/>
    <dgm:cxn modelId="{85946985-9503-4B3D-A655-331EB509869D}" type="presParOf" srcId="{A1CC8389-682E-4293-B7A8-A7EF7238B6F9}" destId="{F2556519-F846-4671-8BBB-DC365C98168B}" srcOrd="2" destOrd="0" presId="urn:microsoft.com/office/officeart/2018/2/layout/IconCircleList"/>
    <dgm:cxn modelId="{A657F8E3-29EC-457E-B5B1-1175F5B0D180}" type="presParOf" srcId="{A1CC8389-682E-4293-B7A8-A7EF7238B6F9}" destId="{37ED599C-460A-4E3A-90D0-D2B9740FEA3E}" srcOrd="3" destOrd="0" presId="urn:microsoft.com/office/officeart/2018/2/layout/IconCircleList"/>
    <dgm:cxn modelId="{F2D586A9-1A39-480A-83BB-2C305A6D43F5}" type="presParOf" srcId="{349C801C-7BF7-4779-A661-760ACEF151AD}" destId="{D698BF37-91D6-4F6F-AFC7-048A3835CC58}" srcOrd="5" destOrd="0" presId="urn:microsoft.com/office/officeart/2018/2/layout/IconCircleList"/>
    <dgm:cxn modelId="{7FBF98B7-E91E-4ADD-B9EB-E2A64C86BA25}" type="presParOf" srcId="{349C801C-7BF7-4779-A661-760ACEF151AD}" destId="{DBC1A4C0-DA3E-48C0-BA59-0E40CC093A45}" srcOrd="6" destOrd="0" presId="urn:microsoft.com/office/officeart/2018/2/layout/IconCircleList"/>
    <dgm:cxn modelId="{A332C2B0-E1EB-44D8-AB71-4CA25C114E9E}" type="presParOf" srcId="{DBC1A4C0-DA3E-48C0-BA59-0E40CC093A45}" destId="{4967B8C6-A998-49AC-95B7-F649AC9A9E50}" srcOrd="0" destOrd="0" presId="urn:microsoft.com/office/officeart/2018/2/layout/IconCircleList"/>
    <dgm:cxn modelId="{D6E6910D-C88D-4A84-8631-080A34ABC860}" type="presParOf" srcId="{DBC1A4C0-DA3E-48C0-BA59-0E40CC093A45}" destId="{21E94EF9-3092-46C0-902A-D5E23E6036F1}" srcOrd="1" destOrd="0" presId="urn:microsoft.com/office/officeart/2018/2/layout/IconCircleList"/>
    <dgm:cxn modelId="{C1BA3F82-A8FD-4CC9-9AF5-C006402FFD2A}" type="presParOf" srcId="{DBC1A4C0-DA3E-48C0-BA59-0E40CC093A45}" destId="{2D9D2B25-78D6-4F97-B6E9-E315E5FC03D6}" srcOrd="2" destOrd="0" presId="urn:microsoft.com/office/officeart/2018/2/layout/IconCircleList"/>
    <dgm:cxn modelId="{44138193-455A-4EBD-8D75-E1465026F45D}" type="presParOf" srcId="{DBC1A4C0-DA3E-48C0-BA59-0E40CC093A45}" destId="{41D2CA8D-FB0D-4722-A084-D094CE6D99E7}" srcOrd="3" destOrd="0" presId="urn:microsoft.com/office/officeart/2018/2/layout/IconCircleList"/>
    <dgm:cxn modelId="{C992D148-0A6C-4963-9FA1-FFF70B34839C}" type="presParOf" srcId="{349C801C-7BF7-4779-A661-760ACEF151AD}" destId="{F6545825-D5F2-4991-86C3-FB2195D5B1CC}" srcOrd="7" destOrd="0" presId="urn:microsoft.com/office/officeart/2018/2/layout/IconCircleList"/>
    <dgm:cxn modelId="{E3BC2A37-BDA4-4AF0-B82F-C3F92A5E4703}" type="presParOf" srcId="{349C801C-7BF7-4779-A661-760ACEF151AD}" destId="{207E3936-7CE0-4711-B83D-B4B1353B539E}" srcOrd="8" destOrd="0" presId="urn:microsoft.com/office/officeart/2018/2/layout/IconCircleList"/>
    <dgm:cxn modelId="{CA3E97BE-99DB-41F1-9BF3-3497BC6D4246}" type="presParOf" srcId="{207E3936-7CE0-4711-B83D-B4B1353B539E}" destId="{E7564F7A-0C0E-4468-BF79-E2EE8D22C2FC}" srcOrd="0" destOrd="0" presId="urn:microsoft.com/office/officeart/2018/2/layout/IconCircleList"/>
    <dgm:cxn modelId="{7C942163-809A-40B3-852B-6ED5ED73C9F3}" type="presParOf" srcId="{207E3936-7CE0-4711-B83D-B4B1353B539E}" destId="{93BFA15F-E195-4C91-B3A7-299D01CCCDE2}" srcOrd="1" destOrd="0" presId="urn:microsoft.com/office/officeart/2018/2/layout/IconCircleList"/>
    <dgm:cxn modelId="{0599BDDD-406F-4D4B-9215-73D7331B5213}" type="presParOf" srcId="{207E3936-7CE0-4711-B83D-B4B1353B539E}" destId="{C6D04DCB-5474-401D-8D18-304BA546541C}" srcOrd="2" destOrd="0" presId="urn:microsoft.com/office/officeart/2018/2/layout/IconCircleList"/>
    <dgm:cxn modelId="{EBEA14C0-E4EF-41D3-824C-CAEC53E95594}" type="presParOf" srcId="{207E3936-7CE0-4711-B83D-B4B1353B539E}" destId="{3AF60BD0-F35A-4F88-9DD7-AAC8855DF58A}" srcOrd="3" destOrd="0" presId="urn:microsoft.com/office/officeart/2018/2/layout/IconCircleList"/>
    <dgm:cxn modelId="{3D89693C-C5AA-4AC3-B121-C0C60C688557}" type="presParOf" srcId="{349C801C-7BF7-4779-A661-760ACEF151AD}" destId="{6440B959-11C8-4E7A-8B40-2BDEB300EDE6}" srcOrd="9" destOrd="0" presId="urn:microsoft.com/office/officeart/2018/2/layout/IconCircleList"/>
    <dgm:cxn modelId="{EDEDF8D4-AD40-4692-AD19-A2D0FC5E8A27}" type="presParOf" srcId="{349C801C-7BF7-4779-A661-760ACEF151AD}" destId="{09862CC5-3D47-473C-91A7-B3A89F88332B}" srcOrd="10" destOrd="0" presId="urn:microsoft.com/office/officeart/2018/2/layout/IconCircleList"/>
    <dgm:cxn modelId="{1A2B9B67-4C1E-4BEB-8C36-3DCC25550133}" type="presParOf" srcId="{09862CC5-3D47-473C-91A7-B3A89F88332B}" destId="{307F668C-7060-40C5-8E9B-30265F1D9682}" srcOrd="0" destOrd="0" presId="urn:microsoft.com/office/officeart/2018/2/layout/IconCircleList"/>
    <dgm:cxn modelId="{87E883DA-A064-48CF-BD8D-C32E1F0E240B}" type="presParOf" srcId="{09862CC5-3D47-473C-91A7-B3A89F88332B}" destId="{034C7060-0B63-42AD-8367-B82BC74E4222}" srcOrd="1" destOrd="0" presId="urn:microsoft.com/office/officeart/2018/2/layout/IconCircleList"/>
    <dgm:cxn modelId="{A8CFD37A-1E8D-4E04-85D0-739392DE8497}" type="presParOf" srcId="{09862CC5-3D47-473C-91A7-B3A89F88332B}" destId="{009CBAF4-5F89-4DBC-AF0A-79D8188981CA}" srcOrd="2" destOrd="0" presId="urn:microsoft.com/office/officeart/2018/2/layout/IconCircleList"/>
    <dgm:cxn modelId="{6B0C8EA7-5B4C-4A38-AD3B-206469E44283}" type="presParOf" srcId="{09862CC5-3D47-473C-91A7-B3A89F88332B}" destId="{4F54A5D5-F4A7-4B7D-B011-2F17731D3EC4}" srcOrd="3" destOrd="0" presId="urn:microsoft.com/office/officeart/2018/2/layout/IconCircle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E5732-C891-4AE5-9C0F-23127C80B05A}">
      <dsp:nvSpPr>
        <dsp:cNvPr id="0" name=""/>
        <dsp:cNvSpPr/>
      </dsp:nvSpPr>
      <dsp:spPr>
        <a:xfrm>
          <a:off x="849765" y="62122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090DA-8BB9-48F2-99BE-B94D93DBB5A3}">
      <dsp:nvSpPr>
        <dsp:cNvPr id="0" name=""/>
        <dsp:cNvSpPr/>
      </dsp:nvSpPr>
      <dsp:spPr>
        <a:xfrm>
          <a:off x="1020578" y="232935"/>
          <a:ext cx="471769" cy="47176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BCBB9-77EF-4712-840B-77C6C349EB9D}">
      <dsp:nvSpPr>
        <dsp:cNvPr id="0" name=""/>
        <dsp:cNvSpPr/>
      </dsp:nvSpPr>
      <dsp:spPr>
        <a:xfrm>
          <a:off x="1810972" y="73843"/>
          <a:ext cx="2394483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 Statement</a:t>
          </a:r>
          <a:endParaRPr lang="en-US" sz="2000" kern="1200" dirty="0"/>
        </a:p>
      </dsp:txBody>
      <dsp:txXfrm>
        <a:off x="1810972" y="73843"/>
        <a:ext cx="2394483" cy="813395"/>
      </dsp:txXfrm>
    </dsp:sp>
    <dsp:sp modelId="{BD7EA5CE-EA62-4BA6-9F3D-6FA13EA7101A}">
      <dsp:nvSpPr>
        <dsp:cNvPr id="0" name=""/>
        <dsp:cNvSpPr/>
      </dsp:nvSpPr>
      <dsp:spPr>
        <a:xfrm>
          <a:off x="4327419" y="62122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C3920-0EA4-40B0-BC4F-7036D72B0AE6}">
      <dsp:nvSpPr>
        <dsp:cNvPr id="0" name=""/>
        <dsp:cNvSpPr/>
      </dsp:nvSpPr>
      <dsp:spPr>
        <a:xfrm>
          <a:off x="4498232" y="232935"/>
          <a:ext cx="471769" cy="47176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D4120-BF1F-453C-A116-343922EAE190}">
      <dsp:nvSpPr>
        <dsp:cNvPr id="0" name=""/>
        <dsp:cNvSpPr/>
      </dsp:nvSpPr>
      <dsp:spPr>
        <a:xfrm>
          <a:off x="5315113" y="62122"/>
          <a:ext cx="1917289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Overview</a:t>
          </a:r>
          <a:endParaRPr lang="en-US" sz="2000" kern="1200" dirty="0"/>
        </a:p>
      </dsp:txBody>
      <dsp:txXfrm>
        <a:off x="5315113" y="62122"/>
        <a:ext cx="1917289" cy="813395"/>
      </dsp:txXfrm>
    </dsp:sp>
    <dsp:sp modelId="{5FD0001B-E03E-4F0B-B5AD-159951D249A9}">
      <dsp:nvSpPr>
        <dsp:cNvPr id="0" name=""/>
        <dsp:cNvSpPr/>
      </dsp:nvSpPr>
      <dsp:spPr>
        <a:xfrm>
          <a:off x="849765" y="1536052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CE580-3C16-48BC-9E27-900E4CBD46FA}">
      <dsp:nvSpPr>
        <dsp:cNvPr id="0" name=""/>
        <dsp:cNvSpPr/>
      </dsp:nvSpPr>
      <dsp:spPr>
        <a:xfrm>
          <a:off x="1011619" y="1722349"/>
          <a:ext cx="471769" cy="47176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D599C-460A-4E3A-90D0-D2B9740FEA3E}">
      <dsp:nvSpPr>
        <dsp:cNvPr id="0" name=""/>
        <dsp:cNvSpPr/>
      </dsp:nvSpPr>
      <dsp:spPr>
        <a:xfrm>
          <a:off x="1803657" y="1536052"/>
          <a:ext cx="2403283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Workflow</a:t>
          </a:r>
          <a:endParaRPr lang="en-US" sz="2000" kern="1200" dirty="0"/>
        </a:p>
      </dsp:txBody>
      <dsp:txXfrm>
        <a:off x="1803657" y="1536052"/>
        <a:ext cx="2403283" cy="813395"/>
      </dsp:txXfrm>
    </dsp:sp>
    <dsp:sp modelId="{4967B8C6-A998-49AC-95B7-F649AC9A9E50}">
      <dsp:nvSpPr>
        <dsp:cNvPr id="0" name=""/>
        <dsp:cNvSpPr/>
      </dsp:nvSpPr>
      <dsp:spPr>
        <a:xfrm>
          <a:off x="4331819" y="1536052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E94EF9-3092-46C0-902A-D5E23E6036F1}">
      <dsp:nvSpPr>
        <dsp:cNvPr id="0" name=""/>
        <dsp:cNvSpPr/>
      </dsp:nvSpPr>
      <dsp:spPr>
        <a:xfrm>
          <a:off x="4502632" y="1706865"/>
          <a:ext cx="471769" cy="47176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2CA8D-FB0D-4722-A084-D094CE6D99E7}">
      <dsp:nvSpPr>
        <dsp:cNvPr id="0" name=""/>
        <dsp:cNvSpPr/>
      </dsp:nvSpPr>
      <dsp:spPr>
        <a:xfrm>
          <a:off x="5319514" y="1536052"/>
          <a:ext cx="1917289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Key Metrics &amp; Insights</a:t>
          </a:r>
          <a:endParaRPr lang="en-US" sz="2000" kern="1200" dirty="0"/>
        </a:p>
      </dsp:txBody>
      <dsp:txXfrm>
        <a:off x="5319514" y="1536052"/>
        <a:ext cx="1917289" cy="813395"/>
      </dsp:txXfrm>
    </dsp:sp>
    <dsp:sp modelId="{E7564F7A-0C0E-4468-BF79-E2EE8D22C2FC}">
      <dsp:nvSpPr>
        <dsp:cNvPr id="0" name=""/>
        <dsp:cNvSpPr/>
      </dsp:nvSpPr>
      <dsp:spPr>
        <a:xfrm>
          <a:off x="849765" y="3009983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FA15F-E195-4C91-B3A7-299D01CCCDE2}">
      <dsp:nvSpPr>
        <dsp:cNvPr id="0" name=""/>
        <dsp:cNvSpPr/>
      </dsp:nvSpPr>
      <dsp:spPr>
        <a:xfrm>
          <a:off x="1020578" y="3180796"/>
          <a:ext cx="471769" cy="47176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60BD0-F35A-4F88-9DD7-AAC8855DF58A}">
      <dsp:nvSpPr>
        <dsp:cNvPr id="0" name=""/>
        <dsp:cNvSpPr/>
      </dsp:nvSpPr>
      <dsp:spPr>
        <a:xfrm>
          <a:off x="1807339" y="2986541"/>
          <a:ext cx="2469890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Recommendations</a:t>
          </a:r>
          <a:endParaRPr lang="en-US" sz="2000" kern="1200" dirty="0"/>
        </a:p>
      </dsp:txBody>
      <dsp:txXfrm>
        <a:off x="1807339" y="2986541"/>
        <a:ext cx="2469890" cy="813395"/>
      </dsp:txXfrm>
    </dsp:sp>
    <dsp:sp modelId="{307F668C-7060-40C5-8E9B-30265F1D9682}">
      <dsp:nvSpPr>
        <dsp:cNvPr id="0" name=""/>
        <dsp:cNvSpPr/>
      </dsp:nvSpPr>
      <dsp:spPr>
        <a:xfrm>
          <a:off x="4365122" y="3009983"/>
          <a:ext cx="813395" cy="813395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C7060-0B63-42AD-8367-B82BC74E4222}">
      <dsp:nvSpPr>
        <dsp:cNvPr id="0" name=""/>
        <dsp:cNvSpPr/>
      </dsp:nvSpPr>
      <dsp:spPr>
        <a:xfrm>
          <a:off x="4535935" y="3180796"/>
          <a:ext cx="471769" cy="471769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4A5D5-F4A7-4B7D-B011-2F17731D3EC4}">
      <dsp:nvSpPr>
        <dsp:cNvPr id="0" name=""/>
        <dsp:cNvSpPr/>
      </dsp:nvSpPr>
      <dsp:spPr>
        <a:xfrm>
          <a:off x="5352817" y="3009983"/>
          <a:ext cx="1917289" cy="813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Conclusion</a:t>
          </a:r>
          <a:endParaRPr lang="en-US" sz="2000" kern="1200" dirty="0"/>
        </a:p>
      </dsp:txBody>
      <dsp:txXfrm>
        <a:off x="5352817" y="3009983"/>
        <a:ext cx="1917289" cy="813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32" y="1315687"/>
            <a:ext cx="5181486" cy="4325093"/>
          </a:xfrm>
        </p:spPr>
        <p:txBody>
          <a:bodyPr>
            <a:normAutofit/>
          </a:bodyPr>
          <a:lstStyle/>
          <a:p>
            <a:r>
              <a:rPr lang="en-US" sz="4800" b="1" dirty="0"/>
              <a:t>Analytical CRM Development for a Bank</a:t>
            </a:r>
            <a:endParaRPr lang="en-US" sz="48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5132" y="4330042"/>
            <a:ext cx="3222058" cy="13107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A.VARSHITH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22/03/2026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70A77-B334-116B-E503-4A77C87A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941887" cy="5763429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127000" dist="88900" dir="2700000" sx="101000" sy="101000" algn="tl" rotWithShape="0">
              <a:prstClr val="black">
                <a:alpha val="43000"/>
              </a:prstClr>
            </a:outerShdw>
          </a:effec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26114F-22D9-D9D6-0A70-408041246988}"/>
              </a:ext>
            </a:extLst>
          </p:cNvPr>
          <p:cNvCxnSpPr>
            <a:cxnSpLocks/>
          </p:cNvCxnSpPr>
          <p:nvPr/>
        </p:nvCxnSpPr>
        <p:spPr>
          <a:xfrm>
            <a:off x="5846618" y="5731542"/>
            <a:ext cx="5457889" cy="0"/>
          </a:xfrm>
          <a:prstGeom prst="line">
            <a:avLst/>
          </a:prstGeom>
          <a:ln w="76200">
            <a:solidFill>
              <a:schemeClr val="bg1">
                <a:lumMod val="75000"/>
                <a:lumOff val="25000"/>
              </a:schemeClr>
            </a:solidFill>
          </a:ln>
          <a:effectLst>
            <a:outerShdw blurRad="50800" dist="38100" dir="6000000" algn="t" rotWithShape="0">
              <a:prstClr val="black">
                <a:alpha val="32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945" y="2579307"/>
            <a:ext cx="5181486" cy="224244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C9D20-1761-8FBD-30AF-5C09227FA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1333314"/>
              </p:ext>
            </p:extLst>
          </p:nvPr>
        </p:nvGraphicFramePr>
        <p:xfrm>
          <a:off x="3938778" y="1486249"/>
          <a:ext cx="8119872" cy="3885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326C-39A5-AE82-EF4F-704BBAEC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85A81-8677-4F41-60E3-9854F3EE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65" y="655010"/>
            <a:ext cx="6505620" cy="6553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37ECF-00B4-D31B-A741-DC8701109675}"/>
              </a:ext>
            </a:extLst>
          </p:cNvPr>
          <p:cNvSpPr txBox="1"/>
          <p:nvPr/>
        </p:nvSpPr>
        <p:spPr>
          <a:xfrm>
            <a:off x="626465" y="1993973"/>
            <a:ext cx="60118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are an analytical CRM (Customer Relationship Management) specialist hired by a bank to extract meaningful insights from customer-related datasets.</a:t>
            </a:r>
          </a:p>
          <a:p>
            <a:endParaRPr lang="en-US" dirty="0"/>
          </a:p>
          <a:p>
            <a:r>
              <a:rPr lang="en-US" dirty="0"/>
              <a:t>The bank aims to reduce customer churn, improve service delivery, and enhance customer satisfaction.</a:t>
            </a:r>
          </a:p>
          <a:p>
            <a:endParaRPr lang="en-US" dirty="0"/>
          </a:p>
          <a:p>
            <a:r>
              <a:rPr lang="en-US" dirty="0"/>
              <a:t>The datasets provided include customer demographics, transaction details, customer exit information, and active customer profiles.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334C5-73E5-9D7F-1F64-95C1C5C06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860301"/>
            <a:ext cx="7560939" cy="4678139"/>
          </a:xfrm>
          <a:prstGeom prst="rect">
            <a:avLst/>
          </a:prstGeom>
          <a:effectLst>
            <a:outerShdw blurRad="50800" dist="101600" dir="30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620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7">
            <a:extLst>
              <a:ext uri="{FF2B5EF4-FFF2-40B4-BE49-F238E27FC236}">
                <a16:creationId xmlns:a16="http://schemas.microsoft.com/office/drawing/2014/main" id="{4346FC97-A448-9FA2-E747-3B381BD21392}"/>
              </a:ext>
            </a:extLst>
          </p:cNvPr>
          <p:cNvSpPr txBox="1">
            <a:spLocks/>
          </p:cNvSpPr>
          <p:nvPr/>
        </p:nvSpPr>
        <p:spPr>
          <a:xfrm>
            <a:off x="3427763" y="-88548"/>
            <a:ext cx="5336474" cy="1340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IN" b="1" dirty="0"/>
              <a:t>Dataset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E60113-5EC1-11B5-186C-2A23381C5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2" y="1053422"/>
            <a:ext cx="10870335" cy="5323628"/>
          </a:xfrm>
          <a:prstGeom prst="rect">
            <a:avLst/>
          </a:prstGeom>
          <a:effectLst>
            <a:outerShdw blurRad="50800" dist="101600" dir="3000000" algn="tl" rotWithShape="0">
              <a:prstClr val="black">
                <a:alpha val="2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763" y="-88548"/>
            <a:ext cx="5336474" cy="1340615"/>
          </a:xfrm>
        </p:spPr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26E16-EA17-7884-0F79-D14BED1C3335}"/>
              </a:ext>
            </a:extLst>
          </p:cNvPr>
          <p:cNvSpPr txBox="1"/>
          <p:nvPr/>
        </p:nvSpPr>
        <p:spPr>
          <a:xfrm>
            <a:off x="1275162" y="1252067"/>
            <a:ext cx="4061361" cy="5034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project initially consisted of multiple datasets, including customer information, credit card details, activity status, geography, and exit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datasets were consolidated and transformed into a single master dataset using Excel Power Query for efficient analysis.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8B4CF-2D2E-ADE2-91FA-08F6B7ADF156}"/>
              </a:ext>
            </a:extLst>
          </p:cNvPr>
          <p:cNvSpPr txBox="1"/>
          <p:nvPr/>
        </p:nvSpPr>
        <p:spPr>
          <a:xfrm>
            <a:off x="6327648" y="1252067"/>
            <a:ext cx="458919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It includes key customer attributes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Customer Information </a:t>
            </a:r>
            <a:r>
              <a:rPr lang="en-US" dirty="0"/>
              <a:t>(</a:t>
            </a:r>
            <a:r>
              <a:rPr lang="en-US" dirty="0" err="1"/>
              <a:t>CustomerId</a:t>
            </a:r>
            <a:r>
              <a:rPr lang="en-US" dirty="0"/>
              <a:t>, Surname, Gender, Age, Geography)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Account Details </a:t>
            </a:r>
            <a:r>
              <a:rPr lang="en-US" dirty="0"/>
              <a:t>(Tenure, Balance, Number of Products)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Financial Metrics</a:t>
            </a:r>
            <a:r>
              <a:rPr lang="en-US" dirty="0"/>
              <a:t> (Credit Score, Estimated Salary)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Customer Engagement </a:t>
            </a:r>
            <a:r>
              <a:rPr lang="en-US" dirty="0"/>
              <a:t>(Active Status, Credit Card Usage)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Churn Information</a:t>
            </a:r>
            <a:r>
              <a:rPr lang="en-US" dirty="0"/>
              <a:t> (Exited, Exit Category)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08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371F5-EAAD-4ADC-8D3F-1CBB98D5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948" y="510639"/>
            <a:ext cx="3800104" cy="780285"/>
          </a:xfrm>
        </p:spPr>
        <p:txBody>
          <a:bodyPr/>
          <a:lstStyle/>
          <a:p>
            <a:r>
              <a:rPr lang="en-US" b="1" dirty="0"/>
              <a:t>WORKFLOW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ECBC7-2454-9CEB-4C89-FC6733FC2264}"/>
              </a:ext>
            </a:extLst>
          </p:cNvPr>
          <p:cNvSpPr txBox="1"/>
          <p:nvPr/>
        </p:nvSpPr>
        <p:spPr>
          <a:xfrm>
            <a:off x="1532659" y="1997839"/>
            <a:ext cx="3942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Acquisition </a:t>
            </a:r>
            <a:r>
              <a:rPr lang="en-US" dirty="0"/>
              <a:t>from multiple source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Cleaning </a:t>
            </a:r>
            <a:r>
              <a:rPr lang="en-US" dirty="0"/>
              <a:t>and </a:t>
            </a:r>
            <a:r>
              <a:rPr lang="en-US" b="1" dirty="0"/>
              <a:t>Preprocessing</a:t>
            </a:r>
            <a:r>
              <a:rPr lang="en-US" dirty="0"/>
              <a:t> using Excel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Integration </a:t>
            </a:r>
            <a:r>
              <a:rPr lang="en-US" dirty="0"/>
              <a:t>and </a:t>
            </a:r>
            <a:r>
              <a:rPr lang="en-US" b="1" dirty="0"/>
              <a:t>Transformation</a:t>
            </a:r>
            <a:r>
              <a:rPr lang="en-US" dirty="0"/>
              <a:t> into a unified dataset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91101A-6E32-191A-D209-50B8E9682DB2}"/>
              </a:ext>
            </a:extLst>
          </p:cNvPr>
          <p:cNvSpPr txBox="1"/>
          <p:nvPr/>
        </p:nvSpPr>
        <p:spPr>
          <a:xfrm>
            <a:off x="6716733" y="1997839"/>
            <a:ext cx="3942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Storage </a:t>
            </a:r>
            <a:r>
              <a:rPr lang="en-US" dirty="0"/>
              <a:t>and </a:t>
            </a:r>
            <a:r>
              <a:rPr lang="en-US" b="1" dirty="0"/>
              <a:t>Querying</a:t>
            </a:r>
            <a:r>
              <a:rPr lang="en-US" dirty="0"/>
              <a:t> using SQL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Visualization </a:t>
            </a:r>
            <a:r>
              <a:rPr lang="en-US" dirty="0"/>
              <a:t>through interactive Power BI dashboards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 Generation</a:t>
            </a:r>
            <a:r>
              <a:rPr lang="en-US" dirty="0"/>
              <a:t> to support data-driven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3741-836E-81C1-2C78-ED175F62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66D5DB6-845F-4407-FFF0-47A8D31A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954" y="179962"/>
            <a:ext cx="7970323" cy="1005839"/>
          </a:xfrm>
        </p:spPr>
        <p:txBody>
          <a:bodyPr/>
          <a:lstStyle/>
          <a:p>
            <a:r>
              <a:rPr lang="en-US" b="1" dirty="0"/>
              <a:t>Key Performance Indicators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B700626-D2A8-F594-9028-EEAB96899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1B6BB-7537-F121-4783-8BC11931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573" y="1478775"/>
            <a:ext cx="2275192" cy="1294971"/>
          </a:xfrm>
          <a:prstGeom prst="roundRect">
            <a:avLst>
              <a:gd name="adj" fmla="val 887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371E24-9AA8-5D95-8BD7-01C91710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77" y="3280476"/>
            <a:ext cx="2275196" cy="1256866"/>
          </a:xfrm>
          <a:prstGeom prst="roundRect">
            <a:avLst>
              <a:gd name="adj" fmla="val 1052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2FB8B2-85D0-2447-9FEC-96729CC26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573" y="3280476"/>
            <a:ext cx="2271336" cy="1256866"/>
          </a:xfrm>
          <a:prstGeom prst="roundRect">
            <a:avLst>
              <a:gd name="adj" fmla="val 8653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E19143-700A-E26F-ECD4-232A6DC84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284" y="5044072"/>
            <a:ext cx="2271337" cy="1256866"/>
          </a:xfrm>
          <a:prstGeom prst="roundRect">
            <a:avLst>
              <a:gd name="adj" fmla="val 776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0D167E-8BB3-DA66-8922-F0569A307C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276" y="1478775"/>
            <a:ext cx="2237257" cy="1294971"/>
          </a:xfrm>
          <a:prstGeom prst="roundRect">
            <a:avLst>
              <a:gd name="adj" fmla="val 9557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D712743-0C08-883D-E953-D2E07C9290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6136" y="5044072"/>
            <a:ext cx="2271337" cy="1256866"/>
          </a:xfrm>
          <a:prstGeom prst="roundRect">
            <a:avLst>
              <a:gd name="adj" fmla="val 8653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20C31B7-78F0-C337-A207-ECAF614AC0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07" y="1081286"/>
            <a:ext cx="5758593" cy="57630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836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86613"/>
            <a:ext cx="9394331" cy="1350301"/>
          </a:xfrm>
        </p:spPr>
        <p:txBody>
          <a:bodyPr/>
          <a:lstStyle/>
          <a:p>
            <a:r>
              <a:rPr lang="en-US" b="1" dirty="0"/>
              <a:t>Churn Rate by Customer Activity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15DA6F-E486-4C5A-B98C-B1ACDA64D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1510A-BC70-B5BB-508E-40F6343C1EC8}"/>
              </a:ext>
            </a:extLst>
          </p:cNvPr>
          <p:cNvSpPr txBox="1"/>
          <p:nvPr/>
        </p:nvSpPr>
        <p:spPr>
          <a:xfrm>
            <a:off x="1567543" y="1752375"/>
            <a:ext cx="4528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Inactive customers have a churn rate of </a:t>
            </a:r>
            <a:r>
              <a:rPr lang="en-US" b="1" dirty="0"/>
              <a:t>26.85%</a:t>
            </a:r>
            <a:r>
              <a:rPr lang="en-US" dirty="0"/>
              <a:t>, compared to </a:t>
            </a:r>
            <a:r>
              <a:rPr lang="en-US" b="1" dirty="0"/>
              <a:t>14.27%</a:t>
            </a:r>
            <a:r>
              <a:rPr lang="en-US" dirty="0"/>
              <a:t> for active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churn rate among inactive customers is nearly </a:t>
            </a:r>
            <a:r>
              <a:rPr lang="en-US" b="1" dirty="0"/>
              <a:t>1.9 times higher</a:t>
            </a:r>
            <a:r>
              <a:rPr lang="en-US" dirty="0"/>
              <a:t>, indicating a strong link between inactivity and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engagement levels significantly increase the likelihood of customer exit.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54D69A-871A-B611-1374-6F7105A02F27}"/>
              </a:ext>
            </a:extLst>
          </p:cNvPr>
          <p:cNvSpPr/>
          <p:nvPr/>
        </p:nvSpPr>
        <p:spPr>
          <a:xfrm>
            <a:off x="7429763" y="1765326"/>
            <a:ext cx="3012831" cy="3329354"/>
          </a:xfrm>
          <a:prstGeom prst="roundRect">
            <a:avLst>
              <a:gd name="adj" fmla="val 421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3724E6-4568-3D2F-E4A6-57EBF29443F1}"/>
              </a:ext>
            </a:extLst>
          </p:cNvPr>
          <p:cNvSpPr txBox="1"/>
          <p:nvPr/>
        </p:nvSpPr>
        <p:spPr>
          <a:xfrm>
            <a:off x="6499264" y="5122984"/>
            <a:ext cx="51974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Inactive customers are nearly twice as likely to churn as active customers.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8E4B2F-D4D7-DCFD-795C-B0284714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907012"/>
            <a:ext cx="2625969" cy="3043976"/>
          </a:xfrm>
          <a:prstGeom prst="roundRect">
            <a:avLst>
              <a:gd name="adj" fmla="val 255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7457-F274-077A-FB26-5A501BE3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FDFBDC-396E-1E7D-07EB-E6896276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98650"/>
            <a:ext cx="9394331" cy="1350301"/>
          </a:xfrm>
        </p:spPr>
        <p:txBody>
          <a:bodyPr/>
          <a:lstStyle/>
          <a:p>
            <a:pPr algn="ctr"/>
            <a:r>
              <a:rPr lang="en-IN" b="1" dirty="0"/>
              <a:t>Churn Rate by Geography</a:t>
            </a:r>
            <a:endParaRPr lang="en-US" b="1" dirty="0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26238BAA-D24B-F009-138C-7BC636173F13}"/>
              </a:ext>
            </a:extLst>
          </p:cNvPr>
          <p:cNvSpPr txBox="1">
            <a:spLocks/>
          </p:cNvSpPr>
          <p:nvPr/>
        </p:nvSpPr>
        <p:spPr>
          <a:xfrm>
            <a:off x="11800742" y="6492875"/>
            <a:ext cx="2388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n-US" sz="900" smtClean="0"/>
              <a:pPr/>
              <a:t>9</a:t>
            </a:fld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DF2BD-AFF6-828D-AB64-5BC4DDC3CC5F}"/>
              </a:ext>
            </a:extLst>
          </p:cNvPr>
          <p:cNvSpPr txBox="1"/>
          <p:nvPr/>
        </p:nvSpPr>
        <p:spPr>
          <a:xfrm>
            <a:off x="1567543" y="1752375"/>
            <a:ext cx="45284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Germany has the highest churn rate at </a:t>
            </a:r>
            <a:r>
              <a:rPr lang="en-US" b="1" dirty="0"/>
              <a:t>32.44%</a:t>
            </a:r>
            <a:r>
              <a:rPr lang="en-US" dirty="0"/>
              <a:t>, which is nearly double compared to Spain (</a:t>
            </a:r>
            <a:r>
              <a:rPr lang="en-US" b="1" dirty="0"/>
              <a:t>16.67%</a:t>
            </a:r>
            <a:r>
              <a:rPr lang="en-US" dirty="0"/>
              <a:t>) and France (</a:t>
            </a:r>
            <a:r>
              <a:rPr lang="en-US" b="1" dirty="0"/>
              <a:t>16.15%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having only </a:t>
            </a:r>
            <a:r>
              <a:rPr lang="en-US" b="1" dirty="0"/>
              <a:t>2.5K customers</a:t>
            </a:r>
            <a:r>
              <a:rPr lang="en-US" dirty="0"/>
              <a:t>, Germany contributes disproportionately to overall churn due to its high churn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France has the largest customer base (</a:t>
            </a:r>
            <a:r>
              <a:rPr lang="en-US" b="1" dirty="0"/>
              <a:t>5K customers</a:t>
            </a:r>
            <a:r>
              <a:rPr lang="en-US" dirty="0"/>
              <a:t>) but maintains a relatively low churn rate (</a:t>
            </a:r>
            <a:r>
              <a:rPr lang="en-US" b="1" dirty="0"/>
              <a:t>16.15%</a:t>
            </a:r>
            <a:r>
              <a:rPr lang="en-US" dirty="0"/>
              <a:t>), indicating better retention.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FB61D1-EAA2-4F67-0507-836659AB0ECE}"/>
              </a:ext>
            </a:extLst>
          </p:cNvPr>
          <p:cNvSpPr/>
          <p:nvPr/>
        </p:nvSpPr>
        <p:spPr>
          <a:xfrm>
            <a:off x="6828312" y="2054431"/>
            <a:ext cx="4239492" cy="2778826"/>
          </a:xfrm>
          <a:prstGeom prst="roundRect">
            <a:avLst>
              <a:gd name="adj" fmla="val 4216"/>
            </a:avLst>
          </a:prstGeom>
          <a:solidFill>
            <a:srgbClr val="798B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111CF2-C473-BA5A-669A-C5FB89C8D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565" y="2224652"/>
            <a:ext cx="3896826" cy="2408696"/>
          </a:xfrm>
          <a:prstGeom prst="roundRect">
            <a:avLst>
              <a:gd name="adj" fmla="val 5328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469B9D-C96A-3CDF-3A3E-3FCD16BD3C2D}"/>
              </a:ext>
            </a:extLst>
          </p:cNvPr>
          <p:cNvSpPr txBox="1"/>
          <p:nvPr/>
        </p:nvSpPr>
        <p:spPr>
          <a:xfrm>
            <a:off x="6344260" y="4876520"/>
            <a:ext cx="51974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Germany shows the highest churn rate despite a smaller customer base.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94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6376-A657-17EB-BEC2-A50D4AFC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422B-EA36-1893-EFDF-C6A96B01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86613"/>
            <a:ext cx="9820151" cy="1350301"/>
          </a:xfrm>
        </p:spPr>
        <p:txBody>
          <a:bodyPr/>
          <a:lstStyle/>
          <a:p>
            <a:r>
              <a:rPr lang="en-US" b="1" dirty="0"/>
              <a:t>Churn Rate by Number of Products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78A1AC2-A9D1-2DA2-2DAC-B3E0D5F36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F6919-1EA5-8B27-43C8-F359DEFE5D38}"/>
              </a:ext>
            </a:extLst>
          </p:cNvPr>
          <p:cNvSpPr txBox="1"/>
          <p:nvPr/>
        </p:nvSpPr>
        <p:spPr>
          <a:xfrm>
            <a:off x="1567543" y="1752375"/>
            <a:ext cx="45284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1 product</a:t>
            </a:r>
            <a:r>
              <a:rPr lang="en-US" dirty="0"/>
              <a:t> have a churn rate of </a:t>
            </a:r>
            <a:r>
              <a:rPr lang="en-US" b="1" dirty="0"/>
              <a:t>27.71%</a:t>
            </a:r>
            <a:r>
              <a:rPr lang="en-US" dirty="0"/>
              <a:t>, which is significantly higher than customers with </a:t>
            </a:r>
            <a:r>
              <a:rPr lang="en-US" b="1" dirty="0"/>
              <a:t>2 products (7.58%)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3 (82.71%) and 4 products (100%)</a:t>
            </a:r>
            <a:r>
              <a:rPr lang="en-US" dirty="0"/>
              <a:t> show very high churn rates, but these segments likely represent a smaller customer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sharp drop in churn from </a:t>
            </a:r>
            <a:r>
              <a:rPr lang="en-US" b="1" dirty="0"/>
              <a:t>1 product to 2 products</a:t>
            </a:r>
            <a:r>
              <a:rPr lang="en-US" dirty="0"/>
              <a:t> indicates that increased product adoption improves customer retention.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BD1053-6B5B-3FA7-445C-D330C37F6FA1}"/>
              </a:ext>
            </a:extLst>
          </p:cNvPr>
          <p:cNvSpPr/>
          <p:nvPr/>
        </p:nvSpPr>
        <p:spPr>
          <a:xfrm>
            <a:off x="6994565" y="2011903"/>
            <a:ext cx="3883231" cy="3051958"/>
          </a:xfrm>
          <a:prstGeom prst="roundRect">
            <a:avLst>
              <a:gd name="adj" fmla="val 421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BF1784-A266-9408-A721-2CAD0E4E8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1" r="1391"/>
          <a:stretch>
            <a:fillRect/>
          </a:stretch>
        </p:blipFill>
        <p:spPr>
          <a:xfrm>
            <a:off x="7159265" y="2167674"/>
            <a:ext cx="3553830" cy="2740415"/>
          </a:xfrm>
          <a:prstGeom prst="roundRect">
            <a:avLst>
              <a:gd name="adj" fmla="val 4098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3786CD-C4B6-7770-896F-F1FAEA4E2A04}"/>
              </a:ext>
            </a:extLst>
          </p:cNvPr>
          <p:cNvSpPr txBox="1"/>
          <p:nvPr/>
        </p:nvSpPr>
        <p:spPr>
          <a:xfrm>
            <a:off x="6337462" y="5093050"/>
            <a:ext cx="519743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customers with a single product show higher churn, while multi-product users are more retained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299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3324-8F30-2404-8F24-6C5E3393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FB87F67-0F92-8CF1-E131-77CAE666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98650"/>
            <a:ext cx="9394331" cy="1350301"/>
          </a:xfrm>
        </p:spPr>
        <p:txBody>
          <a:bodyPr/>
          <a:lstStyle/>
          <a:p>
            <a:pPr algn="ctr"/>
            <a:r>
              <a:rPr lang="en-IN" b="1" dirty="0"/>
              <a:t>Churn Rate by Age Group</a:t>
            </a:r>
            <a:endParaRPr lang="en-US" b="1" dirty="0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8CEDE6A5-0BEB-8881-B96B-AC301B94224F}"/>
              </a:ext>
            </a:extLst>
          </p:cNvPr>
          <p:cNvSpPr txBox="1">
            <a:spLocks/>
          </p:cNvSpPr>
          <p:nvPr/>
        </p:nvSpPr>
        <p:spPr>
          <a:xfrm>
            <a:off x="11800742" y="6492875"/>
            <a:ext cx="2388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n-US" sz="900" smtClean="0"/>
              <a:pPr/>
              <a:t>11</a:t>
            </a:fld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A8542-3C64-ED2B-DF3A-2AB4CD45CBB7}"/>
              </a:ext>
            </a:extLst>
          </p:cNvPr>
          <p:cNvSpPr txBox="1"/>
          <p:nvPr/>
        </p:nvSpPr>
        <p:spPr>
          <a:xfrm>
            <a:off x="1567542" y="1928221"/>
            <a:ext cx="4528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aged </a:t>
            </a:r>
            <a:r>
              <a:rPr lang="en-US" b="1" dirty="0"/>
              <a:t>50+ have the highest churn rate at 44.65%</a:t>
            </a:r>
            <a:r>
              <a:rPr lang="en-US" dirty="0"/>
              <a:t>, significantly higher than other groups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aged </a:t>
            </a:r>
            <a:r>
              <a:rPr lang="en-US" b="1" dirty="0"/>
              <a:t>30–50 show moderate churn at 19.58%</a:t>
            </a:r>
            <a:r>
              <a:rPr lang="en-US" dirty="0"/>
              <a:t>, while </a:t>
            </a:r>
            <a:r>
              <a:rPr lang="en-US" b="1" dirty="0"/>
              <a:t>18–30 have the lowest at 7.52%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risk increases with age, indicating older customers are more likely to leave.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24907B-4610-F033-B8B6-65B1C401048F}"/>
              </a:ext>
            </a:extLst>
          </p:cNvPr>
          <p:cNvSpPr/>
          <p:nvPr/>
        </p:nvSpPr>
        <p:spPr>
          <a:xfrm>
            <a:off x="7069015" y="2054431"/>
            <a:ext cx="3724150" cy="2778826"/>
          </a:xfrm>
          <a:prstGeom prst="roundRect">
            <a:avLst>
              <a:gd name="adj" fmla="val 4216"/>
            </a:avLst>
          </a:prstGeom>
          <a:solidFill>
            <a:srgbClr val="798B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D9923B-2620-223E-A894-DFCE35201C42}"/>
              </a:ext>
            </a:extLst>
          </p:cNvPr>
          <p:cNvSpPr txBox="1"/>
          <p:nvPr/>
        </p:nvSpPr>
        <p:spPr>
          <a:xfrm>
            <a:off x="6344260" y="4876520"/>
            <a:ext cx="51974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Churn increases with age, with customers aged 50+ showing the highest risk.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DEBECD-5B34-021A-E328-975CC9328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425" y="2209368"/>
            <a:ext cx="3441103" cy="2468952"/>
          </a:xfrm>
          <a:prstGeom prst="roundRect">
            <a:avLst>
              <a:gd name="adj" fmla="val 3847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080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D17C-1162-08C3-5288-681C9423F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FE9DC95-82AC-39A4-851E-C8B2B42A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80B51A-AB01-09E0-C1D7-4C7CC236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98650"/>
            <a:ext cx="9394331" cy="1350301"/>
          </a:xfrm>
        </p:spPr>
        <p:txBody>
          <a:bodyPr/>
          <a:lstStyle/>
          <a:p>
            <a:r>
              <a:rPr lang="en-IN" b="1" dirty="0"/>
              <a:t>Churn Rate by Tenure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1FCA2-2597-07BD-B15D-1AB4B2F0F875}"/>
              </a:ext>
            </a:extLst>
          </p:cNvPr>
          <p:cNvSpPr txBox="1"/>
          <p:nvPr/>
        </p:nvSpPr>
        <p:spPr>
          <a:xfrm>
            <a:off x="1567542" y="1822714"/>
            <a:ext cx="4528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rate fluctuates across tenure, peaking at </a:t>
            </a:r>
            <a:r>
              <a:rPr lang="en-US" b="1" dirty="0"/>
              <a:t>21.91% for tenure 5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tenure </a:t>
            </a:r>
            <a:r>
              <a:rPr lang="en-US" b="1" dirty="0"/>
              <a:t>3 (20.47%) and 6 (20.57%)</a:t>
            </a:r>
            <a:r>
              <a:rPr lang="en-US" dirty="0"/>
              <a:t> also show relatively higher churn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higher tenure (</a:t>
            </a:r>
            <a:r>
              <a:rPr lang="en-US" b="1" dirty="0"/>
              <a:t>7 years</a:t>
            </a:r>
            <a:r>
              <a:rPr lang="en-US" dirty="0"/>
              <a:t>) have a lower churn rate (</a:t>
            </a:r>
            <a:r>
              <a:rPr lang="en-US" b="1" dirty="0"/>
              <a:t>19.14%</a:t>
            </a:r>
            <a:r>
              <a:rPr lang="en-US" dirty="0"/>
              <a:t>), indicating slightly better retention over time.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C4DFDE-EAC8-019C-9718-8C200E4E2D1C}"/>
              </a:ext>
            </a:extLst>
          </p:cNvPr>
          <p:cNvSpPr/>
          <p:nvPr/>
        </p:nvSpPr>
        <p:spPr>
          <a:xfrm>
            <a:off x="6828312" y="2054431"/>
            <a:ext cx="4239492" cy="2778826"/>
          </a:xfrm>
          <a:prstGeom prst="roundRect">
            <a:avLst>
              <a:gd name="adj" fmla="val 4216"/>
            </a:avLst>
          </a:prstGeom>
          <a:solidFill>
            <a:srgbClr val="D8D2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3601D-87C7-CCCA-F8DB-9A8344030DE8}"/>
              </a:ext>
            </a:extLst>
          </p:cNvPr>
          <p:cNvSpPr txBox="1"/>
          <p:nvPr/>
        </p:nvSpPr>
        <p:spPr>
          <a:xfrm>
            <a:off x="6344260" y="4876520"/>
            <a:ext cx="51974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Churn varies across tenure, with no clear trend but moderate fluctuations.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2CBAB4-77B8-A528-0A5A-1DAE6045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564" y="2239496"/>
            <a:ext cx="3896825" cy="2408696"/>
          </a:xfrm>
          <a:prstGeom prst="roundRect">
            <a:avLst>
              <a:gd name="adj" fmla="val 596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739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E788-D505-0C2A-624A-85A3D7B5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1A16E5-00CF-2437-0E38-CA972FD9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57" y="91947"/>
            <a:ext cx="10007720" cy="1350301"/>
          </a:xfrm>
        </p:spPr>
        <p:txBody>
          <a:bodyPr/>
          <a:lstStyle/>
          <a:p>
            <a:pPr algn="ctr"/>
            <a:r>
              <a:rPr lang="en-US" b="1" dirty="0"/>
              <a:t>Customers by Number of Products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A6A9FFBF-A02D-0CA7-431A-49239788DE6E}"/>
              </a:ext>
            </a:extLst>
          </p:cNvPr>
          <p:cNvSpPr txBox="1">
            <a:spLocks/>
          </p:cNvSpPr>
          <p:nvPr/>
        </p:nvSpPr>
        <p:spPr>
          <a:xfrm>
            <a:off x="11800742" y="6492875"/>
            <a:ext cx="2388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n-US" sz="900" smtClean="0"/>
              <a:pPr/>
              <a:t>13</a:t>
            </a:fld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F5A399-EBC3-647A-25EF-D5035597B092}"/>
              </a:ext>
            </a:extLst>
          </p:cNvPr>
          <p:cNvSpPr txBox="1"/>
          <p:nvPr/>
        </p:nvSpPr>
        <p:spPr>
          <a:xfrm>
            <a:off x="1567542" y="1928221"/>
            <a:ext cx="4528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customers hold </a:t>
            </a:r>
            <a:r>
              <a:rPr lang="en-US" b="1" dirty="0"/>
              <a:t>1 (5.1K) or 2 products (4.6K)</a:t>
            </a:r>
            <a:r>
              <a:rPr lang="en-US" dirty="0"/>
              <a:t>, while very few customers use </a:t>
            </a:r>
            <a:r>
              <a:rPr lang="en-US" b="1" dirty="0"/>
              <a:t>3 (0.3K) or 4 products (0.1K)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large portion of customers are concentrated in low product usage segments.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large portion of customers are concentrated in low product usage segments.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3A7E10-5589-4FF3-9191-240A3E173500}"/>
              </a:ext>
            </a:extLst>
          </p:cNvPr>
          <p:cNvSpPr/>
          <p:nvPr/>
        </p:nvSpPr>
        <p:spPr>
          <a:xfrm>
            <a:off x="7010399" y="2054431"/>
            <a:ext cx="3845169" cy="2778826"/>
          </a:xfrm>
          <a:prstGeom prst="roundRect">
            <a:avLst>
              <a:gd name="adj" fmla="val 4216"/>
            </a:avLst>
          </a:prstGeom>
          <a:solidFill>
            <a:srgbClr val="798B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B9439-211E-938E-A591-61110C608C62}"/>
              </a:ext>
            </a:extLst>
          </p:cNvPr>
          <p:cNvSpPr txBox="1"/>
          <p:nvPr/>
        </p:nvSpPr>
        <p:spPr>
          <a:xfrm>
            <a:off x="6344260" y="4876520"/>
            <a:ext cx="51974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Most customers use only 1–2 products, indicating low product engagement.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85257-C407-1FCE-B595-19E15C23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720" y="2209368"/>
            <a:ext cx="3570739" cy="2468952"/>
          </a:xfrm>
          <a:prstGeom prst="roundRect">
            <a:avLst>
              <a:gd name="adj" fmla="val 337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6026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5C09-E6F6-3DB3-8211-9671C441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6AF550A-EFA8-0A8A-A384-6A1B5DA4A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AC3464C-89E6-F3E9-FA10-4ACE16EF0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98650"/>
            <a:ext cx="9394331" cy="1350301"/>
          </a:xfrm>
        </p:spPr>
        <p:txBody>
          <a:bodyPr/>
          <a:lstStyle/>
          <a:p>
            <a:r>
              <a:rPr lang="en-IN" b="1" dirty="0"/>
              <a:t>Churn Rate by Tenure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960D5-A7E7-E9BD-C85D-4BA3F3387DAB}"/>
              </a:ext>
            </a:extLst>
          </p:cNvPr>
          <p:cNvSpPr txBox="1"/>
          <p:nvPr/>
        </p:nvSpPr>
        <p:spPr>
          <a:xfrm>
            <a:off x="1567542" y="2054431"/>
            <a:ext cx="45284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Female customers show a higher churn rate at </a:t>
            </a:r>
            <a:r>
              <a:rPr lang="en-US" b="1" dirty="0"/>
              <a:t>60.37%</a:t>
            </a:r>
            <a:r>
              <a:rPr lang="en-US" dirty="0"/>
              <a:t>, compared to </a:t>
            </a:r>
            <a:r>
              <a:rPr lang="en-US" b="1" dirty="0"/>
              <a:t>39.63%</a:t>
            </a:r>
            <a:r>
              <a:rPr lang="en-US" dirty="0"/>
              <a:t> for male customers.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difference indicates a noticeable variation in churn behavior across gender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Gender-based differences suggest potential variations in customer experience or engagement levels.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9FE53D-E6F9-4632-BFE6-8A4B9C2C689E}"/>
              </a:ext>
            </a:extLst>
          </p:cNvPr>
          <p:cNvSpPr/>
          <p:nvPr/>
        </p:nvSpPr>
        <p:spPr>
          <a:xfrm>
            <a:off x="6646985" y="2054431"/>
            <a:ext cx="4528457" cy="2728584"/>
          </a:xfrm>
          <a:prstGeom prst="roundRect">
            <a:avLst>
              <a:gd name="adj" fmla="val 4216"/>
            </a:avLst>
          </a:prstGeom>
          <a:solidFill>
            <a:srgbClr val="D8D2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DB66C9-DB07-8C9F-8229-F19C2953E016}"/>
              </a:ext>
            </a:extLst>
          </p:cNvPr>
          <p:cNvSpPr txBox="1"/>
          <p:nvPr/>
        </p:nvSpPr>
        <p:spPr>
          <a:xfrm>
            <a:off x="6163189" y="4835077"/>
            <a:ext cx="54960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Female customers show a higher churn proportion compared to male customers.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267AE-A6DB-D235-782F-A1355027E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2"/>
          <a:stretch>
            <a:fillRect/>
          </a:stretch>
        </p:blipFill>
        <p:spPr>
          <a:xfrm>
            <a:off x="6791142" y="2226851"/>
            <a:ext cx="4240142" cy="2404298"/>
          </a:xfrm>
          <a:prstGeom prst="roundRect">
            <a:avLst>
              <a:gd name="adj" fmla="val 594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960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1FB5C06-BD61-2FDB-857F-1E4C2D72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34" y="98650"/>
            <a:ext cx="9394331" cy="1350301"/>
          </a:xfrm>
        </p:spPr>
        <p:txBody>
          <a:bodyPr/>
          <a:lstStyle/>
          <a:p>
            <a:pPr algn="ctr"/>
            <a:r>
              <a:rPr lang="en-IN" b="1" dirty="0"/>
              <a:t>Strategic Growth Framework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18EC3-6F3F-3DF8-0B98-338E536AE71D}"/>
              </a:ext>
            </a:extLst>
          </p:cNvPr>
          <p:cNvSpPr txBox="1"/>
          <p:nvPr/>
        </p:nvSpPr>
        <p:spPr>
          <a:xfrm>
            <a:off x="576512" y="1497077"/>
            <a:ext cx="364556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Retention Strategy</a:t>
            </a:r>
          </a:p>
          <a:p>
            <a:endParaRPr lang="en-US" b="1" dirty="0"/>
          </a:p>
          <a:p>
            <a:r>
              <a:rPr lang="en-US" dirty="0"/>
              <a:t>Target inactive customers, as they show higher churn (</a:t>
            </a:r>
            <a:r>
              <a:rPr lang="en-US" b="1" dirty="0"/>
              <a:t>26.85% vs 14.27% for active users</a:t>
            </a:r>
            <a:r>
              <a:rPr lang="en-US" dirty="0"/>
              <a:t>)</a:t>
            </a:r>
          </a:p>
          <a:p>
            <a:br>
              <a:rPr lang="en-US" dirty="0"/>
            </a:br>
            <a:r>
              <a:rPr lang="en-US" dirty="0"/>
              <a:t>Focus on high-risk regions like Germany, which has the highest churn (</a:t>
            </a:r>
            <a:r>
              <a:rPr lang="en-US" b="1" dirty="0"/>
              <a:t>32.44%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Retain customers with low product usage, especially those with </a:t>
            </a:r>
            <a:r>
              <a:rPr lang="en-US" b="1" dirty="0"/>
              <a:t>1 product.</a:t>
            </a:r>
            <a:endParaRPr lang="en-US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5B204-17A1-22BB-DA1B-7E5F74615CC0}"/>
              </a:ext>
            </a:extLst>
          </p:cNvPr>
          <p:cNvSpPr txBox="1"/>
          <p:nvPr/>
        </p:nvSpPr>
        <p:spPr>
          <a:xfrm>
            <a:off x="4273215" y="1497077"/>
            <a:ext cx="36455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Product Strategy</a:t>
            </a:r>
          </a:p>
          <a:p>
            <a:endParaRPr lang="en-US" b="1" dirty="0"/>
          </a:p>
          <a:p>
            <a:r>
              <a:rPr lang="en-US" dirty="0"/>
              <a:t>Encourage customers to adopt multiple products, as churn drops significantly (</a:t>
            </a:r>
            <a:r>
              <a:rPr lang="en-US" b="1" dirty="0"/>
              <a:t>27.71% to 7.58%</a:t>
            </a:r>
            <a:r>
              <a:rPr lang="en-US" dirty="0"/>
              <a:t>)..</a:t>
            </a:r>
          </a:p>
          <a:p>
            <a:br>
              <a:rPr lang="en-US" dirty="0"/>
            </a:br>
            <a:r>
              <a:rPr lang="en-US" dirty="0"/>
              <a:t>Promote bundled services to increase engagement and long-term retention.</a:t>
            </a:r>
          </a:p>
          <a:p>
            <a:br>
              <a:rPr lang="en-US" dirty="0"/>
            </a:br>
            <a:r>
              <a:rPr lang="en-US" dirty="0"/>
              <a:t>Identify and upsell customers with low product usage.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3BA03-42A8-C0EF-A43E-22C17C3F809A}"/>
              </a:ext>
            </a:extLst>
          </p:cNvPr>
          <p:cNvSpPr txBox="1"/>
          <p:nvPr/>
        </p:nvSpPr>
        <p:spPr>
          <a:xfrm>
            <a:off x="7969918" y="1497077"/>
            <a:ext cx="400250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Engagement Strategy</a:t>
            </a:r>
          </a:p>
          <a:p>
            <a:endParaRPr lang="en-US" sz="2200" b="1" dirty="0"/>
          </a:p>
          <a:p>
            <a:r>
              <a:rPr lang="en-US" dirty="0"/>
              <a:t>Focus on older customers (</a:t>
            </a:r>
            <a:r>
              <a:rPr lang="en-US" b="1" dirty="0"/>
              <a:t>50+ with 44.65% churn</a:t>
            </a:r>
            <a:r>
              <a:rPr lang="en-US" dirty="0"/>
              <a:t>) through targeted communication.</a:t>
            </a:r>
          </a:p>
          <a:p>
            <a:br>
              <a:rPr lang="en-US" dirty="0"/>
            </a:br>
            <a:r>
              <a:rPr lang="en-US" dirty="0"/>
              <a:t>Improve customer activity levels to reduce inactivity-driven churn.</a:t>
            </a:r>
          </a:p>
          <a:p>
            <a:endParaRPr lang="en-US" dirty="0"/>
          </a:p>
          <a:p>
            <a:r>
              <a:rPr lang="en-US" dirty="0"/>
              <a:t>Strengthen engagement strategies across key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D175D2A-0058-45E0-AAF6-7260876F0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695A86-99E6-704F-2AC5-1AEFB7F7D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05" y="936447"/>
            <a:ext cx="10209390" cy="573309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C66E85E-2212-0B3A-CA2B-7B9B4DB5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054" y="140676"/>
            <a:ext cx="4069892" cy="8159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DASHBOARD -1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0933-254C-D180-AA1A-F16146DA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1EFE2F3-07AD-3E1C-5A67-F79E7867D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5FC71-ED3F-C358-297B-07F1711D4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946072"/>
            <a:ext cx="9014618" cy="570002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8380475-4B3C-FD45-FE3C-968EA7FF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054" y="140676"/>
            <a:ext cx="4069892" cy="8159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DASHBOARD -2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837946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4B41-63C6-3768-F886-73030E55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C48A3DE1-9709-BDD9-E217-2FA430EF1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A7780-E2BF-3B07-E3FD-41086D1D3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19" y="998632"/>
            <a:ext cx="8974278" cy="56988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8932D1D-177B-5508-62A0-90DC36AB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054" y="140676"/>
            <a:ext cx="4069892" cy="8159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DASHBOARD -3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518168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F54A-A433-D6D9-42BC-4CE76838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10E24BC2-7F00-BA1E-92B0-1DC72312D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79BCB-C5E5-AE6A-9EF8-C6BDE74D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800" y="972765"/>
            <a:ext cx="9014400" cy="574455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0C1B0E-DE90-DD24-D1C4-1555DDFF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054" y="140676"/>
            <a:ext cx="4069892" cy="8159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DASHBOARD -4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42590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F6CE792E-745D-4408-9AB1-740D556972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5208FE-0220-403B-8209-06D9990EA4C9}" type="datetime1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BF214639-68C6-49E7-90D4-F4DAFEFB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57E646D-554B-67CB-BFFC-BA88EF9E7323}"/>
              </a:ext>
            </a:extLst>
          </p:cNvPr>
          <p:cNvSpPr txBox="1">
            <a:spLocks/>
          </p:cNvSpPr>
          <p:nvPr/>
        </p:nvSpPr>
        <p:spPr>
          <a:xfrm>
            <a:off x="5778869" y="93785"/>
            <a:ext cx="6279781" cy="8557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None/>
              <a:defRPr sz="20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/>
              <a:t>Recommendations</a:t>
            </a:r>
            <a:endParaRPr lang="en-US" sz="44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781346-6BE9-4563-EFD6-A01251A81D4A}"/>
              </a:ext>
            </a:extLst>
          </p:cNvPr>
          <p:cNvSpPr/>
          <p:nvPr/>
        </p:nvSpPr>
        <p:spPr>
          <a:xfrm>
            <a:off x="748811" y="0"/>
            <a:ext cx="4255477" cy="577947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88900" dir="2700000" sx="101000" sy="101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01439B1-14FA-4F62-C1F3-74F35E8DF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68" y="801257"/>
            <a:ext cx="5216770" cy="586828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C031ECB-B12F-9FF5-20D5-CA833D7D33A4}"/>
              </a:ext>
            </a:extLst>
          </p:cNvPr>
          <p:cNvSpPr/>
          <p:nvPr/>
        </p:nvSpPr>
        <p:spPr>
          <a:xfrm>
            <a:off x="478875" y="5776973"/>
            <a:ext cx="4795347" cy="93785"/>
          </a:xfrm>
          <a:prstGeom prst="rect">
            <a:avLst/>
          </a:prstGeom>
          <a:solidFill>
            <a:schemeClr val="bg1"/>
          </a:solidFill>
          <a:effectLst>
            <a:outerShdw blurRad="50800" dist="635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289652-09E5-F07F-A370-611F143F7D89}"/>
              </a:ext>
            </a:extLst>
          </p:cNvPr>
          <p:cNvSpPr txBox="1"/>
          <p:nvPr/>
        </p:nvSpPr>
        <p:spPr>
          <a:xfrm>
            <a:off x="5778868" y="1254369"/>
            <a:ext cx="61903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Prioritize inactive customers, as they show significantly higher churn (</a:t>
            </a:r>
            <a:r>
              <a:rPr lang="en-US" b="1" dirty="0">
                <a:solidFill>
                  <a:schemeClr val="bg1"/>
                </a:solidFill>
              </a:rPr>
              <a:t>26.85% vs 14.27%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Focus on Germany, which has the highest churn rate (</a:t>
            </a:r>
            <a:r>
              <a:rPr lang="en-US" b="1" dirty="0">
                <a:solidFill>
                  <a:schemeClr val="bg1"/>
                </a:solidFill>
              </a:rPr>
              <a:t>32.44%</a:t>
            </a:r>
            <a:r>
              <a:rPr lang="en-US" dirty="0">
                <a:solidFill>
                  <a:schemeClr val="bg1"/>
                </a:solidFill>
              </a:rPr>
              <a:t>) despite a smaller customer base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Encourage multi-product adoption, as churn reduces from </a:t>
            </a:r>
            <a:r>
              <a:rPr lang="en-US" b="1" dirty="0">
                <a:solidFill>
                  <a:schemeClr val="bg1"/>
                </a:solidFill>
              </a:rPr>
              <a:t>27.71% (1 product) to 7.58% (2 products)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Target older customers (</a:t>
            </a:r>
            <a:r>
              <a:rPr lang="en-US" b="1" dirty="0">
                <a:solidFill>
                  <a:schemeClr val="bg1"/>
                </a:solidFill>
              </a:rPr>
              <a:t>50+ with 44.65% churn</a:t>
            </a:r>
            <a:r>
              <a:rPr lang="en-US" dirty="0">
                <a:solidFill>
                  <a:schemeClr val="bg1"/>
                </a:solidFill>
              </a:rPr>
              <a:t>) through personalized engagement strategies.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Strengthen customer engagement initiatives to reduce inactivity-driven churn.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Monitor high-risk segments continuously to enable proactive retention actions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546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Date Placeholder 140">
            <a:extLst>
              <a:ext uri="{FF2B5EF4-FFF2-40B4-BE49-F238E27FC236}">
                <a16:creationId xmlns:a16="http://schemas.microsoft.com/office/drawing/2014/main" id="{3E96791E-3AF0-4956-AFA7-A8A89E8EB1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71AD0A-72DC-49A1-AA89-5509B2193035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142" name="Slide Number Placeholder 141">
            <a:extLst>
              <a:ext uri="{FF2B5EF4-FFF2-40B4-BE49-F238E27FC236}">
                <a16:creationId xmlns:a16="http://schemas.microsoft.com/office/drawing/2014/main" id="{9FD033B5-99FB-4B26-BF74-3DA89EEE7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1A2C0B-8253-3722-17CE-F78C7522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06" y="0"/>
            <a:ext cx="8461375" cy="1355724"/>
          </a:xfrm>
        </p:spPr>
        <p:txBody>
          <a:bodyPr/>
          <a:lstStyle/>
          <a:p>
            <a:r>
              <a:rPr lang="en-IN" b="1" dirty="0"/>
              <a:t>Conclusions &amp; Key Takeaways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75BA3-7F97-9015-7822-03DE9B741FCF}"/>
              </a:ext>
            </a:extLst>
          </p:cNvPr>
          <p:cNvSpPr/>
          <p:nvPr/>
        </p:nvSpPr>
        <p:spPr>
          <a:xfrm>
            <a:off x="7088783" y="1267831"/>
            <a:ext cx="4220308" cy="5609462"/>
          </a:xfrm>
          <a:prstGeom prst="rect">
            <a:avLst/>
          </a:prstGeom>
          <a:solidFill>
            <a:srgbClr val="798B7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A906F0-AE7C-3F07-9C7E-FA9CF6FC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34" y="2168769"/>
            <a:ext cx="4288905" cy="4683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C3C163-E73C-AE02-A549-47148D8CC986}"/>
              </a:ext>
            </a:extLst>
          </p:cNvPr>
          <p:cNvSpPr txBox="1"/>
          <p:nvPr/>
        </p:nvSpPr>
        <p:spPr>
          <a:xfrm>
            <a:off x="691662" y="1621590"/>
            <a:ext cx="56475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Customer churn is influenced by product usage, activity level, geography, and age.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churn is influenced by product usage, activity level, geography, and age.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Customers with </a:t>
            </a:r>
            <a:r>
              <a:rPr lang="en-US" b="1" dirty="0"/>
              <a:t>1 product and inactive status</a:t>
            </a:r>
            <a:r>
              <a:rPr lang="en-US" dirty="0"/>
              <a:t> are the most likely to churn.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Germany and older customers (</a:t>
            </a:r>
            <a:r>
              <a:rPr lang="en-US" b="1" dirty="0"/>
              <a:t>50+</a:t>
            </a:r>
            <a:r>
              <a:rPr lang="en-US" dirty="0"/>
              <a:t>) represent high-risk segments.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Increasing product adoption and improving engagement can significantly reduce churn.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209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5827-0F66-D76B-181C-5E17481E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F0F8D432-8E9B-4C8C-3DF8-933EF65630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EFFCE6-B714-4312-995E-9A4A689D43F0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F879548-2FD0-17B2-394D-1A2A9B781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535C96-8CC2-1A01-5984-DE226952425F}"/>
              </a:ext>
            </a:extLst>
          </p:cNvPr>
          <p:cNvSpPr/>
          <p:nvPr/>
        </p:nvSpPr>
        <p:spPr>
          <a:xfrm>
            <a:off x="0" y="0"/>
            <a:ext cx="4454769" cy="6852107"/>
          </a:xfrm>
          <a:prstGeom prst="rect">
            <a:avLst/>
          </a:prstGeom>
          <a:solidFill>
            <a:srgbClr val="5B6A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07D7BF-155B-C43F-BFCE-B7890A7F4401}"/>
              </a:ext>
            </a:extLst>
          </p:cNvPr>
          <p:cNvSpPr/>
          <p:nvPr/>
        </p:nvSpPr>
        <p:spPr>
          <a:xfrm>
            <a:off x="3242019" y="2121830"/>
            <a:ext cx="2520000" cy="2520000"/>
          </a:xfrm>
          <a:prstGeom prst="ellipse">
            <a:avLst/>
          </a:prstGeom>
          <a:solidFill>
            <a:srgbClr val="C0C9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B611E5-9B63-C9D7-D3F3-B055B73DC932}"/>
              </a:ext>
            </a:extLst>
          </p:cNvPr>
          <p:cNvSpPr/>
          <p:nvPr/>
        </p:nvSpPr>
        <p:spPr>
          <a:xfrm>
            <a:off x="3422019" y="2301830"/>
            <a:ext cx="2160000" cy="2160000"/>
          </a:xfrm>
          <a:prstGeom prst="ellipse">
            <a:avLst/>
          </a:prstGeom>
          <a:solidFill>
            <a:srgbClr val="798B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E73FA-68B8-EC67-1138-61681111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769" y="2298803"/>
            <a:ext cx="2254500" cy="225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FA094A-C609-34EB-6548-F78B23540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45" y="1235582"/>
            <a:ext cx="7814745" cy="4460123"/>
          </a:xfrm>
          <a:prstGeom prst="rect">
            <a:avLst/>
          </a:prstGeom>
          <a:effectLst>
            <a:outerShdw blurRad="88900" dist="63500" dir="10200000" sx="102000" sy="102000" algn="t" rotWithShape="0">
              <a:prstClr val="black">
                <a:alpha val="3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252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color presentation</Template>
  <TotalTime>595</TotalTime>
  <Words>1083</Words>
  <Application>Microsoft Office PowerPoint</Application>
  <PresentationFormat>Widescreen</PresentationFormat>
  <Paragraphs>157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Biome Light</vt:lpstr>
      <vt:lpstr>Calibri</vt:lpstr>
      <vt:lpstr>Cambria</vt:lpstr>
      <vt:lpstr>Office Theme</vt:lpstr>
      <vt:lpstr>Analytical CRM Development for a Bank</vt:lpstr>
      <vt:lpstr>Agenda</vt:lpstr>
      <vt:lpstr>PROBLEM STATEMENT</vt:lpstr>
      <vt:lpstr>PowerPoint Presentation</vt:lpstr>
      <vt:lpstr>Dataset Overview</vt:lpstr>
      <vt:lpstr>WORKFLOW</vt:lpstr>
      <vt:lpstr>Key Performance Indicators</vt:lpstr>
      <vt:lpstr>Churn Rate by Customer Activity</vt:lpstr>
      <vt:lpstr>Churn Rate by Geography</vt:lpstr>
      <vt:lpstr>Churn Rate by Number of Products</vt:lpstr>
      <vt:lpstr>Churn Rate by Age Group</vt:lpstr>
      <vt:lpstr>Churn Rate by Tenure</vt:lpstr>
      <vt:lpstr>Customers by Number of Products</vt:lpstr>
      <vt:lpstr>Churn Rate by Tenure</vt:lpstr>
      <vt:lpstr>Strategic Growth Framework</vt:lpstr>
      <vt:lpstr>DASHBOARD -1 </vt:lpstr>
      <vt:lpstr>DASHBOARD -2 </vt:lpstr>
      <vt:lpstr>DASHBOARD -3 </vt:lpstr>
      <vt:lpstr>DASHBOARD -4 </vt:lpstr>
      <vt:lpstr>PowerPoint Presentation</vt:lpstr>
      <vt:lpstr>Conclusions &amp; 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Varshith Anishetti</dc:creator>
  <cp:lastModifiedBy>Varshith Anishetti</cp:lastModifiedBy>
  <cp:revision>4</cp:revision>
  <dcterms:created xsi:type="dcterms:W3CDTF">2026-03-21T10:22:00Z</dcterms:created>
  <dcterms:modified xsi:type="dcterms:W3CDTF">2026-03-22T09:46:18Z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