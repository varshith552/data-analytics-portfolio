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2"/>
  </p:notesMasterIdLst>
  <p:handoutMasterIdLst>
    <p:handoutMasterId r:id="rId23"/>
  </p:handoutMasterIdLst>
  <p:sldIdLst>
    <p:sldId id="317" r:id="rId5"/>
    <p:sldId id="307" r:id="rId6"/>
    <p:sldId id="318" r:id="rId7"/>
    <p:sldId id="308" r:id="rId8"/>
    <p:sldId id="278" r:id="rId9"/>
    <p:sldId id="309" r:id="rId10"/>
    <p:sldId id="310" r:id="rId11"/>
    <p:sldId id="319" r:id="rId12"/>
    <p:sldId id="320" r:id="rId13"/>
    <p:sldId id="321" r:id="rId14"/>
    <p:sldId id="322" r:id="rId15"/>
    <p:sldId id="323" r:id="rId16"/>
    <p:sldId id="324" r:id="rId17"/>
    <p:sldId id="311" r:id="rId18"/>
    <p:sldId id="312" r:id="rId19"/>
    <p:sldId id="316" r:id="rId20"/>
    <p:sldId id="30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D34D24-7060-421D-8B35-EE666B19CB3E}" v="68" dt="2026-02-24T18:29:46.016"/>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5405" autoAdjust="0"/>
  </p:normalViewPr>
  <p:slideViewPr>
    <p:cSldViewPr snapToGrid="0">
      <p:cViewPr varScale="1">
        <p:scale>
          <a:sx n="82" d="100"/>
          <a:sy n="82" d="100"/>
        </p:scale>
        <p:origin x="894" y="60"/>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2/24/2026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2/24/2026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C246B-F4B8-73EC-C987-5A44D8D860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68E7C-6895-3614-F12D-9426F959B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496A8-A46B-C0C8-20A1-8511E962AC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FF7BB8-38A3-D381-1762-E11C133EC3A6}"/>
              </a:ext>
            </a:extLst>
          </p:cNvPr>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814894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B2B3-6052-1001-D2B9-5FF958FCB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B438FF-7AE3-2C60-BD7B-0861B919E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6B5B5-9766-556B-CEB5-D8745F9BE4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71472C-E750-FD7A-4164-76F38E251BB9}"/>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943550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510A8-719C-220E-0829-30C888D0E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90578A-97E9-BAA7-3C6D-24F1EFA23F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9BC5BA-4A6A-354B-24E0-AA972492A3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D85909-CA76-0E10-818C-0B1E2DCE932F}"/>
              </a:ext>
            </a:extLst>
          </p:cNvPr>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1497573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3628B-1592-38A1-B63B-F307357972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63009-A800-D65B-B2C4-60AF0FF1DB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41A3DE-6CD1-873F-9934-A47930D560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033A4E-81F5-41D3-C8DC-E04C41713973}"/>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1571198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CA112-517A-3793-F076-574FE1131E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BCEB28-A027-C7BF-E08F-FCAB3C02C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D3C18-9B41-4D9B-FED0-5E43C6B44F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FC0E95-3437-34C5-8D89-9399A6325A6D}"/>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15176439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AA29-4162-0312-4710-8C82E4D6F8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192F7-198D-376E-F156-3A9E47B97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6C3799-600D-C19E-7066-2F21EC6CF8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31CE97-5C4A-6337-0F1F-6A312E7198C6}"/>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11472471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D2167-A595-0FC5-27B6-398753228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40E32-41DB-9164-564C-6F8B10157F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77575-D89B-15A0-78D8-AE732BDC0B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EBE5F7-572D-5480-154F-9C54AF50E156}"/>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3504191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14</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1091770" y="2274278"/>
            <a:ext cx="10360152" cy="1723292"/>
          </a:xfrm>
        </p:spPr>
        <p:txBody>
          <a:bodyPr anchor="ctr"/>
          <a:lstStyle/>
          <a:p>
            <a:r>
              <a:rPr lang="en-US" b="1" spc="106" dirty="0">
                <a:solidFill>
                  <a:srgbClr val="282828"/>
                </a:solidFill>
                <a:latin typeface="Telegraf Bold"/>
                <a:ea typeface="Telegraf Bold"/>
                <a:cs typeface="Telegraf Bold"/>
                <a:sym typeface="Telegraf Bold"/>
              </a:rPr>
              <a:t>Astro-sage Call Center Performance Analysis</a:t>
            </a:r>
            <a:br>
              <a:rPr lang="en-US" b="1" spc="106" dirty="0">
                <a:solidFill>
                  <a:srgbClr val="282828"/>
                </a:solidFill>
                <a:latin typeface="Telegraf Bold"/>
                <a:ea typeface="Telegraf Bold"/>
                <a:cs typeface="Telegraf Bold"/>
                <a:sym typeface="Telegraf Bold"/>
              </a:rPr>
            </a:br>
            <a:endParaRPr lang="en-US" dirty="0"/>
          </a:p>
        </p:txBody>
      </p:sp>
      <p:sp>
        <p:nvSpPr>
          <p:cNvPr id="4" name="TextBox 3">
            <a:extLst>
              <a:ext uri="{FF2B5EF4-FFF2-40B4-BE49-F238E27FC236}">
                <a16:creationId xmlns:a16="http://schemas.microsoft.com/office/drawing/2014/main" id="{5D30BE67-6C66-F6B2-7D22-BFF5DD30DC9F}"/>
              </a:ext>
            </a:extLst>
          </p:cNvPr>
          <p:cNvSpPr txBox="1"/>
          <p:nvPr/>
        </p:nvSpPr>
        <p:spPr>
          <a:xfrm>
            <a:off x="4806462" y="3821724"/>
            <a:ext cx="2708030" cy="707886"/>
          </a:xfrm>
          <a:prstGeom prst="rect">
            <a:avLst/>
          </a:prstGeom>
          <a:noFill/>
        </p:spPr>
        <p:txBody>
          <a:bodyPr wrap="square" rtlCol="0">
            <a:spAutoFit/>
          </a:bodyPr>
          <a:lstStyle/>
          <a:p>
            <a:pPr algn="ctr"/>
            <a:r>
              <a:rPr lang="en-US" sz="2000" b="1" dirty="0"/>
              <a:t>Varshith </a:t>
            </a:r>
            <a:r>
              <a:rPr lang="en-US" sz="2000" b="1" dirty="0" err="1"/>
              <a:t>Anishetty</a:t>
            </a:r>
            <a:endParaRPr lang="en-US" sz="2000" b="1" dirty="0"/>
          </a:p>
          <a:p>
            <a:pPr algn="ctr"/>
            <a:r>
              <a:rPr lang="en-US" sz="2000" b="1" dirty="0"/>
              <a:t>20-02-2026</a:t>
            </a:r>
            <a:endParaRPr lang="en-IN" sz="2000" b="1"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454152" y="914400"/>
            <a:ext cx="5641848" cy="5029200"/>
          </a:xfrm>
        </p:spPr>
        <p:txBody>
          <a:bodyPr/>
          <a:lstStyle/>
          <a:p>
            <a:r>
              <a:rPr lang="en-US" sz="3600" dirty="0"/>
              <a:t>Problem Statement</a:t>
            </a:r>
          </a:p>
        </p:txBody>
      </p:sp>
      <p:sp>
        <p:nvSpPr>
          <p:cNvPr id="9" name="TextBox 8">
            <a:extLst>
              <a:ext uri="{FF2B5EF4-FFF2-40B4-BE49-F238E27FC236}">
                <a16:creationId xmlns:a16="http://schemas.microsoft.com/office/drawing/2014/main" id="{E556F1B9-1E7D-72FD-567D-0F732AEC5C7E}"/>
              </a:ext>
            </a:extLst>
          </p:cNvPr>
          <p:cNvSpPr txBox="1"/>
          <p:nvPr/>
        </p:nvSpPr>
        <p:spPr>
          <a:xfrm>
            <a:off x="7053622" y="1583139"/>
            <a:ext cx="4684226" cy="4154984"/>
          </a:xfrm>
          <a:prstGeom prst="rect">
            <a:avLst/>
          </a:prstGeom>
          <a:noFill/>
        </p:spPr>
        <p:txBody>
          <a:bodyPr wrap="square" rtlCol="0">
            <a:spAutoFit/>
          </a:bodyPr>
          <a:lstStyle/>
          <a:p>
            <a:r>
              <a:rPr lang="en-IN" sz="2200" dirty="0" err="1"/>
              <a:t>AstroSage</a:t>
            </a:r>
            <a:r>
              <a:rPr lang="en-IN" sz="2200" dirty="0"/>
              <a:t> has received a ₹1 crore investment to improve its call </a:t>
            </a:r>
            <a:r>
              <a:rPr lang="en-IN" sz="2200" dirty="0" err="1"/>
              <a:t>center</a:t>
            </a:r>
            <a:r>
              <a:rPr lang="en-IN" sz="2200" dirty="0"/>
              <a:t> operations. The goal is to analyse historical call data, performance metrics, and market trends to determine how best to allocate this investment. The objective is to enhance operational efficiency, customer satisfaction, and profitability through data driven decisions on staffing, technology, training, and process improvements.</a:t>
            </a:r>
          </a:p>
          <a:p>
            <a:r>
              <a:rPr lang="en-IN" sz="2200" b="1" dirty="0"/>
              <a:t> </a:t>
            </a:r>
            <a:endParaRPr lang="en-IN" sz="2200" dirty="0"/>
          </a:p>
        </p:txBody>
      </p:sp>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891E3-ED5D-10C3-7897-1DF8402795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036AE-1387-F64B-2E4C-C1611DDE6038}"/>
              </a:ext>
            </a:extLst>
          </p:cNvPr>
          <p:cNvSpPr>
            <a:spLocks noGrp="1"/>
          </p:cNvSpPr>
          <p:nvPr>
            <p:ph type="title"/>
          </p:nvPr>
        </p:nvSpPr>
        <p:spPr>
          <a:xfrm>
            <a:off x="515816" y="914400"/>
            <a:ext cx="5641848" cy="5029200"/>
          </a:xfrm>
        </p:spPr>
        <p:txBody>
          <a:bodyPr/>
          <a:lstStyle/>
          <a:p>
            <a:r>
              <a:rPr lang="en-US" sz="3600" dirty="0"/>
              <a:t>Objective</a:t>
            </a:r>
          </a:p>
        </p:txBody>
      </p:sp>
      <p:sp>
        <p:nvSpPr>
          <p:cNvPr id="8" name="TextBox 7">
            <a:extLst>
              <a:ext uri="{FF2B5EF4-FFF2-40B4-BE49-F238E27FC236}">
                <a16:creationId xmlns:a16="http://schemas.microsoft.com/office/drawing/2014/main" id="{59E3F107-DD9A-709F-2524-30D57CC06326}"/>
              </a:ext>
            </a:extLst>
          </p:cNvPr>
          <p:cNvSpPr txBox="1"/>
          <p:nvPr/>
        </p:nvSpPr>
        <p:spPr>
          <a:xfrm>
            <a:off x="7209692" y="2098430"/>
            <a:ext cx="4466492" cy="2462213"/>
          </a:xfrm>
          <a:prstGeom prst="rect">
            <a:avLst/>
          </a:prstGeom>
          <a:noFill/>
        </p:spPr>
        <p:txBody>
          <a:bodyPr wrap="square" rtlCol="0">
            <a:spAutoFit/>
          </a:bodyPr>
          <a:lstStyle/>
          <a:p>
            <a:r>
              <a:rPr lang="en-US" sz="2200" dirty="0"/>
              <a:t>The objective of this project is to analyze historical consultation data to identify operational bottlenecks, performance gaps, and customer experience issues, and to provide data-driven recommendations to improve efficiency, satisfaction, and profitability.</a:t>
            </a:r>
            <a:endParaRPr lang="en-IN" sz="2200" dirty="0"/>
          </a:p>
        </p:txBody>
      </p:sp>
    </p:spTree>
    <p:extLst>
      <p:ext uri="{BB962C8B-B14F-4D97-AF65-F5344CB8AC3E}">
        <p14:creationId xmlns:p14="http://schemas.microsoft.com/office/powerpoint/2010/main" val="1683177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690136" y="-1348153"/>
            <a:ext cx="5641848" cy="4777153"/>
          </a:xfrm>
        </p:spPr>
        <p:txBody>
          <a:bodyPr/>
          <a:lstStyle/>
          <a:p>
            <a:r>
              <a:rPr lang="en-US" sz="3600" dirty="0"/>
              <a:t>Dataset Overview</a:t>
            </a:r>
          </a:p>
        </p:txBody>
      </p:sp>
      <p:pic>
        <p:nvPicPr>
          <p:cNvPr id="6" name="Picture 5">
            <a:extLst>
              <a:ext uri="{FF2B5EF4-FFF2-40B4-BE49-F238E27FC236}">
                <a16:creationId xmlns:a16="http://schemas.microsoft.com/office/drawing/2014/main" id="{182F07A8-B749-4431-7C6D-61F5E8B62C53}"/>
              </a:ext>
            </a:extLst>
          </p:cNvPr>
          <p:cNvPicPr>
            <a:picLocks noChangeAspect="1"/>
          </p:cNvPicPr>
          <p:nvPr/>
        </p:nvPicPr>
        <p:blipFill>
          <a:blip r:embed="rId3"/>
          <a:stretch>
            <a:fillRect/>
          </a:stretch>
        </p:blipFill>
        <p:spPr>
          <a:xfrm>
            <a:off x="8417285" y="2146422"/>
            <a:ext cx="3608867" cy="2929670"/>
          </a:xfrm>
          <a:prstGeom prst="rect">
            <a:avLst/>
          </a:prstGeom>
        </p:spPr>
      </p:pic>
      <p:sp>
        <p:nvSpPr>
          <p:cNvPr id="7" name="TextBox 6">
            <a:extLst>
              <a:ext uri="{FF2B5EF4-FFF2-40B4-BE49-F238E27FC236}">
                <a16:creationId xmlns:a16="http://schemas.microsoft.com/office/drawing/2014/main" id="{9823CCE7-1768-23C4-6F45-149CFBC64B28}"/>
              </a:ext>
            </a:extLst>
          </p:cNvPr>
          <p:cNvSpPr txBox="1"/>
          <p:nvPr/>
        </p:nvSpPr>
        <p:spPr>
          <a:xfrm>
            <a:off x="690136" y="1672264"/>
            <a:ext cx="5122985" cy="4493538"/>
          </a:xfrm>
          <a:prstGeom prst="rect">
            <a:avLst/>
          </a:prstGeom>
          <a:noFill/>
        </p:spPr>
        <p:txBody>
          <a:bodyPr wrap="square" rtlCol="0">
            <a:spAutoFit/>
          </a:bodyPr>
          <a:lstStyle/>
          <a:p>
            <a:pPr marL="285750" indent="-285750">
              <a:buFont typeface="Arial" panose="020B0604020202020204" pitchFamily="34" charset="0"/>
              <a:buChar char="•"/>
            </a:pPr>
            <a:r>
              <a:rPr lang="fr-FR" sz="2200" dirty="0" err="1"/>
              <a:t>Dataset</a:t>
            </a:r>
            <a:r>
              <a:rPr lang="fr-FR" sz="2200" dirty="0"/>
              <a:t> </a:t>
            </a:r>
            <a:r>
              <a:rPr lang="fr-FR" sz="2200" dirty="0" err="1"/>
              <a:t>contains</a:t>
            </a:r>
            <a:r>
              <a:rPr lang="fr-FR" sz="2200" dirty="0"/>
              <a:t> 28,027 consultation interaction records</a:t>
            </a:r>
          </a:p>
          <a:p>
            <a:endParaRPr lang="en-US" sz="2200" dirty="0"/>
          </a:p>
          <a:p>
            <a:pPr marL="285750" indent="-285750">
              <a:buFont typeface="Arial" panose="020B0604020202020204" pitchFamily="34" charset="0"/>
              <a:buChar char="•"/>
            </a:pPr>
            <a:r>
              <a:rPr lang="en-US" sz="2200" dirty="0"/>
              <a:t>Includes calls, chats, ratings, revenue, and agents</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Covers platform usage and time-based activity</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Provides performance and service quality indicators</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Enables detailed operational trend analysis</a:t>
            </a:r>
            <a:endParaRPr lang="en-IN" sz="2200" dirty="0"/>
          </a:p>
        </p:txBody>
      </p:sp>
    </p:spTree>
    <p:extLst>
      <p:ext uri="{BB962C8B-B14F-4D97-AF65-F5344CB8AC3E}">
        <p14:creationId xmlns:p14="http://schemas.microsoft.com/office/powerpoint/2010/main" val="22223244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706329" y="607691"/>
            <a:ext cx="5449824" cy="742774"/>
          </a:xfrm>
        </p:spPr>
        <p:txBody>
          <a:bodyPr anchor="b"/>
          <a:lstStyle/>
          <a:p>
            <a:r>
              <a:rPr lang="en-US" sz="3600" dirty="0"/>
              <a:t>Methodology</a:t>
            </a:r>
          </a:p>
        </p:txBody>
      </p:sp>
      <p:sp>
        <p:nvSpPr>
          <p:cNvPr id="8" name="TextBox 7">
            <a:extLst>
              <a:ext uri="{FF2B5EF4-FFF2-40B4-BE49-F238E27FC236}">
                <a16:creationId xmlns:a16="http://schemas.microsoft.com/office/drawing/2014/main" id="{67460C73-972D-D26D-DC3B-5DB0C3B39D83}"/>
              </a:ext>
            </a:extLst>
          </p:cNvPr>
          <p:cNvSpPr txBox="1"/>
          <p:nvPr/>
        </p:nvSpPr>
        <p:spPr>
          <a:xfrm>
            <a:off x="741498" y="1691106"/>
            <a:ext cx="6066685" cy="3816429"/>
          </a:xfrm>
          <a:prstGeom prst="rect">
            <a:avLst/>
          </a:prstGeom>
          <a:noFill/>
        </p:spPr>
        <p:txBody>
          <a:bodyPr wrap="square" rtlCol="0">
            <a:spAutoFit/>
          </a:bodyPr>
          <a:lstStyle/>
          <a:p>
            <a:pPr marL="285750" indent="-285750">
              <a:buFont typeface="Arial" panose="020B0604020202020204" pitchFamily="34" charset="0"/>
              <a:buChar char="•"/>
            </a:pPr>
            <a:r>
              <a:rPr lang="en-US" sz="2200" dirty="0"/>
              <a:t>Data cleaned and validated for analysis accuracy</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Time fields extracted for hourly and daily trends</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Pivot tables used to summarize key metrics</a:t>
            </a:r>
          </a:p>
          <a:p>
            <a:pPr marL="285750" indent="-285750">
              <a:buFont typeface="Arial" panose="020B0604020202020204" pitchFamily="34" charset="0"/>
              <a:buChar char="•"/>
            </a:pPr>
            <a:endParaRPr lang="en-IN" sz="2200" dirty="0"/>
          </a:p>
          <a:p>
            <a:pPr marL="285750" indent="-285750">
              <a:buFont typeface="Arial" panose="020B0604020202020204" pitchFamily="34" charset="0"/>
              <a:buChar char="•"/>
            </a:pPr>
            <a:r>
              <a:rPr lang="en-US" sz="2200" dirty="0"/>
              <a:t>Charts created to visualize patterns and comparisons</a:t>
            </a:r>
          </a:p>
          <a:p>
            <a:pPr marL="285750" indent="-285750">
              <a:buFont typeface="Arial" panose="020B0604020202020204" pitchFamily="34" charset="0"/>
              <a:buChar char="•"/>
            </a:pPr>
            <a:endParaRPr lang="en-US" sz="2200" dirty="0"/>
          </a:p>
          <a:p>
            <a:pPr marL="285750" indent="-285750">
              <a:buFont typeface="Arial" panose="020B0604020202020204" pitchFamily="34" charset="0"/>
              <a:buChar char="•"/>
            </a:pPr>
            <a:r>
              <a:rPr lang="en-US" sz="2200" dirty="0"/>
              <a:t>Dashboard built for interactive performance monitoring</a:t>
            </a:r>
          </a:p>
        </p:txBody>
      </p:sp>
      <p:grpSp>
        <p:nvGrpSpPr>
          <p:cNvPr id="17" name="Group 16">
            <a:extLst>
              <a:ext uri="{FF2B5EF4-FFF2-40B4-BE49-F238E27FC236}">
                <a16:creationId xmlns:a16="http://schemas.microsoft.com/office/drawing/2014/main" id="{20BED9F7-4CFF-767E-34BB-232081F2BE80}"/>
              </a:ext>
            </a:extLst>
          </p:cNvPr>
          <p:cNvGrpSpPr/>
          <p:nvPr/>
        </p:nvGrpSpPr>
        <p:grpSpPr>
          <a:xfrm>
            <a:off x="8276496" y="843677"/>
            <a:ext cx="1875693" cy="5268694"/>
            <a:chOff x="8135815" y="837996"/>
            <a:chExt cx="1875693" cy="5268694"/>
          </a:xfrm>
          <a:effectLst>
            <a:outerShdw blurRad="50800" dist="38100" dir="16200000" rotWithShape="0">
              <a:prstClr val="black">
                <a:alpha val="40000"/>
              </a:prstClr>
            </a:outerShdw>
          </a:effectLst>
        </p:grpSpPr>
        <p:sp>
          <p:nvSpPr>
            <p:cNvPr id="9" name="Rectangle: Rounded Corners 8">
              <a:extLst>
                <a:ext uri="{FF2B5EF4-FFF2-40B4-BE49-F238E27FC236}">
                  <a16:creationId xmlns:a16="http://schemas.microsoft.com/office/drawing/2014/main" id="{084398E7-FAB3-5053-A3AD-0A56B01F625E}"/>
                </a:ext>
              </a:extLst>
            </p:cNvPr>
            <p:cNvSpPr/>
            <p:nvPr/>
          </p:nvSpPr>
          <p:spPr>
            <a:xfrm>
              <a:off x="8135815" y="83799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Raw Data</a:t>
              </a:r>
              <a:endParaRPr lang="en-IN" dirty="0">
                <a:solidFill>
                  <a:sysClr val="windowText" lastClr="000000"/>
                </a:solidFill>
              </a:endParaRPr>
            </a:p>
          </p:txBody>
        </p:sp>
        <p:sp>
          <p:nvSpPr>
            <p:cNvPr id="13" name="Rectangle: Rounded Corners 12">
              <a:extLst>
                <a:ext uri="{FF2B5EF4-FFF2-40B4-BE49-F238E27FC236}">
                  <a16:creationId xmlns:a16="http://schemas.microsoft.com/office/drawing/2014/main" id="{C29AB058-CE57-DB53-6FC9-28D1FBB35018}"/>
                </a:ext>
              </a:extLst>
            </p:cNvPr>
            <p:cNvSpPr/>
            <p:nvPr/>
          </p:nvSpPr>
          <p:spPr>
            <a:xfrm>
              <a:off x="8135815" y="196947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Cleaning</a:t>
              </a:r>
              <a:endParaRPr lang="en-IN" dirty="0">
                <a:solidFill>
                  <a:sysClr val="windowText" lastClr="000000"/>
                </a:solidFill>
              </a:endParaRPr>
            </a:p>
          </p:txBody>
        </p:sp>
        <p:sp>
          <p:nvSpPr>
            <p:cNvPr id="14" name="Rectangle: Rounded Corners 13">
              <a:extLst>
                <a:ext uri="{FF2B5EF4-FFF2-40B4-BE49-F238E27FC236}">
                  <a16:creationId xmlns:a16="http://schemas.microsoft.com/office/drawing/2014/main" id="{00DE8695-4E11-8F78-F5DC-F25DDB213097}"/>
                </a:ext>
              </a:extLst>
            </p:cNvPr>
            <p:cNvSpPr/>
            <p:nvPr/>
          </p:nvSpPr>
          <p:spPr>
            <a:xfrm>
              <a:off x="8135815" y="310095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Analysis</a:t>
              </a:r>
              <a:endParaRPr lang="en-IN" dirty="0">
                <a:solidFill>
                  <a:sysClr val="windowText" lastClr="000000"/>
                </a:solidFill>
              </a:endParaRPr>
            </a:p>
          </p:txBody>
        </p:sp>
        <p:sp>
          <p:nvSpPr>
            <p:cNvPr id="15" name="Rectangle: Rounded Corners 14">
              <a:extLst>
                <a:ext uri="{FF2B5EF4-FFF2-40B4-BE49-F238E27FC236}">
                  <a16:creationId xmlns:a16="http://schemas.microsoft.com/office/drawing/2014/main" id="{D8C60B1A-E934-01D2-C54E-292846FF165F}"/>
                </a:ext>
              </a:extLst>
            </p:cNvPr>
            <p:cNvSpPr/>
            <p:nvPr/>
          </p:nvSpPr>
          <p:spPr>
            <a:xfrm>
              <a:off x="8135815" y="423243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rPr>
                <a:t>Visualization</a:t>
              </a:r>
              <a:endParaRPr lang="en-IN" dirty="0">
                <a:solidFill>
                  <a:srgbClr val="000000"/>
                </a:solidFill>
              </a:endParaRPr>
            </a:p>
          </p:txBody>
        </p:sp>
        <p:sp>
          <p:nvSpPr>
            <p:cNvPr id="16" name="Rectangle: Rounded Corners 15">
              <a:extLst>
                <a:ext uri="{FF2B5EF4-FFF2-40B4-BE49-F238E27FC236}">
                  <a16:creationId xmlns:a16="http://schemas.microsoft.com/office/drawing/2014/main" id="{B0C9C06F-2145-C880-870A-FCF55F6E6007}"/>
                </a:ext>
              </a:extLst>
            </p:cNvPr>
            <p:cNvSpPr/>
            <p:nvPr/>
          </p:nvSpPr>
          <p:spPr>
            <a:xfrm>
              <a:off x="8135815" y="5363916"/>
              <a:ext cx="1875693" cy="742774"/>
            </a:xfrm>
            <a:prstGeom prst="roundRect">
              <a:avLst>
                <a:gd name="adj" fmla="val 5303"/>
              </a:avLst>
            </a:prstGeom>
            <a:solidFill>
              <a:schemeClr val="tx1">
                <a:lumMod val="40000"/>
                <a:lumOff val="60000"/>
              </a:schemeClr>
            </a:solidFill>
            <a:ln>
              <a:solidFill>
                <a:schemeClr val="accent6">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0000"/>
                  </a:solidFill>
                </a:rPr>
                <a:t>Insights</a:t>
              </a:r>
              <a:endParaRPr lang="en-IN" dirty="0">
                <a:solidFill>
                  <a:srgbClr val="000000"/>
                </a:solidFill>
              </a:endParaRPr>
            </a:p>
          </p:txBody>
        </p:sp>
      </p:grpSp>
      <p:cxnSp>
        <p:nvCxnSpPr>
          <p:cNvPr id="19" name="Straight Arrow Connector 18">
            <a:extLst>
              <a:ext uri="{FF2B5EF4-FFF2-40B4-BE49-F238E27FC236}">
                <a16:creationId xmlns:a16="http://schemas.microsoft.com/office/drawing/2014/main" id="{CB8122A4-06B9-2982-1227-7B86DE78FBFD}"/>
              </a:ext>
            </a:extLst>
          </p:cNvPr>
          <p:cNvCxnSpPr>
            <a:stCxn id="9" idx="2"/>
          </p:cNvCxnSpPr>
          <p:nvPr/>
        </p:nvCxnSpPr>
        <p:spPr>
          <a:xfrm flipH="1">
            <a:off x="9214342" y="1586451"/>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F44C2F6-466D-51A2-659F-AA1ED73A5407}"/>
              </a:ext>
            </a:extLst>
          </p:cNvPr>
          <p:cNvCxnSpPr>
            <a:cxnSpLocks/>
          </p:cNvCxnSpPr>
          <p:nvPr/>
        </p:nvCxnSpPr>
        <p:spPr>
          <a:xfrm flipH="1">
            <a:off x="9530861" y="2668907"/>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7CEBC92-8676-FC34-4EAB-7D408EAB586F}"/>
              </a:ext>
            </a:extLst>
          </p:cNvPr>
          <p:cNvCxnSpPr>
            <a:cxnSpLocks/>
          </p:cNvCxnSpPr>
          <p:nvPr/>
        </p:nvCxnSpPr>
        <p:spPr>
          <a:xfrm flipH="1">
            <a:off x="9530861" y="3819026"/>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4D1A068-B7B2-F9C4-A038-F0D5067AFF0E}"/>
              </a:ext>
            </a:extLst>
          </p:cNvPr>
          <p:cNvCxnSpPr>
            <a:cxnSpLocks/>
          </p:cNvCxnSpPr>
          <p:nvPr/>
        </p:nvCxnSpPr>
        <p:spPr>
          <a:xfrm flipH="1">
            <a:off x="9530861" y="4940040"/>
            <a:ext cx="1" cy="209311"/>
          </a:xfrm>
          <a:prstGeom prst="straightConnector1">
            <a:avLst/>
          </a:prstGeom>
          <a:ln>
            <a:solidFill>
              <a:schemeClr val="accent6">
                <a:lumMod val="1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0000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15755" y="447464"/>
            <a:ext cx="10527962" cy="914400"/>
          </a:xfrm>
        </p:spPr>
        <p:txBody>
          <a:bodyPr/>
          <a:lstStyle/>
          <a:p>
            <a:r>
              <a:rPr lang="en-IN" sz="3600" dirty="0"/>
              <a:t>Revenue by Consultation Type</a:t>
            </a:r>
            <a:endParaRPr lang="en-US" sz="3600" dirty="0"/>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727478" y="1750712"/>
            <a:ext cx="7150608" cy="3356576"/>
          </a:xfrm>
        </p:spPr>
        <p:txBody>
          <a:bodyPr>
            <a:normAutofit/>
          </a:bodyPr>
          <a:lstStyle/>
          <a:p>
            <a:pPr marL="0" indent="0">
              <a:buNone/>
            </a:pPr>
            <a:r>
              <a:rPr lang="en-US" sz="2200" dirty="0"/>
              <a:t>• Call services generate majority of total revenue share</a:t>
            </a:r>
          </a:p>
          <a:p>
            <a:pPr marL="0" indent="0">
              <a:buNone/>
            </a:pPr>
            <a:br>
              <a:rPr lang="en-US" sz="2200" dirty="0"/>
            </a:br>
            <a:r>
              <a:rPr lang="en-US" sz="2200" dirty="0"/>
              <a:t>• Calls contribute approximately 79% of earnings</a:t>
            </a:r>
          </a:p>
          <a:p>
            <a:pPr marL="0" indent="0">
              <a:buNone/>
            </a:pPr>
            <a:br>
              <a:rPr lang="en-US" sz="2200" dirty="0"/>
            </a:br>
            <a:r>
              <a:rPr lang="en-US" sz="2200" dirty="0"/>
              <a:t>• Chat consultations produce smaller revenue portion</a:t>
            </a:r>
          </a:p>
          <a:p>
            <a:pPr marL="0" indent="0">
              <a:buNone/>
            </a:pPr>
            <a:br>
              <a:rPr lang="en-US" sz="2200" dirty="0"/>
            </a:br>
            <a:r>
              <a:rPr lang="en-US" sz="2200" dirty="0"/>
              <a:t>• Revenue distribution depends strongly on call demand</a:t>
            </a:r>
          </a:p>
          <a:p>
            <a:pPr marL="0" indent="0">
              <a:buNone/>
            </a:pPr>
            <a:br>
              <a:rPr lang="en-US" sz="2200" dirty="0"/>
            </a:br>
            <a:r>
              <a:rPr lang="en-US" sz="2200" dirty="0"/>
              <a:t>• Call optimization directly impacts profitability</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
        <p:nvSpPr>
          <p:cNvPr id="2" name="Rectangle: Rounded Corners 1">
            <a:extLst>
              <a:ext uri="{FF2B5EF4-FFF2-40B4-BE49-F238E27FC236}">
                <a16:creationId xmlns:a16="http://schemas.microsoft.com/office/drawing/2014/main" id="{F474CF82-F406-3686-1361-77035D1717BF}"/>
              </a:ext>
            </a:extLst>
          </p:cNvPr>
          <p:cNvSpPr/>
          <p:nvPr/>
        </p:nvSpPr>
        <p:spPr>
          <a:xfrm>
            <a:off x="7500071" y="1910861"/>
            <a:ext cx="3924301"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5AB721CF-0557-B8AB-A188-E04FBDD6EF1E}"/>
              </a:ext>
            </a:extLst>
          </p:cNvPr>
          <p:cNvPicPr>
            <a:picLocks noChangeAspect="1"/>
          </p:cNvPicPr>
          <p:nvPr/>
        </p:nvPicPr>
        <p:blipFill>
          <a:blip r:embed="rId3"/>
          <a:stretch>
            <a:fillRect/>
          </a:stretch>
        </p:blipFill>
        <p:spPr>
          <a:xfrm>
            <a:off x="7669003" y="2059774"/>
            <a:ext cx="3586436" cy="2738450"/>
          </a:xfrm>
          <a:prstGeom prst="roundRect">
            <a:avLst>
              <a:gd name="adj" fmla="val 1984"/>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966913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716632" y="452159"/>
            <a:ext cx="10360152" cy="914400"/>
          </a:xfrm>
        </p:spPr>
        <p:txBody>
          <a:bodyPr/>
          <a:lstStyle/>
          <a:p>
            <a:r>
              <a:rPr lang="en-IN" sz="3600" dirty="0"/>
              <a:t>Revenue Distribution by Platform</a:t>
            </a:r>
            <a:endParaRPr lang="en-US" sz="3600" dirty="0"/>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715108" y="1736657"/>
            <a:ext cx="6626469" cy="3877055"/>
          </a:xfrm>
        </p:spPr>
        <p:txBody>
          <a:bodyPr>
            <a:normAutofit/>
          </a:bodyPr>
          <a:lstStyle/>
          <a:p>
            <a:r>
              <a:rPr lang="en-IN" sz="2200" dirty="0"/>
              <a:t>• App platform generates highest revenue contribution</a:t>
            </a:r>
          </a:p>
          <a:p>
            <a:br>
              <a:rPr lang="en-IN" sz="2200" dirty="0"/>
            </a:br>
            <a:r>
              <a:rPr lang="en-IN" sz="2200" dirty="0"/>
              <a:t>• </a:t>
            </a:r>
            <a:r>
              <a:rPr lang="en-IN" sz="2200" dirty="0" err="1"/>
              <a:t>GuruCool</a:t>
            </a:r>
            <a:r>
              <a:rPr lang="en-IN" sz="2200" dirty="0"/>
              <a:t> platform shows lower engagement levels</a:t>
            </a:r>
          </a:p>
          <a:p>
            <a:br>
              <a:rPr lang="en-IN" sz="2200" dirty="0"/>
            </a:br>
            <a:r>
              <a:rPr lang="en-IN" sz="2200" dirty="0"/>
              <a:t>• Platform usage varies significantly across users</a:t>
            </a:r>
          </a:p>
          <a:p>
            <a:br>
              <a:rPr lang="en-IN" sz="2200" dirty="0"/>
            </a:br>
            <a:r>
              <a:rPr lang="en-IN" sz="2200" dirty="0"/>
              <a:t>• Revenue imbalance indicates performance differences</a:t>
            </a:r>
          </a:p>
          <a:p>
            <a:br>
              <a:rPr lang="en-IN" sz="2200" dirty="0"/>
            </a:br>
            <a:r>
              <a:rPr lang="en-IN" sz="2200" dirty="0"/>
              <a:t>• Improving weaker platforms can increase growth</a:t>
            </a:r>
            <a:endParaRPr lang="en-US" sz="2200"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
        <p:nvSpPr>
          <p:cNvPr id="8" name="AutoShape 8" descr="Uploaded image">
            <a:extLst>
              <a:ext uri="{FF2B5EF4-FFF2-40B4-BE49-F238E27FC236}">
                <a16:creationId xmlns:a16="http://schemas.microsoft.com/office/drawing/2014/main" id="{691F659F-761B-A772-A98F-94A21BED1B9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C9FCC717-0B97-751A-FDAC-CC8A167CE998}"/>
              </a:ext>
            </a:extLst>
          </p:cNvPr>
          <p:cNvSpPr/>
          <p:nvPr/>
        </p:nvSpPr>
        <p:spPr>
          <a:xfrm>
            <a:off x="7447084" y="1910861"/>
            <a:ext cx="3924301"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2B106F69-3573-29F8-9B72-65A14EDC10DB}"/>
              </a:ext>
            </a:extLst>
          </p:cNvPr>
          <p:cNvPicPr>
            <a:picLocks noChangeAspect="1"/>
          </p:cNvPicPr>
          <p:nvPr/>
        </p:nvPicPr>
        <p:blipFill>
          <a:blip r:embed="rId3"/>
          <a:stretch>
            <a:fillRect/>
          </a:stretch>
        </p:blipFill>
        <p:spPr>
          <a:xfrm>
            <a:off x="7615451" y="2036562"/>
            <a:ext cx="3651102" cy="2784876"/>
          </a:xfrm>
          <a:prstGeom prst="roundRect">
            <a:avLst>
              <a:gd name="adj" fmla="val 2355"/>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B7C44-694F-4744-8CDB-13656BC25761}"/>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DE62B370-D2CF-3900-78FB-55C0EAD4A08A}"/>
              </a:ext>
            </a:extLst>
          </p:cNvPr>
          <p:cNvSpPr>
            <a:spLocks noGrp="1"/>
          </p:cNvSpPr>
          <p:nvPr>
            <p:ph type="title"/>
          </p:nvPr>
        </p:nvSpPr>
        <p:spPr>
          <a:xfrm>
            <a:off x="704032" y="451605"/>
            <a:ext cx="8651631" cy="914400"/>
          </a:xfrm>
        </p:spPr>
        <p:txBody>
          <a:bodyPr/>
          <a:lstStyle/>
          <a:p>
            <a:r>
              <a:rPr lang="en-IN" sz="3600" dirty="0"/>
              <a:t>Chat Status Distribution</a:t>
            </a:r>
            <a:endParaRPr lang="en-US" sz="3600" dirty="0"/>
          </a:p>
        </p:txBody>
      </p:sp>
      <p:sp>
        <p:nvSpPr>
          <p:cNvPr id="8" name="Content Placeholder 7">
            <a:extLst>
              <a:ext uri="{FF2B5EF4-FFF2-40B4-BE49-F238E27FC236}">
                <a16:creationId xmlns:a16="http://schemas.microsoft.com/office/drawing/2014/main" id="{C40A8F72-64B9-D78D-0CF4-783E80E185B9}"/>
              </a:ext>
            </a:extLst>
          </p:cNvPr>
          <p:cNvSpPr>
            <a:spLocks noGrp="1"/>
          </p:cNvSpPr>
          <p:nvPr>
            <p:ph sz="quarter" idx="10"/>
          </p:nvPr>
        </p:nvSpPr>
        <p:spPr>
          <a:xfrm>
            <a:off x="704032" y="1750712"/>
            <a:ext cx="7150608" cy="3356576"/>
          </a:xfrm>
        </p:spPr>
        <p:txBody>
          <a:bodyPr>
            <a:normAutofit/>
          </a:bodyPr>
          <a:lstStyle/>
          <a:p>
            <a:pPr marL="0" indent="0">
              <a:buNone/>
            </a:pPr>
            <a:r>
              <a:rPr lang="en-US" sz="2200" dirty="0"/>
              <a:t>• On-call chats represent largest share of interactions</a:t>
            </a:r>
          </a:p>
          <a:p>
            <a:pPr marL="0" indent="0">
              <a:buNone/>
            </a:pPr>
            <a:br>
              <a:rPr lang="en-US" sz="2200" dirty="0"/>
            </a:br>
            <a:r>
              <a:rPr lang="en-US" sz="2200" dirty="0"/>
              <a:t>• Failed and incomplete chats form significant portion</a:t>
            </a:r>
          </a:p>
          <a:p>
            <a:pPr marL="0" indent="0">
              <a:buNone/>
            </a:pPr>
            <a:br>
              <a:rPr lang="en-US" sz="2200" dirty="0"/>
            </a:br>
            <a:r>
              <a:rPr lang="en-US" sz="2200" dirty="0"/>
              <a:t>• Completed chats are comparatively fewer</a:t>
            </a:r>
          </a:p>
          <a:p>
            <a:pPr marL="0" indent="0">
              <a:buNone/>
            </a:pPr>
            <a:br>
              <a:rPr lang="en-US" sz="2200" dirty="0"/>
            </a:br>
            <a:r>
              <a:rPr lang="en-US" sz="2200" dirty="0"/>
              <a:t>• Service interruptions affect customer experience</a:t>
            </a:r>
          </a:p>
          <a:p>
            <a:pPr marL="0" indent="0">
              <a:buNone/>
            </a:pPr>
            <a:br>
              <a:rPr lang="en-US" sz="2200" dirty="0"/>
            </a:br>
            <a:r>
              <a:rPr lang="en-US" sz="2200" dirty="0"/>
              <a:t>• Reliability improvement required in chat handling</a:t>
            </a:r>
          </a:p>
        </p:txBody>
      </p:sp>
      <p:sp>
        <p:nvSpPr>
          <p:cNvPr id="3" name="Slide Number Placeholder 2">
            <a:extLst>
              <a:ext uri="{FF2B5EF4-FFF2-40B4-BE49-F238E27FC236}">
                <a16:creationId xmlns:a16="http://schemas.microsoft.com/office/drawing/2014/main" id="{FF61899C-C0BD-FED8-FC2E-8E2602D8DBA3}"/>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sp>
        <p:nvSpPr>
          <p:cNvPr id="2" name="Rectangle: Rounded Corners 1">
            <a:extLst>
              <a:ext uri="{FF2B5EF4-FFF2-40B4-BE49-F238E27FC236}">
                <a16:creationId xmlns:a16="http://schemas.microsoft.com/office/drawing/2014/main" id="{DB2F6342-8DC2-0DA2-9FCB-81F94A3B1741}"/>
              </a:ext>
            </a:extLst>
          </p:cNvPr>
          <p:cNvSpPr/>
          <p:nvPr/>
        </p:nvSpPr>
        <p:spPr>
          <a:xfrm>
            <a:off x="7500070" y="1910861"/>
            <a:ext cx="3924301"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E6C54ACB-C0DB-D30E-13D4-9D964767F4ED}"/>
              </a:ext>
            </a:extLst>
          </p:cNvPr>
          <p:cNvPicPr>
            <a:picLocks noChangeAspect="1"/>
          </p:cNvPicPr>
          <p:nvPr/>
        </p:nvPicPr>
        <p:blipFill>
          <a:blip r:embed="rId3"/>
          <a:stretch>
            <a:fillRect/>
          </a:stretch>
        </p:blipFill>
        <p:spPr>
          <a:xfrm>
            <a:off x="7661110" y="2042618"/>
            <a:ext cx="3602219" cy="2772762"/>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2778323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D2496-D001-8474-27F6-385B32EBE8A5}"/>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267D5D12-73E2-297B-6802-F46126F0040C}"/>
              </a:ext>
            </a:extLst>
          </p:cNvPr>
          <p:cNvSpPr>
            <a:spLocks noGrp="1"/>
          </p:cNvSpPr>
          <p:nvPr>
            <p:ph type="title"/>
          </p:nvPr>
        </p:nvSpPr>
        <p:spPr>
          <a:xfrm>
            <a:off x="704909" y="459805"/>
            <a:ext cx="10360152" cy="914400"/>
          </a:xfrm>
        </p:spPr>
        <p:txBody>
          <a:bodyPr/>
          <a:lstStyle/>
          <a:p>
            <a:r>
              <a:rPr lang="en-IN" sz="3600" dirty="0"/>
              <a:t>Hourly Call Distribution</a:t>
            </a:r>
            <a:endParaRPr lang="en-US" sz="3600" dirty="0"/>
          </a:p>
        </p:txBody>
      </p:sp>
      <p:sp>
        <p:nvSpPr>
          <p:cNvPr id="14" name="Content Placeholder 13">
            <a:extLst>
              <a:ext uri="{FF2B5EF4-FFF2-40B4-BE49-F238E27FC236}">
                <a16:creationId xmlns:a16="http://schemas.microsoft.com/office/drawing/2014/main" id="{4D36DB7D-D09B-A9D9-5725-7853A4302C55}"/>
              </a:ext>
            </a:extLst>
          </p:cNvPr>
          <p:cNvSpPr>
            <a:spLocks noGrp="1"/>
          </p:cNvSpPr>
          <p:nvPr>
            <p:ph sz="quarter" idx="11"/>
          </p:nvPr>
        </p:nvSpPr>
        <p:spPr>
          <a:xfrm>
            <a:off x="703385" y="1741225"/>
            <a:ext cx="6224954" cy="3877055"/>
          </a:xfrm>
        </p:spPr>
        <p:txBody>
          <a:bodyPr>
            <a:normAutofit/>
          </a:bodyPr>
          <a:lstStyle/>
          <a:p>
            <a:r>
              <a:rPr lang="en-US" sz="2200" dirty="0"/>
              <a:t>• Call volume rises steadily from early morning</a:t>
            </a:r>
          </a:p>
          <a:p>
            <a:br>
              <a:rPr lang="en-US" sz="2200" dirty="0"/>
            </a:br>
            <a:r>
              <a:rPr lang="en-US" sz="2200" dirty="0"/>
              <a:t>• Peak demand occurs during daytime hours</a:t>
            </a:r>
          </a:p>
          <a:p>
            <a:br>
              <a:rPr lang="en-US" sz="2200" dirty="0"/>
            </a:br>
            <a:r>
              <a:rPr lang="en-US" sz="2200" dirty="0"/>
              <a:t>• Traffic remains high from morning through afternoon</a:t>
            </a:r>
          </a:p>
          <a:p>
            <a:br>
              <a:rPr lang="en-US" sz="2200" dirty="0"/>
            </a:br>
            <a:r>
              <a:rPr lang="en-US" sz="2200" dirty="0"/>
              <a:t>• Evening and night show reduced activity levels</a:t>
            </a:r>
          </a:p>
          <a:p>
            <a:br>
              <a:rPr lang="en-US" sz="2200" dirty="0"/>
            </a:br>
            <a:r>
              <a:rPr lang="en-US" sz="2200" dirty="0"/>
              <a:t>• Peak concentration requires staffing optimization</a:t>
            </a:r>
          </a:p>
        </p:txBody>
      </p:sp>
      <p:sp>
        <p:nvSpPr>
          <p:cNvPr id="2" name="Slide Number Placeholder 1">
            <a:extLst>
              <a:ext uri="{FF2B5EF4-FFF2-40B4-BE49-F238E27FC236}">
                <a16:creationId xmlns:a16="http://schemas.microsoft.com/office/drawing/2014/main" id="{6AC02442-36DA-6A86-3B0E-4D0AAE25294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sp>
        <p:nvSpPr>
          <p:cNvPr id="8" name="AutoShape 8" descr="Uploaded image">
            <a:extLst>
              <a:ext uri="{FF2B5EF4-FFF2-40B4-BE49-F238E27FC236}">
                <a16:creationId xmlns:a16="http://schemas.microsoft.com/office/drawing/2014/main" id="{0E1242C7-BA19-CDB1-53F2-833E332B5B7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FEF767CB-5704-A227-DA5B-759E00A6A3F1}"/>
              </a:ext>
            </a:extLst>
          </p:cNvPr>
          <p:cNvSpPr/>
          <p:nvPr/>
        </p:nvSpPr>
        <p:spPr>
          <a:xfrm>
            <a:off x="6872645" y="1921585"/>
            <a:ext cx="4975319" cy="3182553"/>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336BEF59-C727-9C8C-FC41-94B4BF5E4605}"/>
              </a:ext>
            </a:extLst>
          </p:cNvPr>
          <p:cNvPicPr>
            <a:picLocks noChangeAspect="1"/>
          </p:cNvPicPr>
          <p:nvPr/>
        </p:nvPicPr>
        <p:blipFill>
          <a:blip r:embed="rId3"/>
          <a:stretch>
            <a:fillRect/>
          </a:stretch>
        </p:blipFill>
        <p:spPr>
          <a:xfrm>
            <a:off x="7013384" y="2101684"/>
            <a:ext cx="4693839" cy="2868723"/>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162557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A1C02-76EB-0615-E318-D2F30E7FFBDF}"/>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3650E074-FFC4-5060-5C91-0D4E98DA11F0}"/>
              </a:ext>
            </a:extLst>
          </p:cNvPr>
          <p:cNvSpPr>
            <a:spLocks noGrp="1"/>
          </p:cNvSpPr>
          <p:nvPr>
            <p:ph type="title"/>
          </p:nvPr>
        </p:nvSpPr>
        <p:spPr>
          <a:xfrm>
            <a:off x="704031" y="488182"/>
            <a:ext cx="8651631" cy="914400"/>
          </a:xfrm>
        </p:spPr>
        <p:txBody>
          <a:bodyPr/>
          <a:lstStyle/>
          <a:p>
            <a:r>
              <a:rPr lang="en-IN" sz="3600" dirty="0"/>
              <a:t>User Rating Distribution</a:t>
            </a:r>
            <a:endParaRPr lang="en-US" sz="3600" dirty="0"/>
          </a:p>
        </p:txBody>
      </p:sp>
      <p:sp>
        <p:nvSpPr>
          <p:cNvPr id="8" name="Content Placeholder 7">
            <a:extLst>
              <a:ext uri="{FF2B5EF4-FFF2-40B4-BE49-F238E27FC236}">
                <a16:creationId xmlns:a16="http://schemas.microsoft.com/office/drawing/2014/main" id="{CE3D01B7-547B-C105-33E6-FAA7DCDA9E56}"/>
              </a:ext>
            </a:extLst>
          </p:cNvPr>
          <p:cNvSpPr>
            <a:spLocks noGrp="1"/>
          </p:cNvSpPr>
          <p:nvPr>
            <p:ph sz="quarter" idx="10"/>
          </p:nvPr>
        </p:nvSpPr>
        <p:spPr>
          <a:xfrm>
            <a:off x="702787" y="1738989"/>
            <a:ext cx="6669784" cy="3356576"/>
          </a:xfrm>
        </p:spPr>
        <p:txBody>
          <a:bodyPr>
            <a:normAutofit/>
          </a:bodyPr>
          <a:lstStyle/>
          <a:p>
            <a:pPr marL="0" indent="0">
              <a:buNone/>
            </a:pPr>
            <a:r>
              <a:rPr lang="en-US" sz="2200" dirty="0"/>
              <a:t>• Majority of users provided low satisfaction ratings</a:t>
            </a:r>
          </a:p>
          <a:p>
            <a:pPr marL="0" indent="0">
              <a:buNone/>
            </a:pPr>
            <a:br>
              <a:rPr lang="en-US" sz="2200" dirty="0"/>
            </a:br>
            <a:r>
              <a:rPr lang="en-US" sz="2200" dirty="0"/>
              <a:t>• Rating score zero recorded highest frequency</a:t>
            </a:r>
          </a:p>
          <a:p>
            <a:pPr marL="0" indent="0">
              <a:buNone/>
            </a:pPr>
            <a:br>
              <a:rPr lang="en-US" sz="2200" dirty="0"/>
            </a:br>
            <a:r>
              <a:rPr lang="en-US" sz="2200" dirty="0"/>
              <a:t>• Mid-range ratings appear moderately frequent</a:t>
            </a:r>
          </a:p>
          <a:p>
            <a:pPr marL="0" indent="0">
              <a:buNone/>
            </a:pPr>
            <a:br>
              <a:rPr lang="en-US" sz="2200" dirty="0"/>
            </a:br>
            <a:r>
              <a:rPr lang="en-US" sz="2200" dirty="0"/>
              <a:t>• Overall average rating measured at 2.93</a:t>
            </a:r>
          </a:p>
          <a:p>
            <a:pPr marL="0" indent="0">
              <a:buNone/>
            </a:pPr>
            <a:br>
              <a:rPr lang="en-US" sz="2200" dirty="0"/>
            </a:br>
            <a:r>
              <a:rPr lang="en-US" sz="2200" dirty="0"/>
              <a:t>• Service quality improvement is strongly needed</a:t>
            </a:r>
          </a:p>
        </p:txBody>
      </p:sp>
      <p:sp>
        <p:nvSpPr>
          <p:cNvPr id="3" name="Slide Number Placeholder 2">
            <a:extLst>
              <a:ext uri="{FF2B5EF4-FFF2-40B4-BE49-F238E27FC236}">
                <a16:creationId xmlns:a16="http://schemas.microsoft.com/office/drawing/2014/main" id="{48D04947-A2AC-74F1-172B-FE0DA6B31E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sp>
        <p:nvSpPr>
          <p:cNvPr id="2" name="Rectangle: Rounded Corners 1">
            <a:extLst>
              <a:ext uri="{FF2B5EF4-FFF2-40B4-BE49-F238E27FC236}">
                <a16:creationId xmlns:a16="http://schemas.microsoft.com/office/drawing/2014/main" id="{E10B1B98-B675-51B2-AA36-AF6E5914B0B3}"/>
              </a:ext>
            </a:extLst>
          </p:cNvPr>
          <p:cNvSpPr/>
          <p:nvPr/>
        </p:nvSpPr>
        <p:spPr>
          <a:xfrm>
            <a:off x="7343262" y="1910861"/>
            <a:ext cx="4513384" cy="30362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D1364D72-FBE0-9D09-C02B-CB748CAAA3CE}"/>
              </a:ext>
            </a:extLst>
          </p:cNvPr>
          <p:cNvPicPr>
            <a:picLocks noChangeAspect="1"/>
          </p:cNvPicPr>
          <p:nvPr/>
        </p:nvPicPr>
        <p:blipFill>
          <a:blip r:embed="rId3"/>
          <a:stretch>
            <a:fillRect/>
          </a:stretch>
        </p:blipFill>
        <p:spPr>
          <a:xfrm>
            <a:off x="7487647" y="2076829"/>
            <a:ext cx="4196861" cy="2704339"/>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64240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3B9B3-D9A4-724A-CF46-D61339B63253}"/>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6D9F3F1-3F33-2AD3-56FB-143800C23311}"/>
              </a:ext>
            </a:extLst>
          </p:cNvPr>
          <p:cNvSpPr>
            <a:spLocks noGrp="1"/>
          </p:cNvSpPr>
          <p:nvPr>
            <p:ph type="title"/>
          </p:nvPr>
        </p:nvSpPr>
        <p:spPr>
          <a:xfrm>
            <a:off x="716632" y="438251"/>
            <a:ext cx="10360152" cy="914400"/>
          </a:xfrm>
        </p:spPr>
        <p:txBody>
          <a:bodyPr/>
          <a:lstStyle/>
          <a:p>
            <a:r>
              <a:rPr lang="en-IN" sz="3600" dirty="0"/>
              <a:t>Rating-wise Guru Performance</a:t>
            </a:r>
            <a:endParaRPr lang="en-US" sz="3600" dirty="0"/>
          </a:p>
        </p:txBody>
      </p:sp>
      <p:sp>
        <p:nvSpPr>
          <p:cNvPr id="14" name="Content Placeholder 13">
            <a:extLst>
              <a:ext uri="{FF2B5EF4-FFF2-40B4-BE49-F238E27FC236}">
                <a16:creationId xmlns:a16="http://schemas.microsoft.com/office/drawing/2014/main" id="{744B6FAD-5DE8-63F5-2C46-528841C2D53C}"/>
              </a:ext>
            </a:extLst>
          </p:cNvPr>
          <p:cNvSpPr>
            <a:spLocks noGrp="1"/>
          </p:cNvSpPr>
          <p:nvPr>
            <p:ph sz="quarter" idx="11"/>
          </p:nvPr>
        </p:nvSpPr>
        <p:spPr>
          <a:xfrm>
            <a:off x="706172" y="1736657"/>
            <a:ext cx="6166339" cy="3877055"/>
          </a:xfrm>
        </p:spPr>
        <p:txBody>
          <a:bodyPr>
            <a:normAutofit/>
          </a:bodyPr>
          <a:lstStyle/>
          <a:p>
            <a:r>
              <a:rPr lang="en-US" sz="2200" dirty="0"/>
              <a:t>• Most ratings fall between score ranges two and three</a:t>
            </a:r>
          </a:p>
          <a:p>
            <a:br>
              <a:rPr lang="en-US" sz="2200" dirty="0"/>
            </a:br>
            <a:r>
              <a:rPr lang="en-US" sz="2200" dirty="0"/>
              <a:t>• Very few agents receive high satisfaction scores</a:t>
            </a:r>
          </a:p>
          <a:p>
            <a:br>
              <a:rPr lang="en-US" sz="2200" dirty="0"/>
            </a:br>
            <a:r>
              <a:rPr lang="en-US" sz="2200" dirty="0"/>
              <a:t>• Performance levels vary significantly across agents</a:t>
            </a:r>
          </a:p>
          <a:p>
            <a:br>
              <a:rPr lang="en-US" sz="2200" dirty="0"/>
            </a:br>
            <a:r>
              <a:rPr lang="en-US" sz="2200" dirty="0"/>
              <a:t>• Ratings suggest inconsistent service experience</a:t>
            </a:r>
          </a:p>
          <a:p>
            <a:br>
              <a:rPr lang="en-US" sz="2200" dirty="0"/>
            </a:br>
            <a:r>
              <a:rPr lang="en-US" sz="2200" dirty="0"/>
              <a:t>• Training programs can improve overall performance</a:t>
            </a:r>
          </a:p>
        </p:txBody>
      </p:sp>
      <p:sp>
        <p:nvSpPr>
          <p:cNvPr id="2" name="Slide Number Placeholder 1">
            <a:extLst>
              <a:ext uri="{FF2B5EF4-FFF2-40B4-BE49-F238E27FC236}">
                <a16:creationId xmlns:a16="http://schemas.microsoft.com/office/drawing/2014/main" id="{FF5D8ECF-9900-3F3B-E8DF-584EB39520DE}"/>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11</a:t>
            </a:fld>
            <a:endParaRPr lang="en-US" dirty="0"/>
          </a:p>
        </p:txBody>
      </p:sp>
      <p:sp>
        <p:nvSpPr>
          <p:cNvPr id="8" name="AutoShape 8" descr="Uploaded image">
            <a:extLst>
              <a:ext uri="{FF2B5EF4-FFF2-40B4-BE49-F238E27FC236}">
                <a16:creationId xmlns:a16="http://schemas.microsoft.com/office/drawing/2014/main" id="{0711B8B5-8B61-7DDC-00D3-E869598F88F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9741C7DB-71DB-E7FB-C375-99B56EFBD52C}"/>
              </a:ext>
            </a:extLst>
          </p:cNvPr>
          <p:cNvSpPr/>
          <p:nvPr/>
        </p:nvSpPr>
        <p:spPr>
          <a:xfrm>
            <a:off x="6931125" y="1933536"/>
            <a:ext cx="4871326" cy="3185214"/>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4E2A558A-6482-8839-5FBA-254C03365F2F}"/>
              </a:ext>
            </a:extLst>
          </p:cNvPr>
          <p:cNvPicPr>
            <a:picLocks noChangeAspect="1"/>
          </p:cNvPicPr>
          <p:nvPr/>
        </p:nvPicPr>
        <p:blipFill>
          <a:blip r:embed="rId3"/>
          <a:stretch>
            <a:fillRect/>
          </a:stretch>
        </p:blipFill>
        <p:spPr>
          <a:xfrm>
            <a:off x="7094260" y="2069204"/>
            <a:ext cx="4545055" cy="2913877"/>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078407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D2AFA-56ED-C7BF-1AA9-5D4A7D98AA6F}"/>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3617AB84-9341-D5FF-B75F-FD68760C49C4}"/>
              </a:ext>
            </a:extLst>
          </p:cNvPr>
          <p:cNvSpPr>
            <a:spLocks noGrp="1"/>
          </p:cNvSpPr>
          <p:nvPr>
            <p:ph type="title"/>
          </p:nvPr>
        </p:nvSpPr>
        <p:spPr>
          <a:xfrm>
            <a:off x="704032" y="435660"/>
            <a:ext cx="8651631" cy="914400"/>
          </a:xfrm>
        </p:spPr>
        <p:txBody>
          <a:bodyPr/>
          <a:lstStyle/>
          <a:p>
            <a:r>
              <a:rPr lang="en-US" sz="3600" dirty="0"/>
              <a:t>Top Gurus by Calls Handled</a:t>
            </a:r>
          </a:p>
        </p:txBody>
      </p:sp>
      <p:sp>
        <p:nvSpPr>
          <p:cNvPr id="8" name="Content Placeholder 7">
            <a:extLst>
              <a:ext uri="{FF2B5EF4-FFF2-40B4-BE49-F238E27FC236}">
                <a16:creationId xmlns:a16="http://schemas.microsoft.com/office/drawing/2014/main" id="{E7FC78D7-307F-A1F2-6A45-DAE87F1D6AA1}"/>
              </a:ext>
            </a:extLst>
          </p:cNvPr>
          <p:cNvSpPr>
            <a:spLocks noGrp="1"/>
          </p:cNvSpPr>
          <p:nvPr>
            <p:ph sz="quarter" idx="10"/>
          </p:nvPr>
        </p:nvSpPr>
        <p:spPr>
          <a:xfrm>
            <a:off x="704033" y="1750712"/>
            <a:ext cx="6669784" cy="3356576"/>
          </a:xfrm>
        </p:spPr>
        <p:txBody>
          <a:bodyPr>
            <a:normAutofit/>
          </a:bodyPr>
          <a:lstStyle/>
          <a:p>
            <a:pPr marL="0" indent="0">
              <a:buNone/>
            </a:pPr>
            <a:r>
              <a:rPr lang="en-US" sz="2200" dirty="0"/>
              <a:t>• Small group of agents handles most consultations</a:t>
            </a:r>
          </a:p>
          <a:p>
            <a:pPr marL="0" indent="0">
              <a:buNone/>
            </a:pPr>
            <a:br>
              <a:rPr lang="en-US" sz="2200" dirty="0"/>
            </a:br>
            <a:r>
              <a:rPr lang="en-US" sz="2200" dirty="0"/>
              <a:t>• Top performers manage significantly higher workloads</a:t>
            </a:r>
          </a:p>
          <a:p>
            <a:pPr marL="0" indent="0">
              <a:buNone/>
            </a:pPr>
            <a:br>
              <a:rPr lang="en-US" sz="2200" dirty="0"/>
            </a:br>
            <a:r>
              <a:rPr lang="en-US" sz="2200" dirty="0"/>
              <a:t>• Remaining agents handle comparatively fewer calls</a:t>
            </a:r>
          </a:p>
          <a:p>
            <a:pPr marL="0" indent="0">
              <a:buNone/>
            </a:pPr>
            <a:br>
              <a:rPr lang="en-US" sz="2200" dirty="0"/>
            </a:br>
            <a:r>
              <a:rPr lang="en-US" sz="2200" dirty="0"/>
              <a:t>• Workload distribution is highly uneven</a:t>
            </a:r>
          </a:p>
          <a:p>
            <a:pPr marL="0" indent="0">
              <a:buNone/>
            </a:pPr>
            <a:br>
              <a:rPr lang="en-US" sz="2200" dirty="0"/>
            </a:br>
            <a:r>
              <a:rPr lang="en-US" sz="2200" dirty="0"/>
              <a:t>• Balanced allocation can improve efficiency</a:t>
            </a:r>
          </a:p>
          <a:p>
            <a:pPr marL="0" indent="0">
              <a:buNone/>
            </a:pPr>
            <a:endParaRPr lang="en-US" sz="2200" dirty="0"/>
          </a:p>
        </p:txBody>
      </p:sp>
      <p:sp>
        <p:nvSpPr>
          <p:cNvPr id="3" name="Slide Number Placeholder 2">
            <a:extLst>
              <a:ext uri="{FF2B5EF4-FFF2-40B4-BE49-F238E27FC236}">
                <a16:creationId xmlns:a16="http://schemas.microsoft.com/office/drawing/2014/main" id="{884498BF-7DA6-6FFA-1C64-3D5CD8633EFC}"/>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12</a:t>
            </a:fld>
            <a:endParaRPr lang="en-US" dirty="0"/>
          </a:p>
        </p:txBody>
      </p:sp>
      <p:sp>
        <p:nvSpPr>
          <p:cNvPr id="2" name="Rectangle: Rounded Corners 1">
            <a:extLst>
              <a:ext uri="{FF2B5EF4-FFF2-40B4-BE49-F238E27FC236}">
                <a16:creationId xmlns:a16="http://schemas.microsoft.com/office/drawing/2014/main" id="{2D0E5FE9-7E37-2F54-1D39-44DA63872A25}"/>
              </a:ext>
            </a:extLst>
          </p:cNvPr>
          <p:cNvSpPr/>
          <p:nvPr/>
        </p:nvSpPr>
        <p:spPr>
          <a:xfrm>
            <a:off x="7185113" y="1997711"/>
            <a:ext cx="4671953" cy="31095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a:extLst>
              <a:ext uri="{FF2B5EF4-FFF2-40B4-BE49-F238E27FC236}">
                <a16:creationId xmlns:a16="http://schemas.microsoft.com/office/drawing/2014/main" id="{3C48E35D-85A7-EE5D-7792-3B857A43FDEA}"/>
              </a:ext>
            </a:extLst>
          </p:cNvPr>
          <p:cNvPicPr>
            <a:picLocks noChangeAspect="1"/>
          </p:cNvPicPr>
          <p:nvPr/>
        </p:nvPicPr>
        <p:blipFill>
          <a:blip r:embed="rId3"/>
          <a:stretch>
            <a:fillRect/>
          </a:stretch>
        </p:blipFill>
        <p:spPr>
          <a:xfrm>
            <a:off x="7343260" y="2160814"/>
            <a:ext cx="4355657" cy="2783370"/>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14996876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63F37-5D61-7F2C-F0FF-7A8A61749406}"/>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CC0B84AD-DD64-9FB1-D95F-7720B99632CF}"/>
              </a:ext>
            </a:extLst>
          </p:cNvPr>
          <p:cNvSpPr>
            <a:spLocks noGrp="1"/>
          </p:cNvSpPr>
          <p:nvPr>
            <p:ph type="title"/>
          </p:nvPr>
        </p:nvSpPr>
        <p:spPr>
          <a:xfrm>
            <a:off x="707151" y="539262"/>
            <a:ext cx="10360152" cy="813134"/>
          </a:xfrm>
        </p:spPr>
        <p:txBody>
          <a:bodyPr/>
          <a:lstStyle/>
          <a:p>
            <a:r>
              <a:rPr lang="en-IN" sz="3600" dirty="0"/>
              <a:t>Day-wise Call Volume Trend</a:t>
            </a:r>
            <a:endParaRPr lang="en-US" sz="3600" dirty="0"/>
          </a:p>
        </p:txBody>
      </p:sp>
      <p:sp>
        <p:nvSpPr>
          <p:cNvPr id="14" name="Content Placeholder 13">
            <a:extLst>
              <a:ext uri="{FF2B5EF4-FFF2-40B4-BE49-F238E27FC236}">
                <a16:creationId xmlns:a16="http://schemas.microsoft.com/office/drawing/2014/main" id="{D063EE92-A939-E876-61AE-24EDC5B6FDD0}"/>
              </a:ext>
            </a:extLst>
          </p:cNvPr>
          <p:cNvSpPr>
            <a:spLocks noGrp="1"/>
          </p:cNvSpPr>
          <p:nvPr>
            <p:ph sz="quarter" idx="11"/>
          </p:nvPr>
        </p:nvSpPr>
        <p:spPr>
          <a:xfrm>
            <a:off x="699620" y="1714806"/>
            <a:ext cx="5697416" cy="3877055"/>
          </a:xfrm>
        </p:spPr>
        <p:txBody>
          <a:bodyPr>
            <a:normAutofit/>
          </a:bodyPr>
          <a:lstStyle/>
          <a:p>
            <a:r>
              <a:rPr lang="en-US" sz="2200" dirty="0"/>
              <a:t>• Daily call volumes fluctuate across different dates</a:t>
            </a:r>
          </a:p>
          <a:p>
            <a:br>
              <a:rPr lang="en-US" sz="2200" dirty="0"/>
            </a:br>
            <a:r>
              <a:rPr lang="en-US" sz="2200" dirty="0"/>
              <a:t>• Certain days show sharp demand spikes</a:t>
            </a:r>
          </a:p>
          <a:p>
            <a:br>
              <a:rPr lang="en-US" sz="2200" dirty="0"/>
            </a:br>
            <a:r>
              <a:rPr lang="en-US" sz="2200" dirty="0"/>
              <a:t>• Some days record noticeably low activity</a:t>
            </a:r>
          </a:p>
          <a:p>
            <a:br>
              <a:rPr lang="en-US" sz="2200" dirty="0"/>
            </a:br>
            <a:r>
              <a:rPr lang="en-US" sz="2200" dirty="0"/>
              <a:t>• Usage pattern is not evenly distributed</a:t>
            </a:r>
          </a:p>
          <a:p>
            <a:br>
              <a:rPr lang="en-US" sz="2200" dirty="0"/>
            </a:br>
            <a:r>
              <a:rPr lang="en-US" sz="2200" dirty="0"/>
              <a:t>• Demand forecasting can improve planning</a:t>
            </a:r>
          </a:p>
        </p:txBody>
      </p:sp>
      <p:sp>
        <p:nvSpPr>
          <p:cNvPr id="2" name="Slide Number Placeholder 1">
            <a:extLst>
              <a:ext uri="{FF2B5EF4-FFF2-40B4-BE49-F238E27FC236}">
                <a16:creationId xmlns:a16="http://schemas.microsoft.com/office/drawing/2014/main" id="{EF64A5F3-C130-DC9E-5C1D-586E01BB438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13</a:t>
            </a:fld>
            <a:endParaRPr lang="en-US" dirty="0"/>
          </a:p>
        </p:txBody>
      </p:sp>
      <p:sp>
        <p:nvSpPr>
          <p:cNvPr id="8" name="AutoShape 8" descr="Uploaded image">
            <a:extLst>
              <a:ext uri="{FF2B5EF4-FFF2-40B4-BE49-F238E27FC236}">
                <a16:creationId xmlns:a16="http://schemas.microsoft.com/office/drawing/2014/main" id="{7E81A708-0505-77A6-D3A1-EF3DFC024D2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Rounded Corners 9">
            <a:extLst>
              <a:ext uri="{FF2B5EF4-FFF2-40B4-BE49-F238E27FC236}">
                <a16:creationId xmlns:a16="http://schemas.microsoft.com/office/drawing/2014/main" id="{558BDC6D-8A1F-86EA-9453-FC5ACDD0A98E}"/>
              </a:ext>
            </a:extLst>
          </p:cNvPr>
          <p:cNvSpPr/>
          <p:nvPr/>
        </p:nvSpPr>
        <p:spPr>
          <a:xfrm>
            <a:off x="6619773" y="2074984"/>
            <a:ext cx="5216769" cy="3341077"/>
          </a:xfrm>
          <a:prstGeom prst="roundRect">
            <a:avLst>
              <a:gd name="adj" fmla="val 3261"/>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6A0685DD-F2E1-19F5-62E6-0EC66E9CEB62}"/>
              </a:ext>
            </a:extLst>
          </p:cNvPr>
          <p:cNvPicPr>
            <a:picLocks noChangeAspect="1"/>
          </p:cNvPicPr>
          <p:nvPr/>
        </p:nvPicPr>
        <p:blipFill>
          <a:blip r:embed="rId3"/>
          <a:stretch>
            <a:fillRect/>
          </a:stretch>
        </p:blipFill>
        <p:spPr>
          <a:xfrm>
            <a:off x="6817394" y="2223141"/>
            <a:ext cx="4821525" cy="3044762"/>
          </a:xfrm>
          <a:prstGeom prst="rect">
            <a:avLst/>
          </a:prstGeom>
          <a:effectLst>
            <a:outerShdw blurRad="50800" dist="38100" dir="8100000" algn="tr" rotWithShape="0">
              <a:prstClr val="black">
                <a:alpha val="40000"/>
              </a:prstClr>
            </a:outerShdw>
          </a:effectLst>
        </p:spPr>
      </p:pic>
    </p:spTree>
    <p:extLst>
      <p:ext uri="{BB962C8B-B14F-4D97-AF65-F5344CB8AC3E}">
        <p14:creationId xmlns:p14="http://schemas.microsoft.com/office/powerpoint/2010/main" val="39159397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1535547" y="328246"/>
            <a:ext cx="9120906" cy="914400"/>
          </a:xfrm>
        </p:spPr>
        <p:txBody>
          <a:bodyPr/>
          <a:lstStyle/>
          <a:p>
            <a:r>
              <a:rPr lang="en-IN" sz="3600" dirty="0"/>
              <a:t>Data-Driven Strategic Recommendations</a:t>
            </a:r>
            <a:endParaRPr lang="en-US" sz="3600" dirty="0"/>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1073689" y="1676400"/>
            <a:ext cx="4610980" cy="5533292"/>
          </a:xfrm>
        </p:spPr>
        <p:txBody>
          <a:bodyPr>
            <a:noAutofit/>
          </a:bodyPr>
          <a:lstStyle/>
          <a:p>
            <a:r>
              <a:rPr lang="en-US" sz="2200" b="1" dirty="0"/>
              <a:t>Optimize Peak-Hour Staffing:</a:t>
            </a:r>
            <a:r>
              <a:rPr lang="en-US" sz="2200" dirty="0"/>
              <a:t> Hourly analysis shows demand spikes between morning and afternoon → deploy more agents during these hours.</a:t>
            </a:r>
          </a:p>
          <a:p>
            <a:r>
              <a:rPr lang="en-US" sz="2200" b="1" dirty="0"/>
              <a:t>Balance Agent Workload:</a:t>
            </a:r>
            <a:r>
              <a:rPr lang="en-US" sz="2200" dirty="0"/>
              <a:t> Top agents handle extremely high call volumes while others handle very few → implement intelligent call distribution.</a:t>
            </a:r>
          </a:p>
          <a:p>
            <a:r>
              <a:rPr lang="en-US" sz="2200" b="1" dirty="0"/>
              <a:t>Improve Service Quality:</a:t>
            </a:r>
            <a:r>
              <a:rPr lang="en-US" sz="2200" dirty="0"/>
              <a:t> Average rating is </a:t>
            </a:r>
            <a:r>
              <a:rPr lang="en-US" sz="2200" b="1" dirty="0"/>
              <a:t>2.93</a:t>
            </a:r>
            <a:r>
              <a:rPr lang="en-US" sz="2200" dirty="0"/>
              <a:t> with many low ratings → introduce targeted training and performance monitoring.</a:t>
            </a: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14</a:t>
            </a:fld>
            <a:endParaRPr lang="en-US" dirty="0"/>
          </a:p>
        </p:txBody>
      </p:sp>
      <p:sp>
        <p:nvSpPr>
          <p:cNvPr id="2" name="Content Placeholder 11">
            <a:extLst>
              <a:ext uri="{FF2B5EF4-FFF2-40B4-BE49-F238E27FC236}">
                <a16:creationId xmlns:a16="http://schemas.microsoft.com/office/drawing/2014/main" id="{9D65DA74-ED87-1A60-3527-29D12F94CD85}"/>
              </a:ext>
            </a:extLst>
          </p:cNvPr>
          <p:cNvSpPr txBox="1">
            <a:spLocks/>
          </p:cNvSpPr>
          <p:nvPr/>
        </p:nvSpPr>
        <p:spPr>
          <a:xfrm>
            <a:off x="6507333" y="1676400"/>
            <a:ext cx="4359961" cy="5533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mj-lt"/>
              <a:buAutoNum type="arabicPeriod"/>
              <a:defRPr sz="2000" kern="1200">
                <a:solidFill>
                  <a:schemeClr val="tx1"/>
                </a:solidFill>
                <a:latin typeface="+mn-lt"/>
                <a:ea typeface="+mn-ea"/>
                <a:cs typeface="+mn-cs"/>
              </a:defRPr>
            </a:lvl1pPr>
            <a:lvl2pPr marL="685800" indent="-457200" algn="l" defTabSz="914400" rtl="0" eaLnBrk="1" latinLnBrk="0" hangingPunct="1">
              <a:lnSpc>
                <a:spcPct val="90000"/>
              </a:lnSpc>
              <a:spcBef>
                <a:spcPts val="1000"/>
              </a:spcBef>
              <a:buFont typeface="+mj-lt"/>
              <a:buAutoNum type="alphaLcPeriod"/>
              <a:defRPr sz="2000" kern="1200">
                <a:solidFill>
                  <a:schemeClr val="tx1"/>
                </a:solidFill>
                <a:latin typeface="+mn-lt"/>
                <a:ea typeface="+mn-ea"/>
                <a:cs typeface="+mn-cs"/>
              </a:defRPr>
            </a:lvl2pPr>
            <a:lvl3pPr marL="914400" indent="-457200" algn="l" defTabSz="914400" rtl="0" eaLnBrk="1" latinLnBrk="0" hangingPunct="1">
              <a:lnSpc>
                <a:spcPct val="90000"/>
              </a:lnSpc>
              <a:spcBef>
                <a:spcPts val="1000"/>
              </a:spcBef>
              <a:buFont typeface="+mj-lt"/>
              <a:buAutoNum type="arabicParenR"/>
              <a:defRPr sz="2000" kern="1200">
                <a:solidFill>
                  <a:schemeClr val="tx1"/>
                </a:solidFill>
                <a:latin typeface="+mn-lt"/>
                <a:ea typeface="+mn-ea"/>
                <a:cs typeface="+mn-cs"/>
              </a:defRPr>
            </a:lvl3pPr>
            <a:lvl4pPr marL="1143000" indent="-457200" algn="l" defTabSz="914400" rtl="0" eaLnBrk="1" latinLnBrk="0" hangingPunct="1">
              <a:lnSpc>
                <a:spcPct val="90000"/>
              </a:lnSpc>
              <a:spcBef>
                <a:spcPts val="1000"/>
              </a:spcBef>
              <a:buFont typeface="+mj-lt"/>
              <a:buAutoNum type="alphaLcParenR"/>
              <a:defRPr sz="2000" kern="1200">
                <a:solidFill>
                  <a:schemeClr val="tx1"/>
                </a:solidFill>
                <a:latin typeface="+mn-lt"/>
                <a:ea typeface="+mn-ea"/>
                <a:cs typeface="+mn-cs"/>
              </a:defRPr>
            </a:lvl4pPr>
            <a:lvl5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j-lt"/>
              <a:buAutoNum type="arabicPeriod" startAt="4"/>
            </a:pPr>
            <a:r>
              <a:rPr lang="en-US" b="1" dirty="0"/>
              <a:t>Implement Demand Forecasting System:</a:t>
            </a:r>
            <a:br>
              <a:rPr lang="en-US" dirty="0"/>
            </a:br>
            <a:r>
              <a:rPr lang="en-US" dirty="0"/>
              <a:t>Day-wise and hourly trends show fluctuating call volume → use historical data to predict demand and prepare staffing in advance.</a:t>
            </a:r>
            <a:endParaRPr lang="en-US" b="1" dirty="0"/>
          </a:p>
          <a:p>
            <a:pPr>
              <a:buFont typeface="+mj-lt"/>
              <a:buAutoNum type="arabicPeriod" startAt="4"/>
            </a:pPr>
            <a:r>
              <a:rPr lang="en-US" b="1" dirty="0"/>
              <a:t>Enhance Platform Performance:</a:t>
            </a:r>
            <a:r>
              <a:rPr lang="en-US" dirty="0"/>
              <a:t> Revenue and usage vary by platform → improve lower-performing platforms to balance engagement.</a:t>
            </a:r>
          </a:p>
          <a:p>
            <a:pPr>
              <a:buFont typeface="+mj-lt"/>
              <a:buAutoNum type="arabicPeriod" startAt="4"/>
            </a:pPr>
            <a:r>
              <a:rPr lang="en-US" b="1" dirty="0"/>
              <a:t>Increase Completion Rate:</a:t>
            </a:r>
            <a:r>
              <a:rPr lang="en-US" dirty="0"/>
              <a:t> Presence of failed and incomplete interactions → upgrade routing systems and infrastructure.</a:t>
            </a:r>
          </a:p>
        </p:txBody>
      </p:sp>
    </p:spTree>
    <p:extLst>
      <p:ext uri="{BB962C8B-B14F-4D97-AF65-F5344CB8AC3E}">
        <p14:creationId xmlns:p14="http://schemas.microsoft.com/office/powerpoint/2010/main" val="3748348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pattFill prst="pct50">
          <a:fgClr>
            <a:schemeClr val="bg2"/>
          </a:fgClr>
          <a:bgClr>
            <a:schemeClr val="bg1"/>
          </a:bgClr>
        </a:patt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2045629" y="0"/>
            <a:ext cx="8100739" cy="914400"/>
          </a:xfrm>
        </p:spPr>
        <p:txBody>
          <a:bodyPr/>
          <a:lstStyle/>
          <a:p>
            <a:r>
              <a:rPr lang="en-IN" sz="3600" dirty="0"/>
              <a:t>Interactive Performance Dashboard</a:t>
            </a:r>
          </a:p>
        </p:txBody>
      </p:sp>
      <p:pic>
        <p:nvPicPr>
          <p:cNvPr id="9" name="Picture 8">
            <a:extLst>
              <a:ext uri="{FF2B5EF4-FFF2-40B4-BE49-F238E27FC236}">
                <a16:creationId xmlns:a16="http://schemas.microsoft.com/office/drawing/2014/main" id="{BDA816D4-FFCE-AD5A-A9CB-5BD6584014A9}"/>
              </a:ext>
            </a:extLst>
          </p:cNvPr>
          <p:cNvPicPr>
            <a:picLocks noChangeAspect="1"/>
          </p:cNvPicPr>
          <p:nvPr/>
        </p:nvPicPr>
        <p:blipFill>
          <a:blip r:embed="rId3"/>
          <a:stretch>
            <a:fillRect/>
          </a:stretch>
        </p:blipFill>
        <p:spPr>
          <a:xfrm>
            <a:off x="299228" y="1166803"/>
            <a:ext cx="11593543" cy="5391902"/>
          </a:xfrm>
          <a:prstGeom prst="rect">
            <a:avLst/>
          </a:prstGeom>
          <a:noFill/>
          <a:effectLst>
            <a:outerShdw blurRad="101600" dist="38100" dir="10800000" sx="101000" sy="101000" algn="t" rotWithShape="0">
              <a:prstClr val="black">
                <a:alpha val="50000"/>
              </a:prstClr>
            </a:outerShdw>
          </a:effectLst>
        </p:spPr>
      </p:pic>
    </p:spTree>
    <p:extLst>
      <p:ext uri="{BB962C8B-B14F-4D97-AF65-F5344CB8AC3E}">
        <p14:creationId xmlns:p14="http://schemas.microsoft.com/office/powerpoint/2010/main" val="859909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a:xfrm>
            <a:off x="705495" y="637288"/>
            <a:ext cx="10360152" cy="914400"/>
          </a:xfrm>
        </p:spPr>
        <p:txBody>
          <a:bodyPr/>
          <a:lstStyle/>
          <a:p>
            <a:r>
              <a:rPr lang="en-US" sz="3600" dirty="0"/>
              <a:t>Conclusion</a:t>
            </a:r>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16</a:t>
            </a:fld>
            <a:endParaRPr lang="en-US" dirty="0"/>
          </a:p>
        </p:txBody>
      </p:sp>
      <p:sp>
        <p:nvSpPr>
          <p:cNvPr id="10" name="Content Placeholder 11">
            <a:extLst>
              <a:ext uri="{FF2B5EF4-FFF2-40B4-BE49-F238E27FC236}">
                <a16:creationId xmlns:a16="http://schemas.microsoft.com/office/drawing/2014/main" id="{8DE6F584-3497-D2FD-427D-54F87FE3BCF4}"/>
              </a:ext>
            </a:extLst>
          </p:cNvPr>
          <p:cNvSpPr txBox="1">
            <a:spLocks/>
          </p:cNvSpPr>
          <p:nvPr/>
        </p:nvSpPr>
        <p:spPr>
          <a:xfrm>
            <a:off x="705495" y="1863031"/>
            <a:ext cx="6597982" cy="5533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1000"/>
              </a:spcBef>
              <a:buFont typeface="Courier New" panose="02070309020205020404" pitchFamily="49" charset="0"/>
              <a:buChar char="o"/>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Char char="•"/>
            </a:pPr>
            <a:r>
              <a:rPr lang="en-US" sz="2200" dirty="0"/>
              <a:t>Analysis revealed key operational challenges such as peak-hour overload and uneven agent workload.</a:t>
            </a:r>
          </a:p>
          <a:p>
            <a:pPr>
              <a:buFont typeface="Arial" panose="020B0604020202020204" pitchFamily="34" charset="0"/>
              <a:buChar char="•"/>
            </a:pPr>
            <a:r>
              <a:rPr lang="en-US" sz="2200" dirty="0"/>
              <a:t>Analysis revealed key operational challenges such as peak-hour overload and uneven agent workload.</a:t>
            </a:r>
          </a:p>
          <a:p>
            <a:pPr>
              <a:buFont typeface="Arial" panose="020B0604020202020204" pitchFamily="34" charset="0"/>
              <a:buChar char="•"/>
            </a:pPr>
            <a:r>
              <a:rPr lang="en-US" sz="2200" dirty="0"/>
              <a:t>Customer rating patterns indicate scope for service quality improvement.</a:t>
            </a:r>
          </a:p>
          <a:p>
            <a:pPr>
              <a:buFont typeface="Arial" panose="020B0604020202020204" pitchFamily="34" charset="0"/>
              <a:buChar char="•"/>
            </a:pPr>
            <a:r>
              <a:rPr lang="en-US" sz="2200" dirty="0"/>
              <a:t>Data-driven insights enabled identification of performance gaps and improvement areas.</a:t>
            </a:r>
          </a:p>
          <a:p>
            <a:pPr>
              <a:buFont typeface="Arial" panose="020B0604020202020204" pitchFamily="34" charset="0"/>
              <a:buChar char="•"/>
            </a:pPr>
            <a:r>
              <a:rPr lang="en-US" sz="2200" dirty="0"/>
              <a:t>Strategic recommendations were developed to enhance efficiency, satisfaction, and profitability.</a:t>
            </a:r>
          </a:p>
        </p:txBody>
      </p:sp>
      <p:pic>
        <p:nvPicPr>
          <p:cNvPr id="2054" name="Picture 6" descr="Image with background removed">
            <a:extLst>
              <a:ext uri="{FF2B5EF4-FFF2-40B4-BE49-F238E27FC236}">
                <a16:creationId xmlns:a16="http://schemas.microsoft.com/office/drawing/2014/main" id="{944A8021-7AE5-8CD8-3D56-01BDF4DB1D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2920" y="1992923"/>
            <a:ext cx="3620880" cy="3118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7809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4126523" y="1019907"/>
            <a:ext cx="5641848" cy="5029200"/>
          </a:xfrm>
        </p:spPr>
        <p:txBody>
          <a:bodyPr/>
          <a:lstStyle/>
          <a:p>
            <a:r>
              <a:rPr lang="en-US" dirty="0"/>
              <a:t>thank you</a:t>
            </a:r>
          </a:p>
        </p:txBody>
      </p:sp>
      <p:pic>
        <p:nvPicPr>
          <p:cNvPr id="3" name="Content Placeholder 2" descr="Thumbs up sign with solid fill">
            <a:extLst>
              <a:ext uri="{FF2B5EF4-FFF2-40B4-BE49-F238E27FC236}">
                <a16:creationId xmlns:a16="http://schemas.microsoft.com/office/drawing/2014/main" id="{1CA62135-0061-8CE1-4A8A-5A40484F1B8A}"/>
              </a:ext>
            </a:extLst>
          </p:cNvPr>
          <p:cNvPicPr>
            <a:picLocks noGrp="1" noChangeAspect="1"/>
          </p:cNvPicPr>
          <p:nvPr>
            <p:ph sz="quarter" idx="13"/>
          </p:nvPr>
        </p:nvPicPr>
        <p:blipFill>
          <a:blip r:embed="rId3">
            <a:extLst>
              <a:ext uri="{96DAC541-7B7A-43D3-8B79-37D633B846F1}">
                <asvg:svgBlip xmlns:asvg="http://schemas.microsoft.com/office/drawing/2016/SVG/main" r:embed="rId4"/>
              </a:ext>
            </a:extLst>
          </a:blip>
          <a:stretch>
            <a:fillRect/>
          </a:stretch>
        </p:blipFill>
        <p:spPr>
          <a:xfrm>
            <a:off x="7136118" y="2215662"/>
            <a:ext cx="2103926" cy="2103926"/>
          </a:xfrm>
        </p:spPr>
      </p:pic>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{6B1E1DCF-D885-443C-AA06-67A6B29BA87D}TF1ed9553b-00c4-4092-846a-c8f7f2908f3beecd942f_win32-8e33096c3cfc</Template>
  <TotalTime>204</TotalTime>
  <Words>765</Words>
  <Application>Microsoft Office PowerPoint</Application>
  <PresentationFormat>Widescreen</PresentationFormat>
  <Paragraphs>122</Paragraphs>
  <Slides>17</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Courier New</vt:lpstr>
      <vt:lpstr>Gill Sans Nova Light</vt:lpstr>
      <vt:lpstr>Sagona Book</vt:lpstr>
      <vt:lpstr>Telegraf Bold</vt:lpstr>
      <vt:lpstr>Custom</vt:lpstr>
      <vt:lpstr>Astro-sage Call Center Performance Analysis </vt:lpstr>
      <vt:lpstr>Problem Statement</vt:lpstr>
      <vt:lpstr>Objective</vt:lpstr>
      <vt:lpstr>Dataset Overview</vt:lpstr>
      <vt:lpstr>Methodology</vt:lpstr>
      <vt:lpstr>Revenue by Consultation Type</vt:lpstr>
      <vt:lpstr>Revenue Distribution by Platform</vt:lpstr>
      <vt:lpstr>Chat Status Distribution</vt:lpstr>
      <vt:lpstr>Hourly Call Distribution</vt:lpstr>
      <vt:lpstr>User Rating Distribution</vt:lpstr>
      <vt:lpstr>Rating-wise Guru Performance</vt:lpstr>
      <vt:lpstr>Top Gurus by Calls Handled</vt:lpstr>
      <vt:lpstr>Day-wise Call Volume Trend</vt:lpstr>
      <vt:lpstr>Data-Driven Strategic Recommendations</vt:lpstr>
      <vt:lpstr>Interactive Performance Dashboard</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Varshith Anishetti</dc:creator>
  <cp:lastModifiedBy>Varshith Anishetti</cp:lastModifiedBy>
  <cp:revision>4</cp:revision>
  <dcterms:created xsi:type="dcterms:W3CDTF">2026-02-19T17:08:37Z</dcterms:created>
  <dcterms:modified xsi:type="dcterms:W3CDTF">2026-02-24T18:35:07Z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